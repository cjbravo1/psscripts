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diagrams/colors4.xml" ContentType="application/vnd.openxmlformats-officedocument.drawingml.diagramColor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notesSlides/notesSlide68.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diagrams/quickStyle3.xml" ContentType="application/vnd.openxmlformats-officedocument.drawingml.diagramStyl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diagrams/layout6.xml" ContentType="application/vnd.openxmlformats-officedocument.drawingml.diagram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diagrams/data7.xml" ContentType="application/vnd.openxmlformats-officedocument.drawingml.diagramData+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diagrams/drawing8.xml" ContentType="application/vnd.ms-office.drawingml.diagramDrawing+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notesSlides/notesSlide4.xml" ContentType="application/vnd.openxmlformats-officedocument.presentationml.notesSlide+xml"/>
  <Override PartName="/ppt/diagrams/drawing4.xml" ContentType="application/vnd.ms-office.drawingml.diagramDrawing+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diagrams/colors6.xml" ContentType="application/vnd.openxmlformats-officedocument.drawingml.diagramColors+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diagrams/data5.xml" ContentType="application/vnd.openxmlformats-officedocument.drawingml.diagramData+xml"/>
  <Override PartName="/ppt/diagrams/colors7.xml" ContentType="application/vnd.openxmlformats-officedocument.drawingml.diagramColors+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diagrams/drawing6.xml" ContentType="application/vnd.ms-office.drawingml.diagramDrawing+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diagrams/drawing2.xml" ContentType="application/vnd.ms-office.drawingml.diagramDrawing+xml"/>
  <Override PartName="/ppt/notesSlides/notesSlide78.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23.xml" ContentType="application/vnd.openxmlformats-officedocument.presentationml.notesSlide+xml"/>
  <Override PartName="/ppt/notesSlides/notesSlide70.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diagrams/colors8.xml" ContentType="application/vnd.openxmlformats-officedocument.drawingml.diagramColors+xml"/>
  <Override PartName="/ppt/slides/slide118.xml" ContentType="application/vnd.openxmlformats-officedocument.presentationml.slide+xml"/>
  <Override PartName="/ppt/diagrams/drawing7.xml" ContentType="application/vnd.ms-office.drawingml.diagramDrawing+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20.xml" ContentType="application/vnd.openxmlformats-officedocument.presentationml.notesSlide+xml"/>
  <Default Extension="gif" ContentType="image/gif"/>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Lst>
  <p:notesMasterIdLst>
    <p:notesMasterId r:id="rId131"/>
  </p:notesMasterIdLst>
  <p:sldIdLst>
    <p:sldId id="361" r:id="rId5"/>
    <p:sldId id="412" r:id="rId6"/>
    <p:sldId id="409" r:id="rId7"/>
    <p:sldId id="471" r:id="rId8"/>
    <p:sldId id="472" r:id="rId9"/>
    <p:sldId id="473" r:id="rId10"/>
    <p:sldId id="474" r:id="rId11"/>
    <p:sldId id="475" r:id="rId12"/>
    <p:sldId id="476" r:id="rId13"/>
    <p:sldId id="488" r:id="rId14"/>
    <p:sldId id="489" r:id="rId15"/>
    <p:sldId id="477" r:id="rId16"/>
    <p:sldId id="467" r:id="rId17"/>
    <p:sldId id="411" r:id="rId18"/>
    <p:sldId id="487" r:id="rId19"/>
    <p:sldId id="486" r:id="rId20"/>
    <p:sldId id="490" r:id="rId21"/>
    <p:sldId id="480" r:id="rId22"/>
    <p:sldId id="481" r:id="rId23"/>
    <p:sldId id="362" r:id="rId24"/>
    <p:sldId id="485" r:id="rId25"/>
    <p:sldId id="375" r:id="rId26"/>
    <p:sldId id="413" r:id="rId27"/>
    <p:sldId id="435" r:id="rId28"/>
    <p:sldId id="478" r:id="rId29"/>
    <p:sldId id="439" r:id="rId30"/>
    <p:sldId id="440" r:id="rId31"/>
    <p:sldId id="437" r:id="rId32"/>
    <p:sldId id="465" r:id="rId33"/>
    <p:sldId id="441" r:id="rId34"/>
    <p:sldId id="442" r:id="rId35"/>
    <p:sldId id="443" r:id="rId36"/>
    <p:sldId id="444" r:id="rId37"/>
    <p:sldId id="445" r:id="rId38"/>
    <p:sldId id="446" r:id="rId39"/>
    <p:sldId id="424" r:id="rId40"/>
    <p:sldId id="469" r:id="rId41"/>
    <p:sldId id="470" r:id="rId42"/>
    <p:sldId id="491" r:id="rId43"/>
    <p:sldId id="363" r:id="rId44"/>
    <p:sldId id="376" r:id="rId45"/>
    <p:sldId id="377" r:id="rId46"/>
    <p:sldId id="378" r:id="rId47"/>
    <p:sldId id="379" r:id="rId48"/>
    <p:sldId id="380" r:id="rId49"/>
    <p:sldId id="381" r:id="rId50"/>
    <p:sldId id="382" r:id="rId51"/>
    <p:sldId id="383" r:id="rId52"/>
    <p:sldId id="384" r:id="rId53"/>
    <p:sldId id="385" r:id="rId54"/>
    <p:sldId id="386" r:id="rId55"/>
    <p:sldId id="387" r:id="rId56"/>
    <p:sldId id="388" r:id="rId57"/>
    <p:sldId id="425" r:id="rId58"/>
    <p:sldId id="499" r:id="rId59"/>
    <p:sldId id="500" r:id="rId60"/>
    <p:sldId id="501" r:id="rId61"/>
    <p:sldId id="503" r:id="rId62"/>
    <p:sldId id="502" r:id="rId63"/>
    <p:sldId id="414" r:id="rId64"/>
    <p:sldId id="447" r:id="rId65"/>
    <p:sldId id="448" r:id="rId66"/>
    <p:sldId id="449" r:id="rId67"/>
    <p:sldId id="450" r:id="rId68"/>
    <p:sldId id="468" r:id="rId69"/>
    <p:sldId id="494" r:id="rId70"/>
    <p:sldId id="495" r:id="rId71"/>
    <p:sldId id="497" r:id="rId72"/>
    <p:sldId id="498" r:id="rId73"/>
    <p:sldId id="451" r:id="rId74"/>
    <p:sldId id="452" r:id="rId75"/>
    <p:sldId id="453" r:id="rId76"/>
    <p:sldId id="426" r:id="rId77"/>
    <p:sldId id="492" r:id="rId78"/>
    <p:sldId id="505" r:id="rId79"/>
    <p:sldId id="504" r:id="rId80"/>
    <p:sldId id="415" r:id="rId81"/>
    <p:sldId id="392" r:id="rId82"/>
    <p:sldId id="427" r:id="rId83"/>
    <p:sldId id="416" r:id="rId84"/>
    <p:sldId id="454" r:id="rId85"/>
    <p:sldId id="506" r:id="rId86"/>
    <p:sldId id="507" r:id="rId87"/>
    <p:sldId id="455" r:id="rId88"/>
    <p:sldId id="456" r:id="rId89"/>
    <p:sldId id="457" r:id="rId90"/>
    <p:sldId id="428" r:id="rId91"/>
    <p:sldId id="417" r:id="rId92"/>
    <p:sldId id="394" r:id="rId93"/>
    <p:sldId id="395" r:id="rId94"/>
    <p:sldId id="396" r:id="rId95"/>
    <p:sldId id="397" r:id="rId96"/>
    <p:sldId id="398" r:id="rId97"/>
    <p:sldId id="399" r:id="rId98"/>
    <p:sldId id="400" r:id="rId99"/>
    <p:sldId id="401" r:id="rId100"/>
    <p:sldId id="402" r:id="rId101"/>
    <p:sldId id="403" r:id="rId102"/>
    <p:sldId id="404" r:id="rId103"/>
    <p:sldId id="405" r:id="rId104"/>
    <p:sldId id="406" r:id="rId105"/>
    <p:sldId id="407" r:id="rId106"/>
    <p:sldId id="408" r:id="rId107"/>
    <p:sldId id="429" r:id="rId108"/>
    <p:sldId id="418" r:id="rId109"/>
    <p:sldId id="458" r:id="rId110"/>
    <p:sldId id="459" r:id="rId111"/>
    <p:sldId id="460" r:id="rId112"/>
    <p:sldId id="461" r:id="rId113"/>
    <p:sldId id="462" r:id="rId114"/>
    <p:sldId id="463" r:id="rId115"/>
    <p:sldId id="464" r:id="rId116"/>
    <p:sldId id="430" r:id="rId117"/>
    <p:sldId id="419" r:id="rId118"/>
    <p:sldId id="431" r:id="rId119"/>
    <p:sldId id="420" r:id="rId120"/>
    <p:sldId id="432" r:id="rId121"/>
    <p:sldId id="482" r:id="rId122"/>
    <p:sldId id="483" r:id="rId123"/>
    <p:sldId id="484" r:id="rId124"/>
    <p:sldId id="421" r:id="rId125"/>
    <p:sldId id="433" r:id="rId126"/>
    <p:sldId id="422" r:id="rId127"/>
    <p:sldId id="434" r:id="rId128"/>
    <p:sldId id="372" r:id="rId129"/>
    <p:sldId id="466" r:id="rId130"/>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521415D9-36F7-43E2-AB2F-B90AF26B5E84}">
      <p14:sectionLst xmlns="" xmlns:p14="http://schemas.microsoft.com/office/powerpoint/2010/main">
        <p14:section name="Title" id="{6758266C-D699-440E-A280-A7DC946E2C16}">
          <p14:sldIdLst>
            <p14:sldId id="361"/>
          </p14:sldIdLst>
        </p14:section>
        <p14:section name="Project Overview" id="{F990BDD9-59D4-4566-AC84-66058F5877ED}">
          <p14:sldIdLst>
            <p14:sldId id="412"/>
            <p14:sldId id="409"/>
            <p14:sldId id="471"/>
            <p14:sldId id="472"/>
            <p14:sldId id="473"/>
            <p14:sldId id="474"/>
            <p14:sldId id="475"/>
            <p14:sldId id="476"/>
            <p14:sldId id="488"/>
            <p14:sldId id="489"/>
            <p14:sldId id="477"/>
            <p14:sldId id="467"/>
          </p14:sldIdLst>
        </p14:section>
        <p14:section name="Module 1: Introduction" id="{B29EB2E4-37EE-4F32-925E-1A1059FE9EDB}">
          <p14:sldIdLst>
            <p14:sldId id="411"/>
            <p14:sldId id="487"/>
            <p14:sldId id="486"/>
            <p14:sldId id="490"/>
            <p14:sldId id="480"/>
            <p14:sldId id="481"/>
            <p14:sldId id="362"/>
            <p14:sldId id="485"/>
            <p14:sldId id="375"/>
          </p14:sldIdLst>
        </p14:section>
        <p14:section name="Module 2: Fundamentals" id="{C45A2632-0192-4E66-AF28-0BA40FA4DD47}">
          <p14:sldIdLst>
            <p14:sldId id="413"/>
            <p14:sldId id="435"/>
            <p14:sldId id="478"/>
            <p14:sldId id="439"/>
            <p14:sldId id="440"/>
            <p14:sldId id="437"/>
            <p14:sldId id="465"/>
            <p14:sldId id="441"/>
            <p14:sldId id="442"/>
            <p14:sldId id="443"/>
            <p14:sldId id="444"/>
            <p14:sldId id="445"/>
            <p14:sldId id="446"/>
          </p14:sldIdLst>
        </p14:section>
        <p14:section name="Module 2 Lab: Fundamentals" id="{E907807C-B941-4C6D-86D1-2606ED6B9972}">
          <p14:sldIdLst>
            <p14:sldId id="424"/>
            <p14:sldId id="469"/>
            <p14:sldId id="470"/>
            <p14:sldId id="491"/>
          </p14:sldIdLst>
        </p14:section>
        <p14:section name="Module 3: Pipeline" id="{A40C1A33-F68D-4738-A8C1-2544BC6A3506}">
          <p14:sldIdLst>
            <p14:sldId id="363"/>
            <p14:sldId id="376"/>
            <p14:sldId id="377"/>
            <p14:sldId id="378"/>
            <p14:sldId id="379"/>
            <p14:sldId id="380"/>
            <p14:sldId id="381"/>
            <p14:sldId id="382"/>
            <p14:sldId id="383"/>
            <p14:sldId id="384"/>
            <p14:sldId id="385"/>
            <p14:sldId id="386"/>
            <p14:sldId id="387"/>
            <p14:sldId id="388"/>
          </p14:sldIdLst>
        </p14:section>
        <p14:section name="Module 3 Lab: Pipeline" id="{1AA537E9-1336-4812-8E96-9A798F8AA63B}">
          <p14:sldIdLst>
            <p14:sldId id="425"/>
            <p14:sldId id="499"/>
            <p14:sldId id="500"/>
            <p14:sldId id="501"/>
            <p14:sldId id="503"/>
            <p14:sldId id="502"/>
          </p14:sldIdLst>
        </p14:section>
        <p14:section name="Module 4: Scripting" id="{1C1B5AAE-182A-46FB-A34B-5F4824D5592E}">
          <p14:sldIdLst>
            <p14:sldId id="414"/>
            <p14:sldId id="447"/>
            <p14:sldId id="448"/>
            <p14:sldId id="449"/>
            <p14:sldId id="450"/>
            <p14:sldId id="468"/>
            <p14:sldId id="494"/>
            <p14:sldId id="495"/>
            <p14:sldId id="497"/>
            <p14:sldId id="498"/>
            <p14:sldId id="451"/>
            <p14:sldId id="452"/>
            <p14:sldId id="453"/>
          </p14:sldIdLst>
        </p14:section>
        <p14:section name="Module 4 Lab: Scripting" id="{07ADD0F5-BE6D-43BD-B8DA-9274A1172B1E}">
          <p14:sldIdLst>
            <p14:sldId id="426"/>
            <p14:sldId id="492"/>
            <p14:sldId id="493"/>
          </p14:sldIdLst>
        </p14:section>
        <p14:section name="Module 5: Security" id="{E0C6FD4E-8AF5-4B3D-A496-8E29E247420B}">
          <p14:sldIdLst>
            <p14:sldId id="415"/>
            <p14:sldId id="392"/>
          </p14:sldIdLst>
        </p14:section>
        <p14:section name="Module 5 Lab: Security" id="{4926494B-B400-46A2-A1A0-9097920A6338}">
          <p14:sldIdLst>
            <p14:sldId id="427"/>
          </p14:sldIdLst>
        </p14:section>
        <p14:section name="Module 6: Object Models" id="{1DF89B8B-1772-44A2-B937-6A2B66D443ED}">
          <p14:sldIdLst>
            <p14:sldId id="416"/>
            <p14:sldId id="454"/>
            <p14:sldId id="455"/>
            <p14:sldId id="456"/>
            <p14:sldId id="457"/>
          </p14:sldIdLst>
        </p14:section>
        <p14:section name="Module 6 Lab: Object Models" id="{D0411C6F-B8E8-4D0C-9D40-8ABDBBA31FB7}">
          <p14:sldIdLst>
            <p14:sldId id="428"/>
          </p14:sldIdLst>
        </p14:section>
        <p14:section name="Module 7: PowerShell Remoting" id="{54B92B5A-7A42-4205-A8A7-87B1E95FF999}">
          <p14:sldIdLst>
            <p14:sldId id="417"/>
            <p14:sldId id="394"/>
            <p14:sldId id="395"/>
            <p14:sldId id="396"/>
            <p14:sldId id="397"/>
            <p14:sldId id="398"/>
            <p14:sldId id="399"/>
            <p14:sldId id="400"/>
            <p14:sldId id="401"/>
            <p14:sldId id="402"/>
            <p14:sldId id="403"/>
            <p14:sldId id="404"/>
            <p14:sldId id="405"/>
            <p14:sldId id="406"/>
            <p14:sldId id="407"/>
            <p14:sldId id="408"/>
          </p14:sldIdLst>
        </p14:section>
        <p14:section name="Module 7 Lab: PowerShell Remoting" id="{09D4C2F5-0C9E-49FA-A842-4FFF898070C1}">
          <p14:sldIdLst>
            <p14:sldId id="429"/>
          </p14:sldIdLst>
        </p14:section>
        <p14:section name="Module 8: Error Checking and Debugging" id="{0D569B67-AE8A-410E-B546-80F04862BF3F}">
          <p14:sldIdLst>
            <p14:sldId id="418"/>
            <p14:sldId id="458"/>
            <p14:sldId id="459"/>
            <p14:sldId id="460"/>
            <p14:sldId id="461"/>
            <p14:sldId id="462"/>
            <p14:sldId id="463"/>
            <p14:sldId id="464"/>
          </p14:sldIdLst>
        </p14:section>
        <p14:section name="Module 8 Lab: Error Checking and Debugging" id="{2FD07AEA-7450-4302-AD14-1C5FCE498C4A}">
          <p14:sldIdLst>
            <p14:sldId id="430"/>
          </p14:sldIdLst>
        </p14:section>
        <p14:section name="Module 9: Active Directory and SQL" id="{05CBB566-ACEE-4B6D-AE94-CFCEAD60D6D9}">
          <p14:sldIdLst>
            <p14:sldId id="419"/>
          </p14:sldIdLst>
        </p14:section>
        <p14:section name="Module 9 Lab: Active Directory and SQL" id="{3DA2F646-E0C7-4B44-8EC0-92E2FBD6AB81}">
          <p14:sldIdLst>
            <p14:sldId id="431"/>
          </p14:sldIdLst>
        </p14:section>
        <p14:section name="Module 10: Resources" id="{2D7EEABE-D7A2-49B9-AB96-2CEE46757ED4}">
          <p14:sldIdLst>
            <p14:sldId id="420"/>
          </p14:sldIdLst>
        </p14:section>
        <p14:section name="Module 10 Lab: Resources" id="{A2918E8C-F2C1-46A8-B3BF-04FB1E138BF8}">
          <p14:sldIdLst>
            <p14:sldId id="432"/>
            <p14:sldId id="482"/>
            <p14:sldId id="483"/>
            <p14:sldId id="484"/>
          </p14:sldIdLst>
        </p14:section>
        <p14:section name="Module 11: Scripting Editor" id="{C0785447-D0F0-4235-8DC0-2D4CFF589FF8}">
          <p14:sldIdLst>
            <p14:sldId id="421"/>
          </p14:sldIdLst>
        </p14:section>
        <p14:section name="Module 11 Lab: Scripting Editor" id="{72376DA9-C11E-43B0-8C82-9CCA64A9FFD0}">
          <p14:sldIdLst>
            <p14:sldId id="433"/>
          </p14:sldIdLst>
        </p14:section>
        <p14:section name="Module 12: Source Repository" id="{3C73BAED-04BD-4ED8-9110-9DB3259748CD}">
          <p14:sldIdLst>
            <p14:sldId id="422"/>
          </p14:sldIdLst>
        </p14:section>
        <p14:section name="Module 12 Lab: Source Repository" id="{D0322BF9-A439-4ACE-B361-1C9A1D13F64B}">
          <p14:sldIdLst>
            <p14:sldId id="434"/>
          </p14:sldIdLst>
        </p14:section>
        <p14:section name="What's New With PowerShell 3.0" id="{A9436D7B-BD99-43DA-92D6-CFED71E1F47A}">
          <p14:sldIdLst>
            <p14:sldId id="372"/>
            <p14:sldId id="4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2456"/>
    <a:srgbClr val="4B4B4B"/>
    <a:srgbClr val="FF8000"/>
    <a:srgbClr val="EBEBEB"/>
    <a:srgbClr val="A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2" autoAdjust="0"/>
    <p:restoredTop sz="73270" autoAdjust="0"/>
  </p:normalViewPr>
  <p:slideViewPr>
    <p:cSldViewPr>
      <p:cViewPr>
        <p:scale>
          <a:sx n="90" d="100"/>
          <a:sy n="90" d="100"/>
        </p:scale>
        <p:origin x="-1080" y="1302"/>
      </p:cViewPr>
      <p:guideLst>
        <p:guide orient="horz" pos="240"/>
        <p:guide pos="215"/>
      </p:guideLst>
    </p:cSldViewPr>
  </p:slideViewPr>
  <p:outlineViewPr>
    <p:cViewPr>
      <p:scale>
        <a:sx n="33" d="100"/>
        <a:sy n="33" d="100"/>
      </p:scale>
      <p:origin x="0" y="18636"/>
    </p:cViewPr>
  </p:outlineViewPr>
  <p:notesTextViewPr>
    <p:cViewPr>
      <p:scale>
        <a:sx n="100" d="100"/>
        <a:sy n="100" d="100"/>
      </p:scale>
      <p:origin x="0" y="0"/>
    </p:cViewPr>
  </p:notesTextViewPr>
  <p:sorterViewPr>
    <p:cViewPr>
      <p:scale>
        <a:sx n="120" d="100"/>
        <a:sy n="120" d="100"/>
      </p:scale>
      <p:origin x="0" y="1518"/>
    </p:cViewPr>
  </p:sorterViewPr>
  <p:notesViewPr>
    <p:cSldViewPr>
      <p:cViewPr varScale="1">
        <p:scale>
          <a:sx n="82" d="100"/>
          <a:sy n="82" d="100"/>
        </p:scale>
        <p:origin x="-3216" y="-102"/>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slide" Target="slides/slide109.xml"/><Relationship Id="rId118" Type="http://schemas.openxmlformats.org/officeDocument/2006/relationships/slide" Target="slides/slide114.xml"/><Relationship Id="rId126" Type="http://schemas.openxmlformats.org/officeDocument/2006/relationships/slide" Target="slides/slide122.xml"/><Relationship Id="rId13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slide" Target="slides/slide112.xml"/><Relationship Id="rId124" Type="http://schemas.openxmlformats.org/officeDocument/2006/relationships/slide" Target="slides/slide120.xml"/><Relationship Id="rId129" Type="http://schemas.openxmlformats.org/officeDocument/2006/relationships/slide" Target="slides/slide12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3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slide" Target="slides/slide115.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30" Type="http://schemas.openxmlformats.org/officeDocument/2006/relationships/slide" Target="slides/slide126.xml"/><Relationship Id="rId13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CB58F5-D888-47EC-94A8-81D6757DEA9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2625A-24B5-4DBC-BE04-563500A375D7}">
      <dgm:prSet custT="1"/>
      <dgm:spPr/>
      <dgm:t>
        <a:bodyPr/>
        <a:lstStyle/>
        <a:p>
          <a:pPr rtl="0"/>
          <a:r>
            <a:rPr lang="en-US" sz="2100" dirty="0" smtClean="0"/>
            <a:t>Multiple languages</a:t>
          </a:r>
          <a:endParaRPr lang="en-US" sz="2100" dirty="0"/>
        </a:p>
      </dgm:t>
    </dgm:pt>
    <dgm:pt modelId="{E9680EB4-6A25-4181-B8DD-A9D555BB11FF}" type="parTrans" cxnId="{4BF6FC6D-316B-4B4B-8D44-B275C46938B7}">
      <dgm:prSet/>
      <dgm:spPr/>
      <dgm:t>
        <a:bodyPr/>
        <a:lstStyle/>
        <a:p>
          <a:endParaRPr lang="en-US"/>
        </a:p>
      </dgm:t>
    </dgm:pt>
    <dgm:pt modelId="{AB590A19-FE30-471C-8460-779AA7BB00EC}" type="sibTrans" cxnId="{4BF6FC6D-316B-4B4B-8D44-B275C46938B7}">
      <dgm:prSet/>
      <dgm:spPr/>
      <dgm:t>
        <a:bodyPr/>
        <a:lstStyle/>
        <a:p>
          <a:endParaRPr lang="en-US"/>
        </a:p>
      </dgm:t>
    </dgm:pt>
    <dgm:pt modelId="{358C465B-D0C7-4A7A-9BDD-657C166EC330}">
      <dgm:prSet custT="1"/>
      <dgm:spPr/>
      <dgm:t>
        <a:bodyPr/>
        <a:lstStyle/>
        <a:p>
          <a:pPr rtl="0"/>
          <a:r>
            <a:rPr lang="en-US" sz="1600" dirty="0" smtClean="0"/>
            <a:t>Support For Legacy Code</a:t>
          </a:r>
          <a:endParaRPr lang="en-US" sz="1600" dirty="0"/>
        </a:p>
      </dgm:t>
    </dgm:pt>
    <dgm:pt modelId="{32B99115-CDF5-42A3-9B07-4D8EBB25BB79}" type="parTrans" cxnId="{4DBC406A-5604-4925-BAFA-12F49CCDAC9B}">
      <dgm:prSet/>
      <dgm:spPr/>
      <dgm:t>
        <a:bodyPr/>
        <a:lstStyle/>
        <a:p>
          <a:endParaRPr lang="en-US"/>
        </a:p>
      </dgm:t>
    </dgm:pt>
    <dgm:pt modelId="{8230DBD2-6484-4C7D-B7AF-3190311BD2BB}" type="sibTrans" cxnId="{4DBC406A-5604-4925-BAFA-12F49CCDAC9B}">
      <dgm:prSet/>
      <dgm:spPr/>
      <dgm:t>
        <a:bodyPr/>
        <a:lstStyle/>
        <a:p>
          <a:endParaRPr lang="en-US"/>
        </a:p>
      </dgm:t>
    </dgm:pt>
    <dgm:pt modelId="{AC337CD3-2C1F-422E-84EE-C11F56B585AA}">
      <dgm:prSet custT="1"/>
      <dgm:spPr/>
      <dgm:t>
        <a:bodyPr/>
        <a:lstStyle/>
        <a:p>
          <a:pPr rtl="0"/>
          <a:r>
            <a:rPr lang="en-US" sz="2100" dirty="0" err="1" smtClean="0"/>
            <a:t>Remoting</a:t>
          </a:r>
          <a:endParaRPr lang="en-US" sz="2100" dirty="0"/>
        </a:p>
      </dgm:t>
    </dgm:pt>
    <dgm:pt modelId="{8FE96356-9577-438A-BF5C-AEA8811F5468}" type="parTrans" cxnId="{40324E5A-57A0-4E1C-BEBF-18E8D60BEC5A}">
      <dgm:prSet/>
      <dgm:spPr/>
      <dgm:t>
        <a:bodyPr/>
        <a:lstStyle/>
        <a:p>
          <a:endParaRPr lang="en-US"/>
        </a:p>
      </dgm:t>
    </dgm:pt>
    <dgm:pt modelId="{4A5A3FAB-A7CD-4B6C-ADB8-D4F9CF0DFD4F}" type="sibTrans" cxnId="{40324E5A-57A0-4E1C-BEBF-18E8D60BEC5A}">
      <dgm:prSet/>
      <dgm:spPr/>
      <dgm:t>
        <a:bodyPr/>
        <a:lstStyle/>
        <a:p>
          <a:endParaRPr lang="en-US"/>
        </a:p>
      </dgm:t>
    </dgm:pt>
    <dgm:pt modelId="{6C391E24-F795-4DBE-A547-E059130E9A95}">
      <dgm:prSet custT="1"/>
      <dgm:spPr/>
      <dgm:t>
        <a:bodyPr/>
        <a:lstStyle/>
        <a:p>
          <a:pPr rtl="0"/>
          <a:r>
            <a:rPr lang="en-US" sz="1600" dirty="0" smtClean="0"/>
            <a:t>Various Technologies Used</a:t>
          </a:r>
          <a:endParaRPr lang="en-US" sz="1600" dirty="0"/>
        </a:p>
      </dgm:t>
    </dgm:pt>
    <dgm:pt modelId="{77650A04-DD9E-4855-9F2D-636AFDBB61EA}" type="parTrans" cxnId="{C26E1CB5-F061-4BC2-B34E-8B070515890D}">
      <dgm:prSet/>
      <dgm:spPr/>
      <dgm:t>
        <a:bodyPr/>
        <a:lstStyle/>
        <a:p>
          <a:endParaRPr lang="en-US"/>
        </a:p>
      </dgm:t>
    </dgm:pt>
    <dgm:pt modelId="{10711309-2236-4D2A-977A-83CDA18AC37B}" type="sibTrans" cxnId="{C26E1CB5-F061-4BC2-B34E-8B070515890D}">
      <dgm:prSet/>
      <dgm:spPr/>
      <dgm:t>
        <a:bodyPr/>
        <a:lstStyle/>
        <a:p>
          <a:endParaRPr lang="en-US"/>
        </a:p>
      </dgm:t>
    </dgm:pt>
    <dgm:pt modelId="{8594BA4E-218D-42A9-888C-4B7CF9BF99B3}">
      <dgm:prSet custT="1"/>
      <dgm:spPr/>
      <dgm:t>
        <a:bodyPr/>
        <a:lstStyle/>
        <a:p>
          <a:pPr rtl="0"/>
          <a:r>
            <a:rPr lang="en-US" sz="1600" dirty="0" smtClean="0"/>
            <a:t>Firewall Friendly?</a:t>
          </a:r>
          <a:endParaRPr lang="en-US" sz="1600" dirty="0"/>
        </a:p>
      </dgm:t>
    </dgm:pt>
    <dgm:pt modelId="{48874337-B34C-4198-A6DA-D670A93FAEB7}" type="parTrans" cxnId="{20CFDFD8-F526-4553-BC64-94931B9CE50B}">
      <dgm:prSet/>
      <dgm:spPr/>
      <dgm:t>
        <a:bodyPr/>
        <a:lstStyle/>
        <a:p>
          <a:endParaRPr lang="en-US"/>
        </a:p>
      </dgm:t>
    </dgm:pt>
    <dgm:pt modelId="{15E8C469-9D50-4F68-8D79-712698440E55}" type="sibTrans" cxnId="{20CFDFD8-F526-4553-BC64-94931B9CE50B}">
      <dgm:prSet/>
      <dgm:spPr/>
      <dgm:t>
        <a:bodyPr/>
        <a:lstStyle/>
        <a:p>
          <a:endParaRPr lang="en-US"/>
        </a:p>
      </dgm:t>
    </dgm:pt>
    <dgm:pt modelId="{A67F23C4-B0BA-4F93-AE51-E8961457C481}">
      <dgm:prSet custT="1"/>
      <dgm:spPr/>
      <dgm:t>
        <a:bodyPr/>
        <a:lstStyle/>
        <a:p>
          <a:pPr rtl="0"/>
          <a:r>
            <a:rPr lang="en-US" sz="2100" dirty="0" smtClean="0"/>
            <a:t>Code Locations</a:t>
          </a:r>
          <a:endParaRPr lang="en-US" sz="2100" dirty="0"/>
        </a:p>
      </dgm:t>
    </dgm:pt>
    <dgm:pt modelId="{DAB93F59-0494-4C4D-B573-0BB158F23EEE}" type="parTrans" cxnId="{5154E09D-CC6E-4912-A6DE-6A56853886E1}">
      <dgm:prSet/>
      <dgm:spPr/>
      <dgm:t>
        <a:bodyPr/>
        <a:lstStyle/>
        <a:p>
          <a:endParaRPr lang="en-US"/>
        </a:p>
      </dgm:t>
    </dgm:pt>
    <dgm:pt modelId="{84F20BF2-1886-479F-A3AE-2CFF6353BE62}" type="sibTrans" cxnId="{5154E09D-CC6E-4912-A6DE-6A56853886E1}">
      <dgm:prSet/>
      <dgm:spPr/>
      <dgm:t>
        <a:bodyPr/>
        <a:lstStyle/>
        <a:p>
          <a:endParaRPr lang="en-US"/>
        </a:p>
      </dgm:t>
    </dgm:pt>
    <dgm:pt modelId="{2BE16939-D226-4E40-9BE8-3095BCB16FF1}">
      <dgm:prSet custT="1"/>
      <dgm:spPr/>
      <dgm:t>
        <a:bodyPr/>
        <a:lstStyle/>
        <a:p>
          <a:pPr rtl="0"/>
          <a:r>
            <a:rPr lang="en-US" sz="1600" dirty="0" smtClean="0"/>
            <a:t>Multiple Locations</a:t>
          </a:r>
          <a:endParaRPr lang="en-US" sz="1600" dirty="0"/>
        </a:p>
      </dgm:t>
    </dgm:pt>
    <dgm:pt modelId="{530A3470-A2B8-4C12-B274-2DAF1C7A3977}" type="parTrans" cxnId="{3F6F2EB9-C4D5-44D5-B686-FD3A0283FE2A}">
      <dgm:prSet/>
      <dgm:spPr/>
      <dgm:t>
        <a:bodyPr/>
        <a:lstStyle/>
        <a:p>
          <a:endParaRPr lang="en-US"/>
        </a:p>
      </dgm:t>
    </dgm:pt>
    <dgm:pt modelId="{8400117A-0494-46E4-8116-88C617C2628F}" type="sibTrans" cxnId="{3F6F2EB9-C4D5-44D5-B686-FD3A0283FE2A}">
      <dgm:prSet/>
      <dgm:spPr/>
      <dgm:t>
        <a:bodyPr/>
        <a:lstStyle/>
        <a:p>
          <a:endParaRPr lang="en-US"/>
        </a:p>
      </dgm:t>
    </dgm:pt>
    <dgm:pt modelId="{FFC72533-E760-4848-9713-AF143E2CC14A}">
      <dgm:prSet custT="1"/>
      <dgm:spPr/>
      <dgm:t>
        <a:bodyPr/>
        <a:lstStyle/>
        <a:p>
          <a:pPr rtl="0"/>
          <a:r>
            <a:rPr lang="en-US" sz="1600" dirty="0" smtClean="0"/>
            <a:t>Versioning?</a:t>
          </a:r>
          <a:endParaRPr lang="en-US" sz="1600" dirty="0"/>
        </a:p>
      </dgm:t>
    </dgm:pt>
    <dgm:pt modelId="{16B22DA5-A2D7-4C3D-B16E-58A34B4733E0}" type="parTrans" cxnId="{045D3941-9C1F-40CC-9D26-063C3B8345F5}">
      <dgm:prSet/>
      <dgm:spPr/>
      <dgm:t>
        <a:bodyPr/>
        <a:lstStyle/>
        <a:p>
          <a:endParaRPr lang="en-US"/>
        </a:p>
      </dgm:t>
    </dgm:pt>
    <dgm:pt modelId="{444CFDB4-E242-417A-BAA0-7B70F679DF14}" type="sibTrans" cxnId="{045D3941-9C1F-40CC-9D26-063C3B8345F5}">
      <dgm:prSet/>
      <dgm:spPr/>
      <dgm:t>
        <a:bodyPr/>
        <a:lstStyle/>
        <a:p>
          <a:endParaRPr lang="en-US"/>
        </a:p>
      </dgm:t>
    </dgm:pt>
    <dgm:pt modelId="{6327EF24-C088-4C9C-BA19-D6C2A6F6B0D1}" type="pres">
      <dgm:prSet presAssocID="{E1CB58F5-D888-47EC-94A8-81D6757DEA9F}" presName="linear" presStyleCnt="0">
        <dgm:presLayoutVars>
          <dgm:animLvl val="lvl"/>
          <dgm:resizeHandles val="exact"/>
        </dgm:presLayoutVars>
      </dgm:prSet>
      <dgm:spPr/>
      <dgm:t>
        <a:bodyPr/>
        <a:lstStyle/>
        <a:p>
          <a:endParaRPr lang="en-US"/>
        </a:p>
      </dgm:t>
    </dgm:pt>
    <dgm:pt modelId="{669B0908-BF16-45D7-B3D2-9422DA3EA680}" type="pres">
      <dgm:prSet presAssocID="{6152625A-24B5-4DBC-BE04-563500A375D7}" presName="parentText" presStyleLbl="node1" presStyleIdx="0" presStyleCnt="3" custScaleY="45390" custLinFactNeighborY="-9566">
        <dgm:presLayoutVars>
          <dgm:chMax val="0"/>
          <dgm:bulletEnabled val="1"/>
        </dgm:presLayoutVars>
      </dgm:prSet>
      <dgm:spPr/>
      <dgm:t>
        <a:bodyPr/>
        <a:lstStyle/>
        <a:p>
          <a:endParaRPr lang="en-US"/>
        </a:p>
      </dgm:t>
    </dgm:pt>
    <dgm:pt modelId="{8CF81F27-B886-41FB-9172-24E1040E2072}" type="pres">
      <dgm:prSet presAssocID="{6152625A-24B5-4DBC-BE04-563500A375D7}" presName="childText" presStyleLbl="revTx" presStyleIdx="0" presStyleCnt="3" custLinFactNeighborY="-2200">
        <dgm:presLayoutVars>
          <dgm:bulletEnabled val="1"/>
        </dgm:presLayoutVars>
      </dgm:prSet>
      <dgm:spPr/>
      <dgm:t>
        <a:bodyPr/>
        <a:lstStyle/>
        <a:p>
          <a:endParaRPr lang="en-US"/>
        </a:p>
      </dgm:t>
    </dgm:pt>
    <dgm:pt modelId="{0AFD25BB-472D-41C7-9AEF-C93BB83D673F}" type="pres">
      <dgm:prSet presAssocID="{AC337CD3-2C1F-422E-84EE-C11F56B585AA}" presName="parentText" presStyleLbl="node1" presStyleIdx="1" presStyleCnt="3" custScaleY="42593" custLinFactNeighborY="-45854">
        <dgm:presLayoutVars>
          <dgm:chMax val="0"/>
          <dgm:bulletEnabled val="1"/>
        </dgm:presLayoutVars>
      </dgm:prSet>
      <dgm:spPr/>
      <dgm:t>
        <a:bodyPr/>
        <a:lstStyle/>
        <a:p>
          <a:endParaRPr lang="en-US"/>
        </a:p>
      </dgm:t>
    </dgm:pt>
    <dgm:pt modelId="{2A6B2E35-93D3-410E-AF20-C270FFF57104}" type="pres">
      <dgm:prSet presAssocID="{AC337CD3-2C1F-422E-84EE-C11F56B585AA}" presName="childText" presStyleLbl="revTx" presStyleIdx="1" presStyleCnt="3" custLinFactNeighborY="-33846">
        <dgm:presLayoutVars>
          <dgm:bulletEnabled val="1"/>
        </dgm:presLayoutVars>
      </dgm:prSet>
      <dgm:spPr/>
      <dgm:t>
        <a:bodyPr/>
        <a:lstStyle/>
        <a:p>
          <a:endParaRPr lang="en-US"/>
        </a:p>
      </dgm:t>
    </dgm:pt>
    <dgm:pt modelId="{E0E96343-C5B9-43D8-87A6-61181937C692}" type="pres">
      <dgm:prSet presAssocID="{A67F23C4-B0BA-4F93-AE51-E8961457C481}" presName="parentText" presStyleLbl="node1" presStyleIdx="2" presStyleCnt="3" custScaleY="42737" custLinFactNeighborY="-64955">
        <dgm:presLayoutVars>
          <dgm:chMax val="0"/>
          <dgm:bulletEnabled val="1"/>
        </dgm:presLayoutVars>
      </dgm:prSet>
      <dgm:spPr/>
      <dgm:t>
        <a:bodyPr/>
        <a:lstStyle/>
        <a:p>
          <a:endParaRPr lang="en-US"/>
        </a:p>
      </dgm:t>
    </dgm:pt>
    <dgm:pt modelId="{75CBEC85-6752-4CF2-A0C1-8696AF5B5E4B}" type="pres">
      <dgm:prSet presAssocID="{A67F23C4-B0BA-4F93-AE51-E8961457C481}" presName="childText" presStyleLbl="revTx" presStyleIdx="2" presStyleCnt="3" custLinFactNeighborY="-50888">
        <dgm:presLayoutVars>
          <dgm:bulletEnabled val="1"/>
        </dgm:presLayoutVars>
      </dgm:prSet>
      <dgm:spPr/>
      <dgm:t>
        <a:bodyPr/>
        <a:lstStyle/>
        <a:p>
          <a:endParaRPr lang="en-US"/>
        </a:p>
      </dgm:t>
    </dgm:pt>
  </dgm:ptLst>
  <dgm:cxnLst>
    <dgm:cxn modelId="{5154E09D-CC6E-4912-A6DE-6A56853886E1}" srcId="{E1CB58F5-D888-47EC-94A8-81D6757DEA9F}" destId="{A67F23C4-B0BA-4F93-AE51-E8961457C481}" srcOrd="2" destOrd="0" parTransId="{DAB93F59-0494-4C4D-B573-0BB158F23EEE}" sibTransId="{84F20BF2-1886-479F-A3AE-2CFF6353BE62}"/>
    <dgm:cxn modelId="{78F40209-8085-40E8-8596-2902E38326CE}" type="presOf" srcId="{6C391E24-F795-4DBE-A547-E059130E9A95}" destId="{2A6B2E35-93D3-410E-AF20-C270FFF57104}" srcOrd="0" destOrd="0" presId="urn:microsoft.com/office/officeart/2005/8/layout/vList2"/>
    <dgm:cxn modelId="{20CFDFD8-F526-4553-BC64-94931B9CE50B}" srcId="{AC337CD3-2C1F-422E-84EE-C11F56B585AA}" destId="{8594BA4E-218D-42A9-888C-4B7CF9BF99B3}" srcOrd="1" destOrd="0" parTransId="{48874337-B34C-4198-A6DA-D670A93FAEB7}" sibTransId="{15E8C469-9D50-4F68-8D79-712698440E55}"/>
    <dgm:cxn modelId="{C26E1CB5-F061-4BC2-B34E-8B070515890D}" srcId="{AC337CD3-2C1F-422E-84EE-C11F56B585AA}" destId="{6C391E24-F795-4DBE-A547-E059130E9A95}" srcOrd="0" destOrd="0" parTransId="{77650A04-DD9E-4855-9F2D-636AFDBB61EA}" sibTransId="{10711309-2236-4D2A-977A-83CDA18AC37B}"/>
    <dgm:cxn modelId="{045D3941-9C1F-40CC-9D26-063C3B8345F5}" srcId="{A67F23C4-B0BA-4F93-AE51-E8961457C481}" destId="{FFC72533-E760-4848-9713-AF143E2CC14A}" srcOrd="1" destOrd="0" parTransId="{16B22DA5-A2D7-4C3D-B16E-58A34B4733E0}" sibTransId="{444CFDB4-E242-417A-BAA0-7B70F679DF14}"/>
    <dgm:cxn modelId="{50F6F9F7-CD2D-40EF-93BE-66A3A17782D7}" type="presOf" srcId="{E1CB58F5-D888-47EC-94A8-81D6757DEA9F}" destId="{6327EF24-C088-4C9C-BA19-D6C2A6F6B0D1}" srcOrd="0" destOrd="0" presId="urn:microsoft.com/office/officeart/2005/8/layout/vList2"/>
    <dgm:cxn modelId="{3F6F2EB9-C4D5-44D5-B686-FD3A0283FE2A}" srcId="{A67F23C4-B0BA-4F93-AE51-E8961457C481}" destId="{2BE16939-D226-4E40-9BE8-3095BCB16FF1}" srcOrd="0" destOrd="0" parTransId="{530A3470-A2B8-4C12-B274-2DAF1C7A3977}" sibTransId="{8400117A-0494-46E4-8116-88C617C2628F}"/>
    <dgm:cxn modelId="{BFF61211-1BF2-4020-A38A-CB5F70A93076}" type="presOf" srcId="{AC337CD3-2C1F-422E-84EE-C11F56B585AA}" destId="{0AFD25BB-472D-41C7-9AEF-C93BB83D673F}" srcOrd="0" destOrd="0" presId="urn:microsoft.com/office/officeart/2005/8/layout/vList2"/>
    <dgm:cxn modelId="{B0A18C40-6DDE-40DD-A921-A79F3EB91F56}" type="presOf" srcId="{FFC72533-E760-4848-9713-AF143E2CC14A}" destId="{75CBEC85-6752-4CF2-A0C1-8696AF5B5E4B}" srcOrd="0" destOrd="1" presId="urn:microsoft.com/office/officeart/2005/8/layout/vList2"/>
    <dgm:cxn modelId="{368B29DE-81EE-4AF8-94F9-91DEDFC8F71A}" type="presOf" srcId="{358C465B-D0C7-4A7A-9BDD-657C166EC330}" destId="{8CF81F27-B886-41FB-9172-24E1040E2072}" srcOrd="0" destOrd="0" presId="urn:microsoft.com/office/officeart/2005/8/layout/vList2"/>
    <dgm:cxn modelId="{40324E5A-57A0-4E1C-BEBF-18E8D60BEC5A}" srcId="{E1CB58F5-D888-47EC-94A8-81D6757DEA9F}" destId="{AC337CD3-2C1F-422E-84EE-C11F56B585AA}" srcOrd="1" destOrd="0" parTransId="{8FE96356-9577-438A-BF5C-AEA8811F5468}" sibTransId="{4A5A3FAB-A7CD-4B6C-ADB8-D4F9CF0DFD4F}"/>
    <dgm:cxn modelId="{58C8A626-BEFF-4174-9D14-62EC91F49AFA}" type="presOf" srcId="{A67F23C4-B0BA-4F93-AE51-E8961457C481}" destId="{E0E96343-C5B9-43D8-87A6-61181937C692}" srcOrd="0" destOrd="0" presId="urn:microsoft.com/office/officeart/2005/8/layout/vList2"/>
    <dgm:cxn modelId="{94FFF030-0BF3-453C-A3DE-34FADCD9784F}" type="presOf" srcId="{6152625A-24B5-4DBC-BE04-563500A375D7}" destId="{669B0908-BF16-45D7-B3D2-9422DA3EA680}" srcOrd="0" destOrd="0" presId="urn:microsoft.com/office/officeart/2005/8/layout/vList2"/>
    <dgm:cxn modelId="{4DBC406A-5604-4925-BAFA-12F49CCDAC9B}" srcId="{6152625A-24B5-4DBC-BE04-563500A375D7}" destId="{358C465B-D0C7-4A7A-9BDD-657C166EC330}" srcOrd="0" destOrd="0" parTransId="{32B99115-CDF5-42A3-9B07-4D8EBB25BB79}" sibTransId="{8230DBD2-6484-4C7D-B7AF-3190311BD2BB}"/>
    <dgm:cxn modelId="{4BF6FC6D-316B-4B4B-8D44-B275C46938B7}" srcId="{E1CB58F5-D888-47EC-94A8-81D6757DEA9F}" destId="{6152625A-24B5-4DBC-BE04-563500A375D7}" srcOrd="0" destOrd="0" parTransId="{E9680EB4-6A25-4181-B8DD-A9D555BB11FF}" sibTransId="{AB590A19-FE30-471C-8460-779AA7BB00EC}"/>
    <dgm:cxn modelId="{50A28071-A88A-4C16-967F-6AD9BD90C841}" type="presOf" srcId="{2BE16939-D226-4E40-9BE8-3095BCB16FF1}" destId="{75CBEC85-6752-4CF2-A0C1-8696AF5B5E4B}" srcOrd="0" destOrd="0" presId="urn:microsoft.com/office/officeart/2005/8/layout/vList2"/>
    <dgm:cxn modelId="{DF940FBF-6DB1-4D6A-B3C6-4281C7AAD380}" type="presOf" srcId="{8594BA4E-218D-42A9-888C-4B7CF9BF99B3}" destId="{2A6B2E35-93D3-410E-AF20-C270FFF57104}" srcOrd="0" destOrd="1" presId="urn:microsoft.com/office/officeart/2005/8/layout/vList2"/>
    <dgm:cxn modelId="{71E55891-56D2-4C64-BD7C-99D4FCE8E09E}" type="presParOf" srcId="{6327EF24-C088-4C9C-BA19-D6C2A6F6B0D1}" destId="{669B0908-BF16-45D7-B3D2-9422DA3EA680}" srcOrd="0" destOrd="0" presId="urn:microsoft.com/office/officeart/2005/8/layout/vList2"/>
    <dgm:cxn modelId="{3F9041D9-13AB-4DFB-82E6-201778C1EBCB}" type="presParOf" srcId="{6327EF24-C088-4C9C-BA19-D6C2A6F6B0D1}" destId="{8CF81F27-B886-41FB-9172-24E1040E2072}" srcOrd="1" destOrd="0" presId="urn:microsoft.com/office/officeart/2005/8/layout/vList2"/>
    <dgm:cxn modelId="{FC069593-F5F4-42B8-B288-4B75A26F72BB}" type="presParOf" srcId="{6327EF24-C088-4C9C-BA19-D6C2A6F6B0D1}" destId="{0AFD25BB-472D-41C7-9AEF-C93BB83D673F}" srcOrd="2" destOrd="0" presId="urn:microsoft.com/office/officeart/2005/8/layout/vList2"/>
    <dgm:cxn modelId="{BB2FCC1F-947B-4625-8DA9-491D33E61FE0}" type="presParOf" srcId="{6327EF24-C088-4C9C-BA19-D6C2A6F6B0D1}" destId="{2A6B2E35-93D3-410E-AF20-C270FFF57104}" srcOrd="3" destOrd="0" presId="urn:microsoft.com/office/officeart/2005/8/layout/vList2"/>
    <dgm:cxn modelId="{20B24745-3F0B-4E24-9B4A-B4CE993459DF}" type="presParOf" srcId="{6327EF24-C088-4C9C-BA19-D6C2A6F6B0D1}" destId="{E0E96343-C5B9-43D8-87A6-61181937C692}" srcOrd="4" destOrd="0" presId="urn:microsoft.com/office/officeart/2005/8/layout/vList2"/>
    <dgm:cxn modelId="{CC4139FC-31DB-44D3-8F1E-62CA175E1ED2}" type="presParOf" srcId="{6327EF24-C088-4C9C-BA19-D6C2A6F6B0D1}" destId="{75CBEC85-6752-4CF2-A0C1-8696AF5B5E4B}" srcOrd="5"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527466-8F02-45A4-9513-FE5DC677CE2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1BF2B9F-C32B-4352-BE1B-BA52B95B78B2}">
      <dgm:prSet/>
      <dgm:spPr/>
      <dgm:t>
        <a:bodyPr/>
        <a:lstStyle/>
        <a:p>
          <a:pPr rtl="0"/>
          <a:r>
            <a:rPr lang="en-US" dirty="0" smtClean="0"/>
            <a:t>Standards</a:t>
          </a:r>
          <a:endParaRPr lang="en-US" dirty="0"/>
        </a:p>
      </dgm:t>
    </dgm:pt>
    <dgm:pt modelId="{E61ADD5F-314E-46F1-9713-5C9A4D9D43D2}" type="parTrans" cxnId="{5EA9B19C-6698-43C4-B2C3-B83C931662A9}">
      <dgm:prSet/>
      <dgm:spPr/>
      <dgm:t>
        <a:bodyPr/>
        <a:lstStyle/>
        <a:p>
          <a:endParaRPr lang="en-US"/>
        </a:p>
      </dgm:t>
    </dgm:pt>
    <dgm:pt modelId="{A9769325-2179-444C-8985-31A98F58DE86}" type="sibTrans" cxnId="{5EA9B19C-6698-43C4-B2C3-B83C931662A9}">
      <dgm:prSet/>
      <dgm:spPr/>
      <dgm:t>
        <a:bodyPr/>
        <a:lstStyle/>
        <a:p>
          <a:endParaRPr lang="en-US"/>
        </a:p>
      </dgm:t>
    </dgm:pt>
    <dgm:pt modelId="{3670E94A-C79C-4F6D-A859-77439369CC67}">
      <dgm:prSet/>
      <dgm:spPr/>
      <dgm:t>
        <a:bodyPr/>
        <a:lstStyle/>
        <a:p>
          <a:pPr rtl="0"/>
          <a:r>
            <a:rPr lang="en-US" dirty="0" smtClean="0"/>
            <a:t>Language</a:t>
          </a:r>
          <a:endParaRPr lang="en-US" dirty="0"/>
        </a:p>
      </dgm:t>
    </dgm:pt>
    <dgm:pt modelId="{8CC93A5E-4860-4A0B-83A5-426958A82F54}" type="parTrans" cxnId="{30902CFD-8757-47FE-B713-A3B829253764}">
      <dgm:prSet/>
      <dgm:spPr/>
      <dgm:t>
        <a:bodyPr/>
        <a:lstStyle/>
        <a:p>
          <a:endParaRPr lang="en-US"/>
        </a:p>
      </dgm:t>
    </dgm:pt>
    <dgm:pt modelId="{C82273F7-748F-45F6-9055-9A01107D7DF8}" type="sibTrans" cxnId="{30902CFD-8757-47FE-B713-A3B829253764}">
      <dgm:prSet/>
      <dgm:spPr/>
      <dgm:t>
        <a:bodyPr/>
        <a:lstStyle/>
        <a:p>
          <a:endParaRPr lang="en-US"/>
        </a:p>
      </dgm:t>
    </dgm:pt>
    <dgm:pt modelId="{0E8B4F15-FF91-4886-BD73-9565A15770E0}">
      <dgm:prSet/>
      <dgm:spPr/>
      <dgm:t>
        <a:bodyPr/>
        <a:lstStyle/>
        <a:p>
          <a:pPr rtl="0"/>
          <a:r>
            <a:rPr lang="en-US" smtClean="0"/>
            <a:t>Remote Management</a:t>
          </a:r>
          <a:endParaRPr lang="en-US"/>
        </a:p>
      </dgm:t>
    </dgm:pt>
    <dgm:pt modelId="{1D7D5231-F41B-4E02-A908-3A82C355FE45}" type="parTrans" cxnId="{3190C5F0-AB3B-4046-9202-57DF8751CCC2}">
      <dgm:prSet/>
      <dgm:spPr/>
      <dgm:t>
        <a:bodyPr/>
        <a:lstStyle/>
        <a:p>
          <a:endParaRPr lang="en-US"/>
        </a:p>
      </dgm:t>
    </dgm:pt>
    <dgm:pt modelId="{559975D4-A563-4D25-8445-2DF1F23DF7B8}" type="sibTrans" cxnId="{3190C5F0-AB3B-4046-9202-57DF8751CCC2}">
      <dgm:prSet/>
      <dgm:spPr/>
      <dgm:t>
        <a:bodyPr/>
        <a:lstStyle/>
        <a:p>
          <a:endParaRPr lang="en-US"/>
        </a:p>
      </dgm:t>
    </dgm:pt>
    <dgm:pt modelId="{2A53BE53-C064-4AF7-A162-94DFE0949831}">
      <dgm:prSet/>
      <dgm:spPr/>
      <dgm:t>
        <a:bodyPr/>
        <a:lstStyle/>
        <a:p>
          <a:pPr rtl="0"/>
          <a:r>
            <a:rPr lang="en-US" dirty="0" smtClean="0"/>
            <a:t>Processes</a:t>
          </a:r>
          <a:endParaRPr lang="en-US" dirty="0"/>
        </a:p>
      </dgm:t>
    </dgm:pt>
    <dgm:pt modelId="{4C2772A5-16E0-40B1-BFD4-55D589DAD6AC}" type="parTrans" cxnId="{F651BE51-D86F-416F-B2A7-BCFB64E54AAE}">
      <dgm:prSet/>
      <dgm:spPr/>
      <dgm:t>
        <a:bodyPr/>
        <a:lstStyle/>
        <a:p>
          <a:endParaRPr lang="en-US"/>
        </a:p>
      </dgm:t>
    </dgm:pt>
    <dgm:pt modelId="{820C6783-97C4-4E0A-BFEC-F4424F26BAC5}" type="sibTrans" cxnId="{F651BE51-D86F-416F-B2A7-BCFB64E54AAE}">
      <dgm:prSet/>
      <dgm:spPr/>
      <dgm:t>
        <a:bodyPr/>
        <a:lstStyle/>
        <a:p>
          <a:endParaRPr lang="en-US"/>
        </a:p>
      </dgm:t>
    </dgm:pt>
    <dgm:pt modelId="{9CB57A55-7D11-48E5-9201-A50A1AB95F5D}">
      <dgm:prSet/>
      <dgm:spPr/>
      <dgm:t>
        <a:bodyPr/>
        <a:lstStyle/>
        <a:p>
          <a:pPr rtl="0"/>
          <a:r>
            <a:rPr lang="en-US" smtClean="0"/>
            <a:t>Peer Code Review</a:t>
          </a:r>
          <a:endParaRPr lang="en-US"/>
        </a:p>
      </dgm:t>
    </dgm:pt>
    <dgm:pt modelId="{253ADC3D-B738-43CA-B98C-60239C90EADA}" type="parTrans" cxnId="{CE1E8994-FE41-4F13-B1FD-FD6DF5D048F1}">
      <dgm:prSet/>
      <dgm:spPr/>
      <dgm:t>
        <a:bodyPr/>
        <a:lstStyle/>
        <a:p>
          <a:endParaRPr lang="en-US"/>
        </a:p>
      </dgm:t>
    </dgm:pt>
    <dgm:pt modelId="{E323AF05-63C4-430A-A26F-F574FCB5912B}" type="sibTrans" cxnId="{CE1E8994-FE41-4F13-B1FD-FD6DF5D048F1}">
      <dgm:prSet/>
      <dgm:spPr/>
      <dgm:t>
        <a:bodyPr/>
        <a:lstStyle/>
        <a:p>
          <a:endParaRPr lang="en-US"/>
        </a:p>
      </dgm:t>
    </dgm:pt>
    <dgm:pt modelId="{B8DB3058-F630-4DFB-BABE-EAD7EE099137}">
      <dgm:prSet/>
      <dgm:spPr/>
      <dgm:t>
        <a:bodyPr/>
        <a:lstStyle/>
        <a:p>
          <a:pPr rtl="0"/>
          <a:r>
            <a:rPr lang="en-US" smtClean="0"/>
            <a:t>Training</a:t>
          </a:r>
          <a:endParaRPr lang="en-US"/>
        </a:p>
      </dgm:t>
    </dgm:pt>
    <dgm:pt modelId="{810B7089-95A9-4ADD-BE37-1909E5BBF03C}" type="parTrans" cxnId="{9CA224AC-C7AD-4450-8F2D-FAD4EE6B5EF2}">
      <dgm:prSet/>
      <dgm:spPr/>
      <dgm:t>
        <a:bodyPr/>
        <a:lstStyle/>
        <a:p>
          <a:endParaRPr lang="en-US"/>
        </a:p>
      </dgm:t>
    </dgm:pt>
    <dgm:pt modelId="{43F02AB3-C332-4FAE-9021-93ACEAB707AB}" type="sibTrans" cxnId="{9CA224AC-C7AD-4450-8F2D-FAD4EE6B5EF2}">
      <dgm:prSet/>
      <dgm:spPr/>
      <dgm:t>
        <a:bodyPr/>
        <a:lstStyle/>
        <a:p>
          <a:endParaRPr lang="en-US"/>
        </a:p>
      </dgm:t>
    </dgm:pt>
    <dgm:pt modelId="{435962DF-A711-47FC-AFEA-CEFD741689B3}">
      <dgm:prSet/>
      <dgm:spPr/>
      <dgm:t>
        <a:bodyPr/>
        <a:lstStyle/>
        <a:p>
          <a:pPr rtl="0"/>
          <a:r>
            <a:rPr lang="en-US" smtClean="0"/>
            <a:t>2 Week Training</a:t>
          </a:r>
          <a:endParaRPr lang="en-US"/>
        </a:p>
      </dgm:t>
    </dgm:pt>
    <dgm:pt modelId="{C5F83896-32A8-4B22-9A88-A15244E00153}" type="parTrans" cxnId="{793496BC-2ABF-4439-940B-C2D001F258D6}">
      <dgm:prSet/>
      <dgm:spPr/>
      <dgm:t>
        <a:bodyPr/>
        <a:lstStyle/>
        <a:p>
          <a:endParaRPr lang="en-US"/>
        </a:p>
      </dgm:t>
    </dgm:pt>
    <dgm:pt modelId="{A9A7BC59-646B-44DD-BFAB-0CAC4AAFD6F6}" type="sibTrans" cxnId="{793496BC-2ABF-4439-940B-C2D001F258D6}">
      <dgm:prSet/>
      <dgm:spPr/>
      <dgm:t>
        <a:bodyPr/>
        <a:lstStyle/>
        <a:p>
          <a:endParaRPr lang="en-US"/>
        </a:p>
      </dgm:t>
    </dgm:pt>
    <dgm:pt modelId="{92A47727-4FE5-4316-A85E-BBE09673620E}">
      <dgm:prSet/>
      <dgm:spPr/>
      <dgm:t>
        <a:bodyPr/>
        <a:lstStyle/>
        <a:p>
          <a:pPr rtl="0"/>
          <a:r>
            <a:rPr lang="en-US" smtClean="0"/>
            <a:t>Central Management</a:t>
          </a:r>
          <a:endParaRPr lang="en-US"/>
        </a:p>
      </dgm:t>
    </dgm:pt>
    <dgm:pt modelId="{25E32A4A-2D6F-4172-9922-1222B5C2E682}" type="parTrans" cxnId="{EC8D14BC-03AA-4B7B-BBDB-155EEF00EC64}">
      <dgm:prSet/>
      <dgm:spPr/>
      <dgm:t>
        <a:bodyPr/>
        <a:lstStyle/>
        <a:p>
          <a:endParaRPr lang="en-US"/>
        </a:p>
      </dgm:t>
    </dgm:pt>
    <dgm:pt modelId="{5C99D4F4-38C2-4B89-962E-5B2AD1C45D80}" type="sibTrans" cxnId="{EC8D14BC-03AA-4B7B-BBDB-155EEF00EC64}">
      <dgm:prSet/>
      <dgm:spPr/>
      <dgm:t>
        <a:bodyPr/>
        <a:lstStyle/>
        <a:p>
          <a:endParaRPr lang="en-US"/>
        </a:p>
      </dgm:t>
    </dgm:pt>
    <dgm:pt modelId="{ABC427A6-0683-4A29-BE26-A7175B899483}">
      <dgm:prSet/>
      <dgm:spPr/>
      <dgm:t>
        <a:bodyPr/>
        <a:lstStyle/>
        <a:p>
          <a:pPr rtl="0"/>
          <a:r>
            <a:rPr lang="en-US" smtClean="0"/>
            <a:t>Script Execution Point</a:t>
          </a:r>
          <a:endParaRPr lang="en-US"/>
        </a:p>
      </dgm:t>
    </dgm:pt>
    <dgm:pt modelId="{CBD34C31-F34B-4753-ADF4-40D5F6D6B50A}" type="parTrans" cxnId="{EA23CDEA-28F7-4751-B20C-159993C9BB2A}">
      <dgm:prSet/>
      <dgm:spPr/>
      <dgm:t>
        <a:bodyPr/>
        <a:lstStyle/>
        <a:p>
          <a:endParaRPr lang="en-US"/>
        </a:p>
      </dgm:t>
    </dgm:pt>
    <dgm:pt modelId="{2A8310E8-87E3-4D30-8EBF-F8740DB2F543}" type="sibTrans" cxnId="{EA23CDEA-28F7-4751-B20C-159993C9BB2A}">
      <dgm:prSet/>
      <dgm:spPr/>
      <dgm:t>
        <a:bodyPr/>
        <a:lstStyle/>
        <a:p>
          <a:endParaRPr lang="en-US"/>
        </a:p>
      </dgm:t>
    </dgm:pt>
    <dgm:pt modelId="{C60B47DD-5607-45D6-82EE-0F57B92461BE}">
      <dgm:prSet/>
      <dgm:spPr/>
      <dgm:t>
        <a:bodyPr/>
        <a:lstStyle/>
        <a:p>
          <a:pPr rtl="0"/>
          <a:r>
            <a:rPr lang="en-US" smtClean="0"/>
            <a:t>Refreshed Hardware</a:t>
          </a:r>
          <a:endParaRPr lang="en-US"/>
        </a:p>
      </dgm:t>
    </dgm:pt>
    <dgm:pt modelId="{01D27044-1B28-49E8-8A50-806D955DE719}" type="parTrans" cxnId="{C54DB934-DD09-4A68-B455-242A6B53AC86}">
      <dgm:prSet/>
      <dgm:spPr/>
      <dgm:t>
        <a:bodyPr/>
        <a:lstStyle/>
        <a:p>
          <a:endParaRPr lang="en-US"/>
        </a:p>
      </dgm:t>
    </dgm:pt>
    <dgm:pt modelId="{CC538830-BD2B-4658-B945-C326B042E600}" type="sibTrans" cxnId="{C54DB934-DD09-4A68-B455-242A6B53AC86}">
      <dgm:prSet/>
      <dgm:spPr/>
      <dgm:t>
        <a:bodyPr/>
        <a:lstStyle/>
        <a:p>
          <a:endParaRPr lang="en-US"/>
        </a:p>
      </dgm:t>
    </dgm:pt>
    <dgm:pt modelId="{36F6AB88-777D-44FA-8FF9-5DD737E4BFCE}">
      <dgm:prSet/>
      <dgm:spPr/>
      <dgm:t>
        <a:bodyPr/>
        <a:lstStyle/>
        <a:p>
          <a:pPr rtl="0"/>
          <a:r>
            <a:rPr lang="en-US" smtClean="0"/>
            <a:t>Better Tools</a:t>
          </a:r>
          <a:endParaRPr lang="en-US"/>
        </a:p>
      </dgm:t>
    </dgm:pt>
    <dgm:pt modelId="{CB5AF182-F211-4E7E-BA0C-B28418B10F6B}" type="parTrans" cxnId="{E1AA03D6-F0A2-4FAD-ACB8-97A461BBE456}">
      <dgm:prSet/>
      <dgm:spPr/>
      <dgm:t>
        <a:bodyPr/>
        <a:lstStyle/>
        <a:p>
          <a:endParaRPr lang="en-US"/>
        </a:p>
      </dgm:t>
    </dgm:pt>
    <dgm:pt modelId="{D176E388-A1EB-478D-B92B-D7A0CB7E03AB}" type="sibTrans" cxnId="{E1AA03D6-F0A2-4FAD-ACB8-97A461BBE456}">
      <dgm:prSet/>
      <dgm:spPr/>
      <dgm:t>
        <a:bodyPr/>
        <a:lstStyle/>
        <a:p>
          <a:endParaRPr lang="en-US"/>
        </a:p>
      </dgm:t>
    </dgm:pt>
    <dgm:pt modelId="{D2BB1741-8571-47A9-8DA0-6E73966CC609}">
      <dgm:prSet/>
      <dgm:spPr/>
      <dgm:t>
        <a:bodyPr/>
        <a:lstStyle/>
        <a:p>
          <a:pPr rtl="0"/>
          <a:r>
            <a:rPr lang="en-US" smtClean="0"/>
            <a:t>Scripting Editor</a:t>
          </a:r>
          <a:endParaRPr lang="en-US"/>
        </a:p>
      </dgm:t>
    </dgm:pt>
    <dgm:pt modelId="{E09E51CE-705A-48DF-9774-E4C844BCDDD6}" type="parTrans" cxnId="{B23CA8FC-68FA-45E6-919D-D365B2AB94F3}">
      <dgm:prSet/>
      <dgm:spPr/>
      <dgm:t>
        <a:bodyPr/>
        <a:lstStyle/>
        <a:p>
          <a:endParaRPr lang="en-US"/>
        </a:p>
      </dgm:t>
    </dgm:pt>
    <dgm:pt modelId="{D470C5A7-3766-4358-A8A1-020E012F0D72}" type="sibTrans" cxnId="{B23CA8FC-68FA-45E6-919D-D365B2AB94F3}">
      <dgm:prSet/>
      <dgm:spPr/>
      <dgm:t>
        <a:bodyPr/>
        <a:lstStyle/>
        <a:p>
          <a:endParaRPr lang="en-US"/>
        </a:p>
      </dgm:t>
    </dgm:pt>
    <dgm:pt modelId="{63F896C8-A63D-44E8-9CEF-16A8500757CD}">
      <dgm:prSet/>
      <dgm:spPr/>
      <dgm:t>
        <a:bodyPr/>
        <a:lstStyle/>
        <a:p>
          <a:pPr rtl="0"/>
          <a:r>
            <a:rPr lang="en-US" dirty="0" smtClean="0"/>
            <a:t>Code Repository</a:t>
          </a:r>
          <a:endParaRPr lang="en-US" dirty="0"/>
        </a:p>
      </dgm:t>
    </dgm:pt>
    <dgm:pt modelId="{950360D7-50DF-4934-AB85-222F1899397E}" type="parTrans" cxnId="{A6E297C7-0953-436E-8C09-4749C3660407}">
      <dgm:prSet/>
      <dgm:spPr/>
      <dgm:t>
        <a:bodyPr/>
        <a:lstStyle/>
        <a:p>
          <a:endParaRPr lang="en-US"/>
        </a:p>
      </dgm:t>
    </dgm:pt>
    <dgm:pt modelId="{7E5C6B6D-3C6E-4FBC-A7A4-ABFB52E35092}" type="sibTrans" cxnId="{A6E297C7-0953-436E-8C09-4749C3660407}">
      <dgm:prSet/>
      <dgm:spPr/>
      <dgm:t>
        <a:bodyPr/>
        <a:lstStyle/>
        <a:p>
          <a:endParaRPr lang="en-US"/>
        </a:p>
      </dgm:t>
    </dgm:pt>
    <dgm:pt modelId="{967BB488-F02E-454E-90BC-410B814F520F}">
      <dgm:prSet/>
      <dgm:spPr/>
      <dgm:t>
        <a:bodyPr/>
        <a:lstStyle/>
        <a:p>
          <a:pPr rtl="0"/>
          <a:r>
            <a:rPr lang="en-US" dirty="0" smtClean="0"/>
            <a:t>Repository</a:t>
          </a:r>
          <a:endParaRPr lang="en-US" dirty="0"/>
        </a:p>
      </dgm:t>
    </dgm:pt>
    <dgm:pt modelId="{796342BC-6DC9-4BAA-9908-7E366DC6F0B2}" type="sibTrans" cxnId="{5E4A2852-9BE3-4155-9ED9-0CC82B4BF914}">
      <dgm:prSet/>
      <dgm:spPr/>
      <dgm:t>
        <a:bodyPr/>
        <a:lstStyle/>
        <a:p>
          <a:endParaRPr lang="en-US"/>
        </a:p>
      </dgm:t>
    </dgm:pt>
    <dgm:pt modelId="{FBFC0297-7A13-43AF-A7FE-16F2ADC1E85C}" type="parTrans" cxnId="{5E4A2852-9BE3-4155-9ED9-0CC82B4BF914}">
      <dgm:prSet/>
      <dgm:spPr/>
      <dgm:t>
        <a:bodyPr/>
        <a:lstStyle/>
        <a:p>
          <a:endParaRPr lang="en-US"/>
        </a:p>
      </dgm:t>
    </dgm:pt>
    <dgm:pt modelId="{27D9351F-A553-477B-A68B-E46881CD583B}" type="pres">
      <dgm:prSet presAssocID="{81527466-8F02-45A4-9513-FE5DC677CE20}" presName="linear" presStyleCnt="0">
        <dgm:presLayoutVars>
          <dgm:animLvl val="lvl"/>
          <dgm:resizeHandles val="exact"/>
        </dgm:presLayoutVars>
      </dgm:prSet>
      <dgm:spPr/>
      <dgm:t>
        <a:bodyPr/>
        <a:lstStyle/>
        <a:p>
          <a:endParaRPr lang="en-US"/>
        </a:p>
      </dgm:t>
    </dgm:pt>
    <dgm:pt modelId="{C0B0FF36-B6E4-4AE3-8DEC-38C0B506B422}" type="pres">
      <dgm:prSet presAssocID="{81BF2B9F-C32B-4352-BE1B-BA52B95B78B2}" presName="parentText" presStyleLbl="node1" presStyleIdx="0" presStyleCnt="5">
        <dgm:presLayoutVars>
          <dgm:chMax val="0"/>
          <dgm:bulletEnabled val="1"/>
        </dgm:presLayoutVars>
      </dgm:prSet>
      <dgm:spPr/>
      <dgm:t>
        <a:bodyPr/>
        <a:lstStyle/>
        <a:p>
          <a:endParaRPr lang="en-US"/>
        </a:p>
      </dgm:t>
    </dgm:pt>
    <dgm:pt modelId="{B2020D4A-751C-4CD0-934B-92C1E84B0C69}" type="pres">
      <dgm:prSet presAssocID="{81BF2B9F-C32B-4352-BE1B-BA52B95B78B2}" presName="childText" presStyleLbl="revTx" presStyleIdx="0" presStyleCnt="5">
        <dgm:presLayoutVars>
          <dgm:bulletEnabled val="1"/>
        </dgm:presLayoutVars>
      </dgm:prSet>
      <dgm:spPr/>
      <dgm:t>
        <a:bodyPr/>
        <a:lstStyle/>
        <a:p>
          <a:endParaRPr lang="en-US"/>
        </a:p>
      </dgm:t>
    </dgm:pt>
    <dgm:pt modelId="{DBEDB8AB-3E38-49C9-97FC-44AFDF6D0A1F}" type="pres">
      <dgm:prSet presAssocID="{2A53BE53-C064-4AF7-A162-94DFE0949831}" presName="parentText" presStyleLbl="node1" presStyleIdx="1" presStyleCnt="5">
        <dgm:presLayoutVars>
          <dgm:chMax val="0"/>
          <dgm:bulletEnabled val="1"/>
        </dgm:presLayoutVars>
      </dgm:prSet>
      <dgm:spPr/>
      <dgm:t>
        <a:bodyPr/>
        <a:lstStyle/>
        <a:p>
          <a:endParaRPr lang="en-US"/>
        </a:p>
      </dgm:t>
    </dgm:pt>
    <dgm:pt modelId="{F4A8F0CB-02B5-472A-BA2E-37CBF4650914}" type="pres">
      <dgm:prSet presAssocID="{2A53BE53-C064-4AF7-A162-94DFE0949831}" presName="childText" presStyleLbl="revTx" presStyleIdx="1" presStyleCnt="5">
        <dgm:presLayoutVars>
          <dgm:bulletEnabled val="1"/>
        </dgm:presLayoutVars>
      </dgm:prSet>
      <dgm:spPr/>
      <dgm:t>
        <a:bodyPr/>
        <a:lstStyle/>
        <a:p>
          <a:endParaRPr lang="en-US"/>
        </a:p>
      </dgm:t>
    </dgm:pt>
    <dgm:pt modelId="{C3299B3B-AEFC-434A-8B82-21DA227B00A2}" type="pres">
      <dgm:prSet presAssocID="{B8DB3058-F630-4DFB-BABE-EAD7EE099137}" presName="parentText" presStyleLbl="node1" presStyleIdx="2" presStyleCnt="5">
        <dgm:presLayoutVars>
          <dgm:chMax val="0"/>
          <dgm:bulletEnabled val="1"/>
        </dgm:presLayoutVars>
      </dgm:prSet>
      <dgm:spPr/>
      <dgm:t>
        <a:bodyPr/>
        <a:lstStyle/>
        <a:p>
          <a:endParaRPr lang="en-US"/>
        </a:p>
      </dgm:t>
    </dgm:pt>
    <dgm:pt modelId="{1962D778-1B32-406F-BFAD-907E5F713AF2}" type="pres">
      <dgm:prSet presAssocID="{B8DB3058-F630-4DFB-BABE-EAD7EE099137}" presName="childText" presStyleLbl="revTx" presStyleIdx="2" presStyleCnt="5">
        <dgm:presLayoutVars>
          <dgm:bulletEnabled val="1"/>
        </dgm:presLayoutVars>
      </dgm:prSet>
      <dgm:spPr/>
      <dgm:t>
        <a:bodyPr/>
        <a:lstStyle/>
        <a:p>
          <a:endParaRPr lang="en-US"/>
        </a:p>
      </dgm:t>
    </dgm:pt>
    <dgm:pt modelId="{0C8CA59E-0019-41E1-A8D2-8AE301612C01}" type="pres">
      <dgm:prSet presAssocID="{92A47727-4FE5-4316-A85E-BBE09673620E}" presName="parentText" presStyleLbl="node1" presStyleIdx="3" presStyleCnt="5">
        <dgm:presLayoutVars>
          <dgm:chMax val="0"/>
          <dgm:bulletEnabled val="1"/>
        </dgm:presLayoutVars>
      </dgm:prSet>
      <dgm:spPr/>
      <dgm:t>
        <a:bodyPr/>
        <a:lstStyle/>
        <a:p>
          <a:endParaRPr lang="en-US"/>
        </a:p>
      </dgm:t>
    </dgm:pt>
    <dgm:pt modelId="{143C0329-1B86-4042-8442-7FAFCA307C7E}" type="pres">
      <dgm:prSet presAssocID="{92A47727-4FE5-4316-A85E-BBE09673620E}" presName="childText" presStyleLbl="revTx" presStyleIdx="3" presStyleCnt="5">
        <dgm:presLayoutVars>
          <dgm:bulletEnabled val="1"/>
        </dgm:presLayoutVars>
      </dgm:prSet>
      <dgm:spPr/>
      <dgm:t>
        <a:bodyPr/>
        <a:lstStyle/>
        <a:p>
          <a:endParaRPr lang="en-US"/>
        </a:p>
      </dgm:t>
    </dgm:pt>
    <dgm:pt modelId="{14F6ABDA-83BA-4C75-B608-2A82AA18B3A0}" type="pres">
      <dgm:prSet presAssocID="{36F6AB88-777D-44FA-8FF9-5DD737E4BFCE}" presName="parentText" presStyleLbl="node1" presStyleIdx="4" presStyleCnt="5">
        <dgm:presLayoutVars>
          <dgm:chMax val="0"/>
          <dgm:bulletEnabled val="1"/>
        </dgm:presLayoutVars>
      </dgm:prSet>
      <dgm:spPr/>
      <dgm:t>
        <a:bodyPr/>
        <a:lstStyle/>
        <a:p>
          <a:endParaRPr lang="en-US"/>
        </a:p>
      </dgm:t>
    </dgm:pt>
    <dgm:pt modelId="{3F717ABE-C910-4D8D-B0DE-2F31FD42E7FA}" type="pres">
      <dgm:prSet presAssocID="{36F6AB88-777D-44FA-8FF9-5DD737E4BFCE}" presName="childText" presStyleLbl="revTx" presStyleIdx="4" presStyleCnt="5">
        <dgm:presLayoutVars>
          <dgm:bulletEnabled val="1"/>
        </dgm:presLayoutVars>
      </dgm:prSet>
      <dgm:spPr/>
      <dgm:t>
        <a:bodyPr/>
        <a:lstStyle/>
        <a:p>
          <a:endParaRPr lang="en-US"/>
        </a:p>
      </dgm:t>
    </dgm:pt>
  </dgm:ptLst>
  <dgm:cxnLst>
    <dgm:cxn modelId="{C6607D2E-8575-40B2-89BA-A20F9C323D4C}" type="presOf" srcId="{36F6AB88-777D-44FA-8FF9-5DD737E4BFCE}" destId="{14F6ABDA-83BA-4C75-B608-2A82AA18B3A0}" srcOrd="0" destOrd="0" presId="urn:microsoft.com/office/officeart/2005/8/layout/vList2"/>
    <dgm:cxn modelId="{D5E4F57F-D0C8-4E7E-BA03-98EE1B5AFC52}" type="presOf" srcId="{ABC427A6-0683-4A29-BE26-A7175B899483}" destId="{143C0329-1B86-4042-8442-7FAFCA307C7E}" srcOrd="0" destOrd="0" presId="urn:microsoft.com/office/officeart/2005/8/layout/vList2"/>
    <dgm:cxn modelId="{C54DB934-DD09-4A68-B455-242A6B53AC86}" srcId="{92A47727-4FE5-4316-A85E-BBE09673620E}" destId="{C60B47DD-5607-45D6-82EE-0F57B92461BE}" srcOrd="1" destOrd="0" parTransId="{01D27044-1B28-49E8-8A50-806D955DE719}" sibTransId="{CC538830-BD2B-4658-B945-C326B042E600}"/>
    <dgm:cxn modelId="{DCC5A992-91E4-478E-BC46-B8425DE160A5}" type="presOf" srcId="{967BB488-F02E-454E-90BC-410B814F520F}" destId="{B2020D4A-751C-4CD0-934B-92C1E84B0C69}" srcOrd="0" destOrd="2" presId="urn:microsoft.com/office/officeart/2005/8/layout/vList2"/>
    <dgm:cxn modelId="{66D5AADB-CB02-4B10-AFBA-2BDEA5D87933}" type="presOf" srcId="{0E8B4F15-FF91-4886-BD73-9565A15770E0}" destId="{B2020D4A-751C-4CD0-934B-92C1E84B0C69}" srcOrd="0" destOrd="1" presId="urn:microsoft.com/office/officeart/2005/8/layout/vList2"/>
    <dgm:cxn modelId="{9F1C993D-4347-4653-BD38-A2FBAEABC595}" type="presOf" srcId="{C60B47DD-5607-45D6-82EE-0F57B92461BE}" destId="{143C0329-1B86-4042-8442-7FAFCA307C7E}" srcOrd="0" destOrd="1" presId="urn:microsoft.com/office/officeart/2005/8/layout/vList2"/>
    <dgm:cxn modelId="{7A5F35F3-BA32-4160-96BD-33A631660B57}" type="presOf" srcId="{D2BB1741-8571-47A9-8DA0-6E73966CC609}" destId="{3F717ABE-C910-4D8D-B0DE-2F31FD42E7FA}" srcOrd="0" destOrd="0" presId="urn:microsoft.com/office/officeart/2005/8/layout/vList2"/>
    <dgm:cxn modelId="{AAB62312-3969-4901-8944-AC9A28F8BF32}" type="presOf" srcId="{3670E94A-C79C-4F6D-A859-77439369CC67}" destId="{B2020D4A-751C-4CD0-934B-92C1E84B0C69}" srcOrd="0" destOrd="0" presId="urn:microsoft.com/office/officeart/2005/8/layout/vList2"/>
    <dgm:cxn modelId="{793496BC-2ABF-4439-940B-C2D001F258D6}" srcId="{B8DB3058-F630-4DFB-BABE-EAD7EE099137}" destId="{435962DF-A711-47FC-AFEA-CEFD741689B3}" srcOrd="0" destOrd="0" parTransId="{C5F83896-32A8-4B22-9A88-A15244E00153}" sibTransId="{A9A7BC59-646B-44DD-BFAB-0CAC4AAFD6F6}"/>
    <dgm:cxn modelId="{3190C5F0-AB3B-4046-9202-57DF8751CCC2}" srcId="{81BF2B9F-C32B-4352-BE1B-BA52B95B78B2}" destId="{0E8B4F15-FF91-4886-BD73-9565A15770E0}" srcOrd="1" destOrd="0" parTransId="{1D7D5231-F41B-4E02-A908-3A82C355FE45}" sibTransId="{559975D4-A563-4D25-8445-2DF1F23DF7B8}"/>
    <dgm:cxn modelId="{01F322A3-C367-43F2-9172-60F71E76A9D4}" type="presOf" srcId="{2A53BE53-C064-4AF7-A162-94DFE0949831}" destId="{DBEDB8AB-3E38-49C9-97FC-44AFDF6D0A1F}" srcOrd="0" destOrd="0" presId="urn:microsoft.com/office/officeart/2005/8/layout/vList2"/>
    <dgm:cxn modelId="{EA23CDEA-28F7-4751-B20C-159993C9BB2A}" srcId="{92A47727-4FE5-4316-A85E-BBE09673620E}" destId="{ABC427A6-0683-4A29-BE26-A7175B899483}" srcOrd="0" destOrd="0" parTransId="{CBD34C31-F34B-4753-ADF4-40D5F6D6B50A}" sibTransId="{2A8310E8-87E3-4D30-8EBF-F8740DB2F543}"/>
    <dgm:cxn modelId="{E1AA03D6-F0A2-4FAD-ACB8-97A461BBE456}" srcId="{81527466-8F02-45A4-9513-FE5DC677CE20}" destId="{36F6AB88-777D-44FA-8FF9-5DD737E4BFCE}" srcOrd="4" destOrd="0" parTransId="{CB5AF182-F211-4E7E-BA0C-B28418B10F6B}" sibTransId="{D176E388-A1EB-478D-B92B-D7A0CB7E03AB}"/>
    <dgm:cxn modelId="{588D74A0-1B19-4FD9-96CF-C4DC341529D6}" type="presOf" srcId="{9CB57A55-7D11-48E5-9201-A50A1AB95F5D}" destId="{F4A8F0CB-02B5-472A-BA2E-37CBF4650914}" srcOrd="0" destOrd="0" presId="urn:microsoft.com/office/officeart/2005/8/layout/vList2"/>
    <dgm:cxn modelId="{F7F762C1-DF80-4A6C-9BC1-5DB9E7C80B1C}" type="presOf" srcId="{B8DB3058-F630-4DFB-BABE-EAD7EE099137}" destId="{C3299B3B-AEFC-434A-8B82-21DA227B00A2}" srcOrd="0" destOrd="0" presId="urn:microsoft.com/office/officeart/2005/8/layout/vList2"/>
    <dgm:cxn modelId="{EC8D14BC-03AA-4B7B-BBDB-155EEF00EC64}" srcId="{81527466-8F02-45A4-9513-FE5DC677CE20}" destId="{92A47727-4FE5-4316-A85E-BBE09673620E}" srcOrd="3" destOrd="0" parTransId="{25E32A4A-2D6F-4172-9922-1222B5C2E682}" sibTransId="{5C99D4F4-38C2-4B89-962E-5B2AD1C45D80}"/>
    <dgm:cxn modelId="{D69DC61E-BF44-4886-BC31-CD7D8B8DEBBD}" type="presOf" srcId="{81527466-8F02-45A4-9513-FE5DC677CE20}" destId="{27D9351F-A553-477B-A68B-E46881CD583B}" srcOrd="0" destOrd="0" presId="urn:microsoft.com/office/officeart/2005/8/layout/vList2"/>
    <dgm:cxn modelId="{19C4D001-755C-430A-AA6C-73021E69A8B4}" type="presOf" srcId="{63F896C8-A63D-44E8-9CEF-16A8500757CD}" destId="{3F717ABE-C910-4D8D-B0DE-2F31FD42E7FA}" srcOrd="0" destOrd="1" presId="urn:microsoft.com/office/officeart/2005/8/layout/vList2"/>
    <dgm:cxn modelId="{CE1E8994-FE41-4F13-B1FD-FD6DF5D048F1}" srcId="{2A53BE53-C064-4AF7-A162-94DFE0949831}" destId="{9CB57A55-7D11-48E5-9201-A50A1AB95F5D}" srcOrd="0" destOrd="0" parTransId="{253ADC3D-B738-43CA-B98C-60239C90EADA}" sibTransId="{E323AF05-63C4-430A-A26F-F574FCB5912B}"/>
    <dgm:cxn modelId="{A6E297C7-0953-436E-8C09-4749C3660407}" srcId="{36F6AB88-777D-44FA-8FF9-5DD737E4BFCE}" destId="{63F896C8-A63D-44E8-9CEF-16A8500757CD}" srcOrd="1" destOrd="0" parTransId="{950360D7-50DF-4934-AB85-222F1899397E}" sibTransId="{7E5C6B6D-3C6E-4FBC-A7A4-ABFB52E35092}"/>
    <dgm:cxn modelId="{5EA9B19C-6698-43C4-B2C3-B83C931662A9}" srcId="{81527466-8F02-45A4-9513-FE5DC677CE20}" destId="{81BF2B9F-C32B-4352-BE1B-BA52B95B78B2}" srcOrd="0" destOrd="0" parTransId="{E61ADD5F-314E-46F1-9713-5C9A4D9D43D2}" sibTransId="{A9769325-2179-444C-8985-31A98F58DE86}"/>
    <dgm:cxn modelId="{30902CFD-8757-47FE-B713-A3B829253764}" srcId="{81BF2B9F-C32B-4352-BE1B-BA52B95B78B2}" destId="{3670E94A-C79C-4F6D-A859-77439369CC67}" srcOrd="0" destOrd="0" parTransId="{8CC93A5E-4860-4A0B-83A5-426958A82F54}" sibTransId="{C82273F7-748F-45F6-9055-9A01107D7DF8}"/>
    <dgm:cxn modelId="{B5680E07-4824-4933-BE99-6FF06D5B12FD}" type="presOf" srcId="{92A47727-4FE5-4316-A85E-BBE09673620E}" destId="{0C8CA59E-0019-41E1-A8D2-8AE301612C01}" srcOrd="0" destOrd="0" presId="urn:microsoft.com/office/officeart/2005/8/layout/vList2"/>
    <dgm:cxn modelId="{F651BE51-D86F-416F-B2A7-BCFB64E54AAE}" srcId="{81527466-8F02-45A4-9513-FE5DC677CE20}" destId="{2A53BE53-C064-4AF7-A162-94DFE0949831}" srcOrd="1" destOrd="0" parTransId="{4C2772A5-16E0-40B1-BFD4-55D589DAD6AC}" sibTransId="{820C6783-97C4-4E0A-BFEC-F4424F26BAC5}"/>
    <dgm:cxn modelId="{5E4A2852-9BE3-4155-9ED9-0CC82B4BF914}" srcId="{81BF2B9F-C32B-4352-BE1B-BA52B95B78B2}" destId="{967BB488-F02E-454E-90BC-410B814F520F}" srcOrd="2" destOrd="0" parTransId="{FBFC0297-7A13-43AF-A7FE-16F2ADC1E85C}" sibTransId="{796342BC-6DC9-4BAA-9908-7E366DC6F0B2}"/>
    <dgm:cxn modelId="{B23CA8FC-68FA-45E6-919D-D365B2AB94F3}" srcId="{36F6AB88-777D-44FA-8FF9-5DD737E4BFCE}" destId="{D2BB1741-8571-47A9-8DA0-6E73966CC609}" srcOrd="0" destOrd="0" parTransId="{E09E51CE-705A-48DF-9774-E4C844BCDDD6}" sibTransId="{D470C5A7-3766-4358-A8A1-020E012F0D72}"/>
    <dgm:cxn modelId="{876298AB-6733-41B1-9FFD-9E248438C0C0}" type="presOf" srcId="{435962DF-A711-47FC-AFEA-CEFD741689B3}" destId="{1962D778-1B32-406F-BFAD-907E5F713AF2}" srcOrd="0" destOrd="0" presId="urn:microsoft.com/office/officeart/2005/8/layout/vList2"/>
    <dgm:cxn modelId="{9CA224AC-C7AD-4450-8F2D-FAD4EE6B5EF2}" srcId="{81527466-8F02-45A4-9513-FE5DC677CE20}" destId="{B8DB3058-F630-4DFB-BABE-EAD7EE099137}" srcOrd="2" destOrd="0" parTransId="{810B7089-95A9-4ADD-BE37-1909E5BBF03C}" sibTransId="{43F02AB3-C332-4FAE-9021-93ACEAB707AB}"/>
    <dgm:cxn modelId="{AADF74B6-63E8-40FD-9F46-1A7229A2A1AB}" type="presOf" srcId="{81BF2B9F-C32B-4352-BE1B-BA52B95B78B2}" destId="{C0B0FF36-B6E4-4AE3-8DEC-38C0B506B422}" srcOrd="0" destOrd="0" presId="urn:microsoft.com/office/officeart/2005/8/layout/vList2"/>
    <dgm:cxn modelId="{0C57F961-C6F1-4992-9299-AD61382FD82B}" type="presParOf" srcId="{27D9351F-A553-477B-A68B-E46881CD583B}" destId="{C0B0FF36-B6E4-4AE3-8DEC-38C0B506B422}" srcOrd="0" destOrd="0" presId="urn:microsoft.com/office/officeart/2005/8/layout/vList2"/>
    <dgm:cxn modelId="{CADC0CDE-D110-4D52-80F7-BBF2D5778481}" type="presParOf" srcId="{27D9351F-A553-477B-A68B-E46881CD583B}" destId="{B2020D4A-751C-4CD0-934B-92C1E84B0C69}" srcOrd="1" destOrd="0" presId="urn:microsoft.com/office/officeart/2005/8/layout/vList2"/>
    <dgm:cxn modelId="{F96DBF0D-A635-400A-9692-AEFA97F2D04D}" type="presParOf" srcId="{27D9351F-A553-477B-A68B-E46881CD583B}" destId="{DBEDB8AB-3E38-49C9-97FC-44AFDF6D0A1F}" srcOrd="2" destOrd="0" presId="urn:microsoft.com/office/officeart/2005/8/layout/vList2"/>
    <dgm:cxn modelId="{F527DE92-3F01-495A-BC66-DE50742A219C}" type="presParOf" srcId="{27D9351F-A553-477B-A68B-E46881CD583B}" destId="{F4A8F0CB-02B5-472A-BA2E-37CBF4650914}" srcOrd="3" destOrd="0" presId="urn:microsoft.com/office/officeart/2005/8/layout/vList2"/>
    <dgm:cxn modelId="{4E9B674B-1CA7-4853-8D6A-7C9930E1AA84}" type="presParOf" srcId="{27D9351F-A553-477B-A68B-E46881CD583B}" destId="{C3299B3B-AEFC-434A-8B82-21DA227B00A2}" srcOrd="4" destOrd="0" presId="urn:microsoft.com/office/officeart/2005/8/layout/vList2"/>
    <dgm:cxn modelId="{71E77149-355D-46FB-92B4-2BDD1AC09A6F}" type="presParOf" srcId="{27D9351F-A553-477B-A68B-E46881CD583B}" destId="{1962D778-1B32-406F-BFAD-907E5F713AF2}" srcOrd="5" destOrd="0" presId="urn:microsoft.com/office/officeart/2005/8/layout/vList2"/>
    <dgm:cxn modelId="{2A6562F9-A532-472F-804A-A8353403DD99}" type="presParOf" srcId="{27D9351F-A553-477B-A68B-E46881CD583B}" destId="{0C8CA59E-0019-41E1-A8D2-8AE301612C01}" srcOrd="6" destOrd="0" presId="urn:microsoft.com/office/officeart/2005/8/layout/vList2"/>
    <dgm:cxn modelId="{B9C6B452-38D6-4C51-A4F3-8642C85E54D1}" type="presParOf" srcId="{27D9351F-A553-477B-A68B-E46881CD583B}" destId="{143C0329-1B86-4042-8442-7FAFCA307C7E}" srcOrd="7" destOrd="0" presId="urn:microsoft.com/office/officeart/2005/8/layout/vList2"/>
    <dgm:cxn modelId="{B724AA73-4FBE-4961-BD7D-0FD974AB1FB3}" type="presParOf" srcId="{27D9351F-A553-477B-A68B-E46881CD583B}" destId="{14F6ABDA-83BA-4C75-B608-2A82AA18B3A0}" srcOrd="8" destOrd="0" presId="urn:microsoft.com/office/officeart/2005/8/layout/vList2"/>
    <dgm:cxn modelId="{78039CA4-A775-42D9-8E00-8E028B2BEC90}" type="presParOf" srcId="{27D9351F-A553-477B-A68B-E46881CD583B}" destId="{3F717ABE-C910-4D8D-B0DE-2F31FD42E7FA}" srcOrd="9"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F32A62-A61D-4CEE-B451-F66518C22D3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27A9BFD-0717-4B63-BAC7-59E37AA3F3BA}">
      <dgm:prSet/>
      <dgm:spPr/>
      <dgm:t>
        <a:bodyPr/>
        <a:lstStyle/>
        <a:p>
          <a:pPr rtl="0"/>
          <a:r>
            <a:rPr lang="en-US" dirty="0" smtClean="0"/>
            <a:t>Language</a:t>
          </a:r>
          <a:endParaRPr lang="en-US" dirty="0"/>
        </a:p>
      </dgm:t>
    </dgm:pt>
    <dgm:pt modelId="{572C9CFB-02D7-4756-9AD4-D0EBB6236800}" type="parTrans" cxnId="{6F6A8ED1-7F67-479E-906A-C21F51146A90}">
      <dgm:prSet/>
      <dgm:spPr/>
      <dgm:t>
        <a:bodyPr/>
        <a:lstStyle/>
        <a:p>
          <a:endParaRPr lang="en-US"/>
        </a:p>
      </dgm:t>
    </dgm:pt>
    <dgm:pt modelId="{A3423638-4D6F-498A-8C8E-8A1FFD5254FA}" type="sibTrans" cxnId="{6F6A8ED1-7F67-479E-906A-C21F51146A90}">
      <dgm:prSet/>
      <dgm:spPr/>
      <dgm:t>
        <a:bodyPr/>
        <a:lstStyle/>
        <a:p>
          <a:endParaRPr lang="en-US"/>
        </a:p>
      </dgm:t>
    </dgm:pt>
    <dgm:pt modelId="{236D47E8-77CE-4021-A95D-995BCA498365}">
      <dgm:prSet/>
      <dgm:spPr/>
      <dgm:t>
        <a:bodyPr/>
        <a:lstStyle/>
        <a:p>
          <a:pPr rtl="0"/>
          <a:r>
            <a:rPr lang="en-US" dirty="0" smtClean="0"/>
            <a:t>Microsoft PowerShell 3.0</a:t>
          </a:r>
          <a:endParaRPr lang="en-US" dirty="0"/>
        </a:p>
      </dgm:t>
    </dgm:pt>
    <dgm:pt modelId="{31660A72-40F6-48DB-91D8-E18405C61C5F}" type="parTrans" cxnId="{93484F23-9274-4A93-BACA-4FC8A3708558}">
      <dgm:prSet/>
      <dgm:spPr/>
      <dgm:t>
        <a:bodyPr/>
        <a:lstStyle/>
        <a:p>
          <a:endParaRPr lang="en-US"/>
        </a:p>
      </dgm:t>
    </dgm:pt>
    <dgm:pt modelId="{7214E9F4-0B4C-4862-B6ED-1E915D0ED357}" type="sibTrans" cxnId="{93484F23-9274-4A93-BACA-4FC8A3708558}">
      <dgm:prSet/>
      <dgm:spPr/>
      <dgm:t>
        <a:bodyPr/>
        <a:lstStyle/>
        <a:p>
          <a:endParaRPr lang="en-US"/>
        </a:p>
      </dgm:t>
    </dgm:pt>
    <dgm:pt modelId="{6BBA16FE-D59D-4991-8088-E48E5CDA0ACC}">
      <dgm:prSet/>
      <dgm:spPr/>
      <dgm:t>
        <a:bodyPr/>
        <a:lstStyle/>
        <a:p>
          <a:pPr rtl="0"/>
          <a:r>
            <a:rPr lang="en-US" dirty="0" smtClean="0"/>
            <a:t>PowerShell is both a interactive shell and a scriptable language</a:t>
          </a:r>
          <a:endParaRPr lang="en-US" dirty="0"/>
        </a:p>
      </dgm:t>
    </dgm:pt>
    <dgm:pt modelId="{BEB67F54-E0A7-4B62-9BBC-485F42364F9A}" type="parTrans" cxnId="{96F565EA-DCF5-4C60-B883-D558681B2C69}">
      <dgm:prSet/>
      <dgm:spPr/>
      <dgm:t>
        <a:bodyPr/>
        <a:lstStyle/>
        <a:p>
          <a:endParaRPr lang="en-US"/>
        </a:p>
      </dgm:t>
    </dgm:pt>
    <dgm:pt modelId="{407432B7-F074-4E5D-B7D1-2C0ADBC7F64A}" type="sibTrans" cxnId="{96F565EA-DCF5-4C60-B883-D558681B2C69}">
      <dgm:prSet/>
      <dgm:spPr/>
      <dgm:t>
        <a:bodyPr/>
        <a:lstStyle/>
        <a:p>
          <a:endParaRPr lang="en-US"/>
        </a:p>
      </dgm:t>
    </dgm:pt>
    <dgm:pt modelId="{2D494774-75F5-4061-8164-F35B7AAD8106}">
      <dgm:prSet/>
      <dgm:spPr/>
      <dgm:t>
        <a:bodyPr/>
        <a:lstStyle/>
        <a:p>
          <a:pPr rtl="0"/>
          <a:r>
            <a:rPr lang="en-US" dirty="0" smtClean="0"/>
            <a:t>Remote Management</a:t>
          </a:r>
          <a:endParaRPr lang="en-US" dirty="0"/>
        </a:p>
      </dgm:t>
    </dgm:pt>
    <dgm:pt modelId="{A2F0640F-16B6-4AEE-BCE3-EFEDEE0E3AF8}" type="parTrans" cxnId="{D71BA8B2-CF3B-4D68-9D20-BDD85570E543}">
      <dgm:prSet/>
      <dgm:spPr/>
      <dgm:t>
        <a:bodyPr/>
        <a:lstStyle/>
        <a:p>
          <a:endParaRPr lang="en-US"/>
        </a:p>
      </dgm:t>
    </dgm:pt>
    <dgm:pt modelId="{500D2427-E9D9-4CD9-B500-C7BFC3C64F68}" type="sibTrans" cxnId="{D71BA8B2-CF3B-4D68-9D20-BDD85570E543}">
      <dgm:prSet/>
      <dgm:spPr/>
      <dgm:t>
        <a:bodyPr/>
        <a:lstStyle/>
        <a:p>
          <a:endParaRPr lang="en-US"/>
        </a:p>
      </dgm:t>
    </dgm:pt>
    <dgm:pt modelId="{C965F32E-EF57-4211-9995-9D20083A016A}">
      <dgm:prSet/>
      <dgm:spPr/>
      <dgm:t>
        <a:bodyPr/>
        <a:lstStyle/>
        <a:p>
          <a:pPr rtl="0"/>
          <a:r>
            <a:rPr lang="en-US" smtClean="0"/>
            <a:t>Windows Remote Management (WinRM)</a:t>
          </a:r>
          <a:endParaRPr lang="en-US"/>
        </a:p>
      </dgm:t>
    </dgm:pt>
    <dgm:pt modelId="{A3B7CF43-AFDC-4762-9E0E-D4525E6CBE0A}" type="parTrans" cxnId="{51327592-32CF-41AF-8803-976D638157F1}">
      <dgm:prSet/>
      <dgm:spPr/>
      <dgm:t>
        <a:bodyPr/>
        <a:lstStyle/>
        <a:p>
          <a:endParaRPr lang="en-US"/>
        </a:p>
      </dgm:t>
    </dgm:pt>
    <dgm:pt modelId="{44743DF6-7B23-431B-8592-FBE379F0DB49}" type="sibTrans" cxnId="{51327592-32CF-41AF-8803-976D638157F1}">
      <dgm:prSet/>
      <dgm:spPr/>
      <dgm:t>
        <a:bodyPr/>
        <a:lstStyle/>
        <a:p>
          <a:endParaRPr lang="en-US"/>
        </a:p>
      </dgm:t>
    </dgm:pt>
    <dgm:pt modelId="{0B9B5C88-CD07-40CB-A5C0-F03670E05DB2}">
      <dgm:prSet/>
      <dgm:spPr/>
      <dgm:t>
        <a:bodyPr/>
        <a:lstStyle/>
        <a:p>
          <a:pPr rtl="0"/>
          <a:r>
            <a:rPr lang="en-US" dirty="0" smtClean="0"/>
            <a:t>Integrated with PowerShell 2.0 and higher</a:t>
          </a:r>
          <a:endParaRPr lang="en-US" dirty="0"/>
        </a:p>
      </dgm:t>
    </dgm:pt>
    <dgm:pt modelId="{06379A95-257E-4352-9403-324043A1B219}" type="parTrans" cxnId="{6AE1F073-0879-4B25-A17D-0386F920AC00}">
      <dgm:prSet/>
      <dgm:spPr/>
      <dgm:t>
        <a:bodyPr/>
        <a:lstStyle/>
        <a:p>
          <a:endParaRPr lang="en-US"/>
        </a:p>
      </dgm:t>
    </dgm:pt>
    <dgm:pt modelId="{62FEB6D8-BBE1-4A2B-B564-D261FFE0B4A4}" type="sibTrans" cxnId="{6AE1F073-0879-4B25-A17D-0386F920AC00}">
      <dgm:prSet/>
      <dgm:spPr/>
      <dgm:t>
        <a:bodyPr/>
        <a:lstStyle/>
        <a:p>
          <a:endParaRPr lang="en-US"/>
        </a:p>
      </dgm:t>
    </dgm:pt>
    <dgm:pt modelId="{A10CA423-8944-47FE-8DC5-DE33BB483AAD}">
      <dgm:prSet/>
      <dgm:spPr/>
      <dgm:t>
        <a:bodyPr/>
        <a:lstStyle/>
        <a:p>
          <a:pPr rtl="0"/>
          <a:r>
            <a:rPr lang="en-US" dirty="0" smtClean="0"/>
            <a:t>Robust / Flexible / Secure</a:t>
          </a:r>
          <a:endParaRPr lang="en-US" dirty="0"/>
        </a:p>
      </dgm:t>
    </dgm:pt>
    <dgm:pt modelId="{236244D1-A52C-4CF0-8DC5-FD632ED9D818}" type="parTrans" cxnId="{2BA1A089-48F2-41A6-990D-D7ADFA8C7E4D}">
      <dgm:prSet/>
      <dgm:spPr/>
      <dgm:t>
        <a:bodyPr/>
        <a:lstStyle/>
        <a:p>
          <a:endParaRPr lang="en-US"/>
        </a:p>
      </dgm:t>
    </dgm:pt>
    <dgm:pt modelId="{3ADBA216-367D-45AA-A7DF-698EA598FA10}" type="sibTrans" cxnId="{2BA1A089-48F2-41A6-990D-D7ADFA8C7E4D}">
      <dgm:prSet/>
      <dgm:spPr/>
      <dgm:t>
        <a:bodyPr/>
        <a:lstStyle/>
        <a:p>
          <a:endParaRPr lang="en-US"/>
        </a:p>
      </dgm:t>
    </dgm:pt>
    <dgm:pt modelId="{C65A4108-6F33-4947-B6EF-255814905A04}">
      <dgm:prSet/>
      <dgm:spPr/>
      <dgm:t>
        <a:bodyPr/>
        <a:lstStyle/>
        <a:p>
          <a:pPr rtl="0"/>
          <a:r>
            <a:rPr lang="en-US" dirty="0" smtClean="0"/>
            <a:t>Easy Firewall Management</a:t>
          </a:r>
          <a:endParaRPr lang="en-US" dirty="0"/>
        </a:p>
      </dgm:t>
    </dgm:pt>
    <dgm:pt modelId="{752EE329-5B95-4F3A-90E9-AADAEFD70E36}" type="parTrans" cxnId="{42358AD4-D7F5-4046-93FD-B9ECEE9CFC58}">
      <dgm:prSet/>
      <dgm:spPr/>
      <dgm:t>
        <a:bodyPr/>
        <a:lstStyle/>
        <a:p>
          <a:endParaRPr lang="en-US"/>
        </a:p>
      </dgm:t>
    </dgm:pt>
    <dgm:pt modelId="{9904171D-240A-41C2-80F4-02DB84F08068}" type="sibTrans" cxnId="{42358AD4-D7F5-4046-93FD-B9ECEE9CFC58}">
      <dgm:prSet/>
      <dgm:spPr/>
      <dgm:t>
        <a:bodyPr/>
        <a:lstStyle/>
        <a:p>
          <a:endParaRPr lang="en-US"/>
        </a:p>
      </dgm:t>
    </dgm:pt>
    <dgm:pt modelId="{DB502C0E-AD8B-47E6-8BD5-17CB02421819}">
      <dgm:prSet/>
      <dgm:spPr/>
      <dgm:t>
        <a:bodyPr/>
        <a:lstStyle/>
        <a:p>
          <a:pPr rtl="0"/>
          <a:r>
            <a:rPr lang="en-US" smtClean="0"/>
            <a:t>Repository</a:t>
          </a:r>
          <a:endParaRPr lang="en-US"/>
        </a:p>
      </dgm:t>
    </dgm:pt>
    <dgm:pt modelId="{A886B3CC-8D60-47F1-9797-ED5CB0445360}" type="parTrans" cxnId="{E44DC309-0B67-432E-BB16-D86226F784FC}">
      <dgm:prSet/>
      <dgm:spPr/>
      <dgm:t>
        <a:bodyPr/>
        <a:lstStyle/>
        <a:p>
          <a:endParaRPr lang="en-US"/>
        </a:p>
      </dgm:t>
    </dgm:pt>
    <dgm:pt modelId="{9F6585E8-9053-4D82-AF72-D62E2751B600}" type="sibTrans" cxnId="{E44DC309-0B67-432E-BB16-D86226F784FC}">
      <dgm:prSet/>
      <dgm:spPr/>
      <dgm:t>
        <a:bodyPr/>
        <a:lstStyle/>
        <a:p>
          <a:endParaRPr lang="en-US"/>
        </a:p>
      </dgm:t>
    </dgm:pt>
    <dgm:pt modelId="{B06456DE-A17E-485E-8DF0-06BA858859D3}">
      <dgm:prSet/>
      <dgm:spPr/>
      <dgm:t>
        <a:bodyPr/>
        <a:lstStyle/>
        <a:p>
          <a:pPr rtl="0"/>
          <a:r>
            <a:rPr lang="en-US" smtClean="0"/>
            <a:t>Mercurial</a:t>
          </a:r>
          <a:endParaRPr lang="en-US"/>
        </a:p>
      </dgm:t>
    </dgm:pt>
    <dgm:pt modelId="{ABEB0E3F-7FDA-4D2A-BF5C-74E908E10217}" type="parTrans" cxnId="{4BFEE99B-23F3-47B8-930E-D97C5F574EE1}">
      <dgm:prSet/>
      <dgm:spPr/>
      <dgm:t>
        <a:bodyPr/>
        <a:lstStyle/>
        <a:p>
          <a:endParaRPr lang="en-US"/>
        </a:p>
      </dgm:t>
    </dgm:pt>
    <dgm:pt modelId="{59AB69CD-03E6-42AE-AD8F-B5B2C75C7BA4}" type="sibTrans" cxnId="{4BFEE99B-23F3-47B8-930E-D97C5F574EE1}">
      <dgm:prSet/>
      <dgm:spPr/>
      <dgm:t>
        <a:bodyPr/>
        <a:lstStyle/>
        <a:p>
          <a:endParaRPr lang="en-US"/>
        </a:p>
      </dgm:t>
    </dgm:pt>
    <dgm:pt modelId="{E9C9CF6D-74FC-4829-BB22-E94B7587A7AC}">
      <dgm:prSet/>
      <dgm:spPr/>
      <dgm:t>
        <a:bodyPr/>
        <a:lstStyle/>
        <a:p>
          <a:pPr rtl="0"/>
          <a:r>
            <a:rPr lang="en-US" smtClean="0"/>
            <a:t>Distributed Model</a:t>
          </a:r>
          <a:endParaRPr lang="en-US"/>
        </a:p>
      </dgm:t>
    </dgm:pt>
    <dgm:pt modelId="{83A9D713-DB27-4ED2-A6C7-12B5E6742DD5}" type="parTrans" cxnId="{41A1D55B-A4BA-472F-BDA3-8B44BE08389E}">
      <dgm:prSet/>
      <dgm:spPr/>
      <dgm:t>
        <a:bodyPr/>
        <a:lstStyle/>
        <a:p>
          <a:endParaRPr lang="en-US"/>
        </a:p>
      </dgm:t>
    </dgm:pt>
    <dgm:pt modelId="{642A81BE-5165-489E-B6E4-97E9A8BAEF1C}" type="sibTrans" cxnId="{41A1D55B-A4BA-472F-BDA3-8B44BE08389E}">
      <dgm:prSet/>
      <dgm:spPr/>
      <dgm:t>
        <a:bodyPr/>
        <a:lstStyle/>
        <a:p>
          <a:endParaRPr lang="en-US"/>
        </a:p>
      </dgm:t>
    </dgm:pt>
    <dgm:pt modelId="{89D4AF63-6429-4674-91BE-23286CAA7F2B}">
      <dgm:prSet/>
      <dgm:spPr/>
      <dgm:t>
        <a:bodyPr/>
        <a:lstStyle/>
        <a:p>
          <a:pPr rtl="0"/>
          <a:r>
            <a:rPr lang="en-US" smtClean="0"/>
            <a:t>Branching Support</a:t>
          </a:r>
          <a:endParaRPr lang="en-US"/>
        </a:p>
      </dgm:t>
    </dgm:pt>
    <dgm:pt modelId="{19BFAC9A-6BDF-4348-AF96-AB39694DB9F6}" type="parTrans" cxnId="{EB472AF3-D509-47C0-986A-5D9DF9A534FD}">
      <dgm:prSet/>
      <dgm:spPr/>
      <dgm:t>
        <a:bodyPr/>
        <a:lstStyle/>
        <a:p>
          <a:endParaRPr lang="en-US"/>
        </a:p>
      </dgm:t>
    </dgm:pt>
    <dgm:pt modelId="{A23A428F-9AA2-4677-9035-187C9C519217}" type="sibTrans" cxnId="{EB472AF3-D509-47C0-986A-5D9DF9A534FD}">
      <dgm:prSet/>
      <dgm:spPr/>
      <dgm:t>
        <a:bodyPr/>
        <a:lstStyle/>
        <a:p>
          <a:endParaRPr lang="en-US"/>
        </a:p>
      </dgm:t>
    </dgm:pt>
    <dgm:pt modelId="{A52298C3-F9EA-4067-AE87-FAC8C8754BA0}">
      <dgm:prSet/>
      <dgm:spPr/>
      <dgm:t>
        <a:bodyPr/>
        <a:lstStyle/>
        <a:p>
          <a:pPr rtl="0"/>
          <a:r>
            <a:rPr lang="en-US" dirty="0" smtClean="0"/>
            <a:t>In-house Expertise</a:t>
          </a:r>
          <a:endParaRPr lang="en-US" dirty="0"/>
        </a:p>
      </dgm:t>
    </dgm:pt>
    <dgm:pt modelId="{2482A411-BE87-46FB-89A7-9845DC2E8B89}" type="parTrans" cxnId="{E7D07A82-A710-4B92-8492-781107113275}">
      <dgm:prSet/>
      <dgm:spPr/>
      <dgm:t>
        <a:bodyPr/>
        <a:lstStyle/>
        <a:p>
          <a:endParaRPr lang="en-US"/>
        </a:p>
      </dgm:t>
    </dgm:pt>
    <dgm:pt modelId="{F028B8FE-9E23-4FB2-BA93-6EF4999B3524}" type="sibTrans" cxnId="{E7D07A82-A710-4B92-8492-781107113275}">
      <dgm:prSet/>
      <dgm:spPr/>
      <dgm:t>
        <a:bodyPr/>
        <a:lstStyle/>
        <a:p>
          <a:endParaRPr lang="en-US"/>
        </a:p>
      </dgm:t>
    </dgm:pt>
    <dgm:pt modelId="{2256C909-3BC9-44F4-9B11-CAE41F408B8D}">
      <dgm:prSet/>
      <dgm:spPr/>
      <dgm:t>
        <a:bodyPr/>
        <a:lstStyle/>
        <a:p>
          <a:pPr rtl="0"/>
          <a:r>
            <a:rPr lang="en-US" dirty="0" smtClean="0"/>
            <a:t>Free</a:t>
          </a:r>
          <a:endParaRPr lang="en-US" dirty="0"/>
        </a:p>
      </dgm:t>
    </dgm:pt>
    <dgm:pt modelId="{48EB58F0-A326-4860-91C3-5067C8AD287B}" type="parTrans" cxnId="{37CAA853-EF34-49A2-891F-FBBD3AE52813}">
      <dgm:prSet/>
      <dgm:spPr/>
      <dgm:t>
        <a:bodyPr/>
        <a:lstStyle/>
        <a:p>
          <a:endParaRPr lang="en-US"/>
        </a:p>
      </dgm:t>
    </dgm:pt>
    <dgm:pt modelId="{EA1ACF88-A85A-4293-A035-D064546D2392}" type="sibTrans" cxnId="{37CAA853-EF34-49A2-891F-FBBD3AE52813}">
      <dgm:prSet/>
      <dgm:spPr/>
      <dgm:t>
        <a:bodyPr/>
        <a:lstStyle/>
        <a:p>
          <a:endParaRPr lang="en-US"/>
        </a:p>
      </dgm:t>
    </dgm:pt>
    <dgm:pt modelId="{18336BB5-F65A-4CBA-9E82-3D3771C9ADB1}">
      <dgm:prSet/>
      <dgm:spPr/>
      <dgm:t>
        <a:bodyPr/>
        <a:lstStyle/>
        <a:p>
          <a:pPr rtl="0"/>
          <a:r>
            <a:rPr lang="en-US" dirty="0" smtClean="0"/>
            <a:t>Microsoft Road Map</a:t>
          </a:r>
          <a:endParaRPr lang="en-US" dirty="0"/>
        </a:p>
      </dgm:t>
    </dgm:pt>
    <dgm:pt modelId="{15BEB484-BFE1-481E-B234-3D214CC0187D}" type="sibTrans" cxnId="{8BE0257F-D247-4E77-9BF2-7EE0835D7A6C}">
      <dgm:prSet/>
      <dgm:spPr/>
      <dgm:t>
        <a:bodyPr/>
        <a:lstStyle/>
        <a:p>
          <a:endParaRPr lang="en-US"/>
        </a:p>
      </dgm:t>
    </dgm:pt>
    <dgm:pt modelId="{CF5E4D7C-F6FB-4262-A9F2-6D3EFCF25AC3}" type="parTrans" cxnId="{8BE0257F-D247-4E77-9BF2-7EE0835D7A6C}">
      <dgm:prSet/>
      <dgm:spPr/>
      <dgm:t>
        <a:bodyPr/>
        <a:lstStyle/>
        <a:p>
          <a:endParaRPr lang="en-US"/>
        </a:p>
      </dgm:t>
    </dgm:pt>
    <dgm:pt modelId="{029AC83B-AD38-4309-9D78-82D0431DBBDB}" type="pres">
      <dgm:prSet presAssocID="{99F32A62-A61D-4CEE-B451-F66518C22D33}" presName="linear" presStyleCnt="0">
        <dgm:presLayoutVars>
          <dgm:animLvl val="lvl"/>
          <dgm:resizeHandles val="exact"/>
        </dgm:presLayoutVars>
      </dgm:prSet>
      <dgm:spPr/>
      <dgm:t>
        <a:bodyPr/>
        <a:lstStyle/>
        <a:p>
          <a:endParaRPr lang="en-US"/>
        </a:p>
      </dgm:t>
    </dgm:pt>
    <dgm:pt modelId="{E771A30C-6BE8-47AF-B211-306E5E9217BE}" type="pres">
      <dgm:prSet presAssocID="{A27A9BFD-0717-4B63-BAC7-59E37AA3F3BA}" presName="parentText" presStyleLbl="node1" presStyleIdx="0" presStyleCnt="3">
        <dgm:presLayoutVars>
          <dgm:chMax val="0"/>
          <dgm:bulletEnabled val="1"/>
        </dgm:presLayoutVars>
      </dgm:prSet>
      <dgm:spPr/>
      <dgm:t>
        <a:bodyPr/>
        <a:lstStyle/>
        <a:p>
          <a:endParaRPr lang="en-US"/>
        </a:p>
      </dgm:t>
    </dgm:pt>
    <dgm:pt modelId="{F7EB624A-FC80-42BD-B462-ED2714A074A4}" type="pres">
      <dgm:prSet presAssocID="{A27A9BFD-0717-4B63-BAC7-59E37AA3F3BA}" presName="childText" presStyleLbl="revTx" presStyleIdx="0" presStyleCnt="3">
        <dgm:presLayoutVars>
          <dgm:bulletEnabled val="1"/>
        </dgm:presLayoutVars>
      </dgm:prSet>
      <dgm:spPr/>
      <dgm:t>
        <a:bodyPr/>
        <a:lstStyle/>
        <a:p>
          <a:endParaRPr lang="en-US"/>
        </a:p>
      </dgm:t>
    </dgm:pt>
    <dgm:pt modelId="{F67244B8-D2F7-4C88-8AEA-FE051B6074B6}" type="pres">
      <dgm:prSet presAssocID="{2D494774-75F5-4061-8164-F35B7AAD8106}" presName="parentText" presStyleLbl="node1" presStyleIdx="1" presStyleCnt="3">
        <dgm:presLayoutVars>
          <dgm:chMax val="0"/>
          <dgm:bulletEnabled val="1"/>
        </dgm:presLayoutVars>
      </dgm:prSet>
      <dgm:spPr/>
      <dgm:t>
        <a:bodyPr/>
        <a:lstStyle/>
        <a:p>
          <a:endParaRPr lang="en-US"/>
        </a:p>
      </dgm:t>
    </dgm:pt>
    <dgm:pt modelId="{1F0EA623-0976-4AD5-BA70-A3333C8148E9}" type="pres">
      <dgm:prSet presAssocID="{2D494774-75F5-4061-8164-F35B7AAD8106}" presName="childText" presStyleLbl="revTx" presStyleIdx="1" presStyleCnt="3">
        <dgm:presLayoutVars>
          <dgm:bulletEnabled val="1"/>
        </dgm:presLayoutVars>
      </dgm:prSet>
      <dgm:spPr/>
      <dgm:t>
        <a:bodyPr/>
        <a:lstStyle/>
        <a:p>
          <a:endParaRPr lang="en-US"/>
        </a:p>
      </dgm:t>
    </dgm:pt>
    <dgm:pt modelId="{BEB071DE-DC07-4046-B3A9-190421698366}" type="pres">
      <dgm:prSet presAssocID="{DB502C0E-AD8B-47E6-8BD5-17CB02421819}" presName="parentText" presStyleLbl="node1" presStyleIdx="2" presStyleCnt="3">
        <dgm:presLayoutVars>
          <dgm:chMax val="0"/>
          <dgm:bulletEnabled val="1"/>
        </dgm:presLayoutVars>
      </dgm:prSet>
      <dgm:spPr/>
      <dgm:t>
        <a:bodyPr/>
        <a:lstStyle/>
        <a:p>
          <a:endParaRPr lang="en-US"/>
        </a:p>
      </dgm:t>
    </dgm:pt>
    <dgm:pt modelId="{AD3DAE29-E1FF-43C5-8CDF-97B022373CF3}" type="pres">
      <dgm:prSet presAssocID="{DB502C0E-AD8B-47E6-8BD5-17CB02421819}" presName="childText" presStyleLbl="revTx" presStyleIdx="2" presStyleCnt="3">
        <dgm:presLayoutVars>
          <dgm:bulletEnabled val="1"/>
        </dgm:presLayoutVars>
      </dgm:prSet>
      <dgm:spPr/>
      <dgm:t>
        <a:bodyPr/>
        <a:lstStyle/>
        <a:p>
          <a:endParaRPr lang="en-US"/>
        </a:p>
      </dgm:t>
    </dgm:pt>
  </dgm:ptLst>
  <dgm:cxnLst>
    <dgm:cxn modelId="{EB472AF3-D509-47C0-986A-5D9DF9A534FD}" srcId="{B06456DE-A17E-485E-8DF0-06BA858859D3}" destId="{89D4AF63-6429-4674-91BE-23286CAA7F2B}" srcOrd="1" destOrd="0" parTransId="{19BFAC9A-6BDF-4348-AF96-AB39694DB9F6}" sibTransId="{A23A428F-9AA2-4677-9035-187C9C519217}"/>
    <dgm:cxn modelId="{4248B993-45B7-4FAF-9E05-3B558A4D75F0}" type="presOf" srcId="{0B9B5C88-CD07-40CB-A5C0-F03670E05DB2}" destId="{1F0EA623-0976-4AD5-BA70-A3333C8148E9}" srcOrd="0" destOrd="1" presId="urn:microsoft.com/office/officeart/2005/8/layout/vList2"/>
    <dgm:cxn modelId="{D71BA8B2-CF3B-4D68-9D20-BDD85570E543}" srcId="{99F32A62-A61D-4CEE-B451-F66518C22D33}" destId="{2D494774-75F5-4061-8164-F35B7AAD8106}" srcOrd="1" destOrd="0" parTransId="{A2F0640F-16B6-4AEE-BCE3-EFEDEE0E3AF8}" sibTransId="{500D2427-E9D9-4CD9-B500-C7BFC3C64F68}"/>
    <dgm:cxn modelId="{93484F23-9274-4A93-BACA-4FC8A3708558}" srcId="{A27A9BFD-0717-4B63-BAC7-59E37AA3F3BA}" destId="{236D47E8-77CE-4021-A95D-995BCA498365}" srcOrd="0" destOrd="0" parTransId="{31660A72-40F6-48DB-91D8-E18405C61C5F}" sibTransId="{7214E9F4-0B4C-4862-B6ED-1E915D0ED357}"/>
    <dgm:cxn modelId="{A7C56A19-B975-42B8-BA8D-1262705E46E0}" type="presOf" srcId="{18336BB5-F65A-4CBA-9E82-3D3771C9ADB1}" destId="{F7EB624A-FC80-42BD-B462-ED2714A074A4}" srcOrd="0" destOrd="2" presId="urn:microsoft.com/office/officeart/2005/8/layout/vList2"/>
    <dgm:cxn modelId="{37CAA853-EF34-49A2-891F-FBBD3AE52813}" srcId="{B06456DE-A17E-485E-8DF0-06BA858859D3}" destId="{2256C909-3BC9-44F4-9B11-CAE41F408B8D}" srcOrd="3" destOrd="0" parTransId="{48EB58F0-A326-4860-91C3-5067C8AD287B}" sibTransId="{EA1ACF88-A85A-4293-A035-D064546D2392}"/>
    <dgm:cxn modelId="{72037B0E-F704-4552-B756-4452E44CE874}" type="presOf" srcId="{2256C909-3BC9-44F4-9B11-CAE41F408B8D}" destId="{AD3DAE29-E1FF-43C5-8CDF-97B022373CF3}" srcOrd="0" destOrd="4" presId="urn:microsoft.com/office/officeart/2005/8/layout/vList2"/>
    <dgm:cxn modelId="{41A1D55B-A4BA-472F-BDA3-8B44BE08389E}" srcId="{B06456DE-A17E-485E-8DF0-06BA858859D3}" destId="{E9C9CF6D-74FC-4829-BB22-E94B7587A7AC}" srcOrd="0" destOrd="0" parTransId="{83A9D713-DB27-4ED2-A6C7-12B5E6742DD5}" sibTransId="{642A81BE-5165-489E-B6E4-97E9A8BAEF1C}"/>
    <dgm:cxn modelId="{79E87119-7158-4016-80DC-2DD4890BD3CF}" type="presOf" srcId="{DB502C0E-AD8B-47E6-8BD5-17CB02421819}" destId="{BEB071DE-DC07-4046-B3A9-190421698366}" srcOrd="0" destOrd="0" presId="urn:microsoft.com/office/officeart/2005/8/layout/vList2"/>
    <dgm:cxn modelId="{AC6B2B45-5F67-45AB-B6BA-4E1FEFD4DF24}" type="presOf" srcId="{C965F32E-EF57-4211-9995-9D20083A016A}" destId="{1F0EA623-0976-4AD5-BA70-A3333C8148E9}" srcOrd="0" destOrd="0" presId="urn:microsoft.com/office/officeart/2005/8/layout/vList2"/>
    <dgm:cxn modelId="{E7D07A82-A710-4B92-8492-781107113275}" srcId="{B06456DE-A17E-485E-8DF0-06BA858859D3}" destId="{A52298C3-F9EA-4067-AE87-FAC8C8754BA0}" srcOrd="2" destOrd="0" parTransId="{2482A411-BE87-46FB-89A7-9845DC2E8B89}" sibTransId="{F028B8FE-9E23-4FB2-BA93-6EF4999B3524}"/>
    <dgm:cxn modelId="{4BFEE99B-23F3-47B8-930E-D97C5F574EE1}" srcId="{DB502C0E-AD8B-47E6-8BD5-17CB02421819}" destId="{B06456DE-A17E-485E-8DF0-06BA858859D3}" srcOrd="0" destOrd="0" parTransId="{ABEB0E3F-7FDA-4D2A-BF5C-74E908E10217}" sibTransId="{59AB69CD-03E6-42AE-AD8F-B5B2C75C7BA4}"/>
    <dgm:cxn modelId="{94FC2DF8-0618-4DF8-AE24-3394196B5B14}" type="presOf" srcId="{C65A4108-6F33-4947-B6EF-255814905A04}" destId="{1F0EA623-0976-4AD5-BA70-A3333C8148E9}" srcOrd="0" destOrd="3" presId="urn:microsoft.com/office/officeart/2005/8/layout/vList2"/>
    <dgm:cxn modelId="{95BE6934-0BE5-4023-9018-05400DCFFA68}" type="presOf" srcId="{99F32A62-A61D-4CEE-B451-F66518C22D33}" destId="{029AC83B-AD38-4309-9D78-82D0431DBBDB}" srcOrd="0" destOrd="0" presId="urn:microsoft.com/office/officeart/2005/8/layout/vList2"/>
    <dgm:cxn modelId="{78B26856-D3CA-4E69-93A3-E8B801642A9F}" type="presOf" srcId="{E9C9CF6D-74FC-4829-BB22-E94B7587A7AC}" destId="{AD3DAE29-E1FF-43C5-8CDF-97B022373CF3}" srcOrd="0" destOrd="1" presId="urn:microsoft.com/office/officeart/2005/8/layout/vList2"/>
    <dgm:cxn modelId="{96F565EA-DCF5-4C60-B883-D558681B2C69}" srcId="{236D47E8-77CE-4021-A95D-995BCA498365}" destId="{6BBA16FE-D59D-4991-8088-E48E5CDA0ACC}" srcOrd="0" destOrd="0" parTransId="{BEB67F54-E0A7-4B62-9BBC-485F42364F9A}" sibTransId="{407432B7-F074-4E5D-B7D1-2C0ADBC7F64A}"/>
    <dgm:cxn modelId="{96AD3D56-AA81-4377-9DA1-5502C6D271B1}" type="presOf" srcId="{B06456DE-A17E-485E-8DF0-06BA858859D3}" destId="{AD3DAE29-E1FF-43C5-8CDF-97B022373CF3}" srcOrd="0" destOrd="0" presId="urn:microsoft.com/office/officeart/2005/8/layout/vList2"/>
    <dgm:cxn modelId="{2FC0DE1C-B674-4C1A-B549-D0071F45AE6B}" type="presOf" srcId="{89D4AF63-6429-4674-91BE-23286CAA7F2B}" destId="{AD3DAE29-E1FF-43C5-8CDF-97B022373CF3}" srcOrd="0" destOrd="2" presId="urn:microsoft.com/office/officeart/2005/8/layout/vList2"/>
    <dgm:cxn modelId="{6AE1F073-0879-4B25-A17D-0386F920AC00}" srcId="{C965F32E-EF57-4211-9995-9D20083A016A}" destId="{0B9B5C88-CD07-40CB-A5C0-F03670E05DB2}" srcOrd="0" destOrd="0" parTransId="{06379A95-257E-4352-9403-324043A1B219}" sibTransId="{62FEB6D8-BBE1-4A2B-B564-D261FFE0B4A4}"/>
    <dgm:cxn modelId="{E44DC309-0B67-432E-BB16-D86226F784FC}" srcId="{99F32A62-A61D-4CEE-B451-F66518C22D33}" destId="{DB502C0E-AD8B-47E6-8BD5-17CB02421819}" srcOrd="2" destOrd="0" parTransId="{A886B3CC-8D60-47F1-9797-ED5CB0445360}" sibTransId="{9F6585E8-9053-4D82-AF72-D62E2751B600}"/>
    <dgm:cxn modelId="{6F6A8ED1-7F67-479E-906A-C21F51146A90}" srcId="{99F32A62-A61D-4CEE-B451-F66518C22D33}" destId="{A27A9BFD-0717-4B63-BAC7-59E37AA3F3BA}" srcOrd="0" destOrd="0" parTransId="{572C9CFB-02D7-4756-9AD4-D0EBB6236800}" sibTransId="{A3423638-4D6F-498A-8C8E-8A1FFD5254FA}"/>
    <dgm:cxn modelId="{A2E4D2F8-3C16-4784-967C-308BE959A8A9}" type="presOf" srcId="{A10CA423-8944-47FE-8DC5-DE33BB483AAD}" destId="{1F0EA623-0976-4AD5-BA70-A3333C8148E9}" srcOrd="0" destOrd="2" presId="urn:microsoft.com/office/officeart/2005/8/layout/vList2"/>
    <dgm:cxn modelId="{E1A742B5-2393-479F-88A4-112B5B5AA773}" type="presOf" srcId="{A27A9BFD-0717-4B63-BAC7-59E37AA3F3BA}" destId="{E771A30C-6BE8-47AF-B211-306E5E9217BE}" srcOrd="0" destOrd="0" presId="urn:microsoft.com/office/officeart/2005/8/layout/vList2"/>
    <dgm:cxn modelId="{51327592-32CF-41AF-8803-976D638157F1}" srcId="{2D494774-75F5-4061-8164-F35B7AAD8106}" destId="{C965F32E-EF57-4211-9995-9D20083A016A}" srcOrd="0" destOrd="0" parTransId="{A3B7CF43-AFDC-4762-9E0E-D4525E6CBE0A}" sibTransId="{44743DF6-7B23-431B-8592-FBE379F0DB49}"/>
    <dgm:cxn modelId="{8BE0257F-D247-4E77-9BF2-7EE0835D7A6C}" srcId="{236D47E8-77CE-4021-A95D-995BCA498365}" destId="{18336BB5-F65A-4CBA-9E82-3D3771C9ADB1}" srcOrd="1" destOrd="0" parTransId="{CF5E4D7C-F6FB-4262-A9F2-6D3EFCF25AC3}" sibTransId="{15BEB484-BFE1-481E-B234-3D214CC0187D}"/>
    <dgm:cxn modelId="{2BA1A089-48F2-41A6-990D-D7ADFA8C7E4D}" srcId="{C965F32E-EF57-4211-9995-9D20083A016A}" destId="{A10CA423-8944-47FE-8DC5-DE33BB483AAD}" srcOrd="1" destOrd="0" parTransId="{236244D1-A52C-4CF0-8DC5-FD632ED9D818}" sibTransId="{3ADBA216-367D-45AA-A7DF-698EA598FA10}"/>
    <dgm:cxn modelId="{42358AD4-D7F5-4046-93FD-B9ECEE9CFC58}" srcId="{C965F32E-EF57-4211-9995-9D20083A016A}" destId="{C65A4108-6F33-4947-B6EF-255814905A04}" srcOrd="2" destOrd="0" parTransId="{752EE329-5B95-4F3A-90E9-AADAEFD70E36}" sibTransId="{9904171D-240A-41C2-80F4-02DB84F08068}"/>
    <dgm:cxn modelId="{4027D23F-9945-4512-941D-87248B44D142}" type="presOf" srcId="{2D494774-75F5-4061-8164-F35B7AAD8106}" destId="{F67244B8-D2F7-4C88-8AEA-FE051B6074B6}" srcOrd="0" destOrd="0" presId="urn:microsoft.com/office/officeart/2005/8/layout/vList2"/>
    <dgm:cxn modelId="{A618368C-6311-47B6-8711-2DEF62BE8474}" type="presOf" srcId="{A52298C3-F9EA-4067-AE87-FAC8C8754BA0}" destId="{AD3DAE29-E1FF-43C5-8CDF-97B022373CF3}" srcOrd="0" destOrd="3" presId="urn:microsoft.com/office/officeart/2005/8/layout/vList2"/>
    <dgm:cxn modelId="{A532309E-52A1-4A4B-A61B-96695B52150E}" type="presOf" srcId="{236D47E8-77CE-4021-A95D-995BCA498365}" destId="{F7EB624A-FC80-42BD-B462-ED2714A074A4}" srcOrd="0" destOrd="0" presId="urn:microsoft.com/office/officeart/2005/8/layout/vList2"/>
    <dgm:cxn modelId="{6AD8E3B3-E3FB-47EE-967F-E784DFC214B5}" type="presOf" srcId="{6BBA16FE-D59D-4991-8088-E48E5CDA0ACC}" destId="{F7EB624A-FC80-42BD-B462-ED2714A074A4}" srcOrd="0" destOrd="1" presId="urn:microsoft.com/office/officeart/2005/8/layout/vList2"/>
    <dgm:cxn modelId="{F0862404-038F-471C-A30B-4448FDB3BF33}" type="presParOf" srcId="{029AC83B-AD38-4309-9D78-82D0431DBBDB}" destId="{E771A30C-6BE8-47AF-B211-306E5E9217BE}" srcOrd="0" destOrd="0" presId="urn:microsoft.com/office/officeart/2005/8/layout/vList2"/>
    <dgm:cxn modelId="{89814316-F50F-448E-8B55-78182C7A9129}" type="presParOf" srcId="{029AC83B-AD38-4309-9D78-82D0431DBBDB}" destId="{F7EB624A-FC80-42BD-B462-ED2714A074A4}" srcOrd="1" destOrd="0" presId="urn:microsoft.com/office/officeart/2005/8/layout/vList2"/>
    <dgm:cxn modelId="{F09A8079-107B-4202-A6E4-17F2322FA4DF}" type="presParOf" srcId="{029AC83B-AD38-4309-9D78-82D0431DBBDB}" destId="{F67244B8-D2F7-4C88-8AEA-FE051B6074B6}" srcOrd="2" destOrd="0" presId="urn:microsoft.com/office/officeart/2005/8/layout/vList2"/>
    <dgm:cxn modelId="{6E9A5830-4B0A-41A8-B355-FD9C3D53ED91}" type="presParOf" srcId="{029AC83B-AD38-4309-9D78-82D0431DBBDB}" destId="{1F0EA623-0976-4AD5-BA70-A3333C8148E9}" srcOrd="3" destOrd="0" presId="urn:microsoft.com/office/officeart/2005/8/layout/vList2"/>
    <dgm:cxn modelId="{75517619-77FE-4341-8EFA-C80495CB8978}" type="presParOf" srcId="{029AC83B-AD38-4309-9D78-82D0431DBBDB}" destId="{BEB071DE-DC07-4046-B3A9-190421698366}" srcOrd="4" destOrd="0" presId="urn:microsoft.com/office/officeart/2005/8/layout/vList2"/>
    <dgm:cxn modelId="{F1BFD5C0-4521-4D8B-8E21-116EFD1569D9}" type="presParOf" srcId="{029AC83B-AD38-4309-9D78-82D0431DBBDB}" destId="{AD3DAE29-E1FF-43C5-8CDF-97B022373CF3}" srcOrd="5"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DC21DE-52C8-4927-8015-D70360120C6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D166309-9DE1-4982-BE5A-D7B98D1D3250}">
      <dgm:prSet custT="1"/>
      <dgm:spPr/>
      <dgm:t>
        <a:bodyPr/>
        <a:lstStyle/>
        <a:p>
          <a:pPr rtl="0"/>
          <a:r>
            <a:rPr lang="en-US" sz="1800" dirty="0" smtClean="0"/>
            <a:t>Peer Code Review</a:t>
          </a:r>
          <a:endParaRPr lang="en-US" sz="1800" dirty="0"/>
        </a:p>
      </dgm:t>
    </dgm:pt>
    <dgm:pt modelId="{FDA883AB-B701-445F-94C8-026ED4F40982}" type="parTrans" cxnId="{AF21F0CA-867A-419F-B330-817F4175E57E}">
      <dgm:prSet/>
      <dgm:spPr/>
      <dgm:t>
        <a:bodyPr/>
        <a:lstStyle/>
        <a:p>
          <a:endParaRPr lang="en-US" sz="900"/>
        </a:p>
      </dgm:t>
    </dgm:pt>
    <dgm:pt modelId="{BE321C5F-A651-4262-9DFF-6B1A6B9F1399}" type="sibTrans" cxnId="{AF21F0CA-867A-419F-B330-817F4175E57E}">
      <dgm:prSet/>
      <dgm:spPr/>
      <dgm:t>
        <a:bodyPr/>
        <a:lstStyle/>
        <a:p>
          <a:endParaRPr lang="en-US" sz="900"/>
        </a:p>
      </dgm:t>
    </dgm:pt>
    <dgm:pt modelId="{5630992D-C894-4E1C-8A8E-5CD591375A57}">
      <dgm:prSet custT="1"/>
      <dgm:spPr/>
      <dgm:t>
        <a:bodyPr/>
        <a:lstStyle/>
        <a:p>
          <a:pPr rtl="0"/>
          <a:r>
            <a:rPr lang="en-US" sz="1400" dirty="0" smtClean="0"/>
            <a:t>Learning Opportunity</a:t>
          </a:r>
          <a:endParaRPr lang="en-US" sz="1400" dirty="0"/>
        </a:p>
      </dgm:t>
    </dgm:pt>
    <dgm:pt modelId="{B0382C4E-5E95-4C7C-844D-40C3DEB3FE76}" type="parTrans" cxnId="{23C18CB4-86FA-4864-B968-7CFB634F3472}">
      <dgm:prSet/>
      <dgm:spPr/>
      <dgm:t>
        <a:bodyPr/>
        <a:lstStyle/>
        <a:p>
          <a:endParaRPr lang="en-US" sz="900"/>
        </a:p>
      </dgm:t>
    </dgm:pt>
    <dgm:pt modelId="{2C5D6F6B-C2F8-42FA-AD1B-9615750B5AF5}" type="sibTrans" cxnId="{23C18CB4-86FA-4864-B968-7CFB634F3472}">
      <dgm:prSet/>
      <dgm:spPr/>
      <dgm:t>
        <a:bodyPr/>
        <a:lstStyle/>
        <a:p>
          <a:endParaRPr lang="en-US" sz="900"/>
        </a:p>
      </dgm:t>
    </dgm:pt>
    <dgm:pt modelId="{6C2A8054-CFD0-4D18-A581-150299008BCA}">
      <dgm:prSet custT="1"/>
      <dgm:spPr/>
      <dgm:t>
        <a:bodyPr/>
        <a:lstStyle/>
        <a:p>
          <a:pPr rtl="0"/>
          <a:r>
            <a:rPr lang="en-US" sz="1400" dirty="0" smtClean="0"/>
            <a:t>Stability</a:t>
          </a:r>
          <a:endParaRPr lang="en-US" sz="1400" dirty="0"/>
        </a:p>
      </dgm:t>
    </dgm:pt>
    <dgm:pt modelId="{F205C5C4-FE64-4FEC-A030-4A80C006CC3D}" type="parTrans" cxnId="{955D6AE5-DB9D-4016-94F0-BA0AA8E035B6}">
      <dgm:prSet/>
      <dgm:spPr/>
      <dgm:t>
        <a:bodyPr/>
        <a:lstStyle/>
        <a:p>
          <a:endParaRPr lang="en-US" sz="900"/>
        </a:p>
      </dgm:t>
    </dgm:pt>
    <dgm:pt modelId="{1A4E162C-43F2-49EC-9C30-E1878C10332B}" type="sibTrans" cxnId="{955D6AE5-DB9D-4016-94F0-BA0AA8E035B6}">
      <dgm:prSet/>
      <dgm:spPr/>
      <dgm:t>
        <a:bodyPr/>
        <a:lstStyle/>
        <a:p>
          <a:endParaRPr lang="en-US" sz="900"/>
        </a:p>
      </dgm:t>
    </dgm:pt>
    <dgm:pt modelId="{39F87BAA-7CC2-4C11-BCB5-0DDBCEF8C4FC}">
      <dgm:prSet custT="1"/>
      <dgm:spPr/>
      <dgm:t>
        <a:bodyPr/>
        <a:lstStyle/>
        <a:p>
          <a:pPr rtl="0"/>
          <a:r>
            <a:rPr lang="en-US" sz="1400" dirty="0" smtClean="0"/>
            <a:t>Coding / Process Consistency</a:t>
          </a:r>
          <a:endParaRPr lang="en-US" sz="1400" dirty="0"/>
        </a:p>
      </dgm:t>
    </dgm:pt>
    <dgm:pt modelId="{22732B3E-65EC-4E52-9838-E15788452298}" type="parTrans" cxnId="{37A93FB3-DCB8-40FE-9ADB-238A71BFB7D9}">
      <dgm:prSet/>
      <dgm:spPr/>
      <dgm:t>
        <a:bodyPr/>
        <a:lstStyle/>
        <a:p>
          <a:endParaRPr lang="en-US" sz="900"/>
        </a:p>
      </dgm:t>
    </dgm:pt>
    <dgm:pt modelId="{ACA2BCA2-A73A-4799-8545-10C09257B590}" type="sibTrans" cxnId="{37A93FB3-DCB8-40FE-9ADB-238A71BFB7D9}">
      <dgm:prSet/>
      <dgm:spPr/>
      <dgm:t>
        <a:bodyPr/>
        <a:lstStyle/>
        <a:p>
          <a:endParaRPr lang="en-US" sz="900"/>
        </a:p>
      </dgm:t>
    </dgm:pt>
    <dgm:pt modelId="{B1B4D847-3A9F-430A-9A95-19752C681F30}" type="pres">
      <dgm:prSet presAssocID="{E6DC21DE-52C8-4927-8015-D70360120C6E}" presName="linear" presStyleCnt="0">
        <dgm:presLayoutVars>
          <dgm:animLvl val="lvl"/>
          <dgm:resizeHandles val="exact"/>
        </dgm:presLayoutVars>
      </dgm:prSet>
      <dgm:spPr/>
      <dgm:t>
        <a:bodyPr/>
        <a:lstStyle/>
        <a:p>
          <a:endParaRPr lang="en-US"/>
        </a:p>
      </dgm:t>
    </dgm:pt>
    <dgm:pt modelId="{813CA446-5BF0-45EA-81AB-9DCEA7AF3DB0}" type="pres">
      <dgm:prSet presAssocID="{ED166309-9DE1-4982-BE5A-D7B98D1D3250}" presName="parentText" presStyleLbl="node1" presStyleIdx="0" presStyleCnt="1" custScaleY="38232" custLinFactY="-35998" custLinFactNeighborY="-100000">
        <dgm:presLayoutVars>
          <dgm:chMax val="0"/>
          <dgm:bulletEnabled val="1"/>
        </dgm:presLayoutVars>
      </dgm:prSet>
      <dgm:spPr/>
      <dgm:t>
        <a:bodyPr/>
        <a:lstStyle/>
        <a:p>
          <a:endParaRPr lang="en-US"/>
        </a:p>
      </dgm:t>
    </dgm:pt>
    <dgm:pt modelId="{EFFAD5FA-AA66-4F29-B520-878B05DFC81D}" type="pres">
      <dgm:prSet presAssocID="{ED166309-9DE1-4982-BE5A-D7B98D1D3250}" presName="childText" presStyleLbl="revTx" presStyleIdx="0" presStyleCnt="1" custLinFactY="-22204" custLinFactNeighborY="-100000">
        <dgm:presLayoutVars>
          <dgm:bulletEnabled val="1"/>
        </dgm:presLayoutVars>
      </dgm:prSet>
      <dgm:spPr/>
      <dgm:t>
        <a:bodyPr/>
        <a:lstStyle/>
        <a:p>
          <a:endParaRPr lang="en-US"/>
        </a:p>
      </dgm:t>
    </dgm:pt>
  </dgm:ptLst>
  <dgm:cxnLst>
    <dgm:cxn modelId="{955D6AE5-DB9D-4016-94F0-BA0AA8E035B6}" srcId="{ED166309-9DE1-4982-BE5A-D7B98D1D3250}" destId="{6C2A8054-CFD0-4D18-A581-150299008BCA}" srcOrd="1" destOrd="0" parTransId="{F205C5C4-FE64-4FEC-A030-4A80C006CC3D}" sibTransId="{1A4E162C-43F2-49EC-9C30-E1878C10332B}"/>
    <dgm:cxn modelId="{683839FA-B1B7-409F-8835-08F792FAE675}" type="presOf" srcId="{39F87BAA-7CC2-4C11-BCB5-0DDBCEF8C4FC}" destId="{EFFAD5FA-AA66-4F29-B520-878B05DFC81D}" srcOrd="0" destOrd="2" presId="urn:microsoft.com/office/officeart/2005/8/layout/vList2"/>
    <dgm:cxn modelId="{AF21F0CA-867A-419F-B330-817F4175E57E}" srcId="{E6DC21DE-52C8-4927-8015-D70360120C6E}" destId="{ED166309-9DE1-4982-BE5A-D7B98D1D3250}" srcOrd="0" destOrd="0" parTransId="{FDA883AB-B701-445F-94C8-026ED4F40982}" sibTransId="{BE321C5F-A651-4262-9DFF-6B1A6B9F1399}"/>
    <dgm:cxn modelId="{46438190-D78C-48CE-9B58-60ABAB67CD5C}" type="presOf" srcId="{5630992D-C894-4E1C-8A8E-5CD591375A57}" destId="{EFFAD5FA-AA66-4F29-B520-878B05DFC81D}" srcOrd="0" destOrd="0" presId="urn:microsoft.com/office/officeart/2005/8/layout/vList2"/>
    <dgm:cxn modelId="{37A93FB3-DCB8-40FE-9ADB-238A71BFB7D9}" srcId="{ED166309-9DE1-4982-BE5A-D7B98D1D3250}" destId="{39F87BAA-7CC2-4C11-BCB5-0DDBCEF8C4FC}" srcOrd="2" destOrd="0" parTransId="{22732B3E-65EC-4E52-9838-E15788452298}" sibTransId="{ACA2BCA2-A73A-4799-8545-10C09257B590}"/>
    <dgm:cxn modelId="{23C18CB4-86FA-4864-B968-7CFB634F3472}" srcId="{ED166309-9DE1-4982-BE5A-D7B98D1D3250}" destId="{5630992D-C894-4E1C-8A8E-5CD591375A57}" srcOrd="0" destOrd="0" parTransId="{B0382C4E-5E95-4C7C-844D-40C3DEB3FE76}" sibTransId="{2C5D6F6B-C2F8-42FA-AD1B-9615750B5AF5}"/>
    <dgm:cxn modelId="{E1868850-2658-4E31-A21B-270C349656CC}" type="presOf" srcId="{ED166309-9DE1-4982-BE5A-D7B98D1D3250}" destId="{813CA446-5BF0-45EA-81AB-9DCEA7AF3DB0}" srcOrd="0" destOrd="0" presId="urn:microsoft.com/office/officeart/2005/8/layout/vList2"/>
    <dgm:cxn modelId="{9159FC2D-6F4E-41D3-8C5F-BFAEE8D4F96A}" type="presOf" srcId="{E6DC21DE-52C8-4927-8015-D70360120C6E}" destId="{B1B4D847-3A9F-430A-9A95-19752C681F30}" srcOrd="0" destOrd="0" presId="urn:microsoft.com/office/officeart/2005/8/layout/vList2"/>
    <dgm:cxn modelId="{29D804E0-A856-4CDC-A0B9-83DC96D3AACB}" type="presOf" srcId="{6C2A8054-CFD0-4D18-A581-150299008BCA}" destId="{EFFAD5FA-AA66-4F29-B520-878B05DFC81D}" srcOrd="0" destOrd="1" presId="urn:microsoft.com/office/officeart/2005/8/layout/vList2"/>
    <dgm:cxn modelId="{DA4FFC19-632E-4534-B2BD-5C1A15AD17EE}" type="presParOf" srcId="{B1B4D847-3A9F-430A-9A95-19752C681F30}" destId="{813CA446-5BF0-45EA-81AB-9DCEA7AF3DB0}" srcOrd="0" destOrd="0" presId="urn:microsoft.com/office/officeart/2005/8/layout/vList2"/>
    <dgm:cxn modelId="{EDC6EA62-27BF-4706-B8F0-D7059E61E4FF}" type="presParOf" srcId="{B1B4D847-3A9F-430A-9A95-19752C681F30}" destId="{EFFAD5FA-AA66-4F29-B520-878B05DFC81D}" srcOrd="1"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CF1CE3-A065-4C98-AFD4-494D74660D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3C7E5EE-5339-443B-8830-1E01A7D1C9BD}">
      <dgm:prSet custT="1"/>
      <dgm:spPr/>
      <dgm:t>
        <a:bodyPr/>
        <a:lstStyle/>
        <a:p>
          <a:pPr rtl="0"/>
          <a:r>
            <a:rPr lang="en-US" sz="1800" dirty="0" smtClean="0"/>
            <a:t>Scripting Editor</a:t>
          </a:r>
          <a:endParaRPr lang="en-US" sz="1800" dirty="0"/>
        </a:p>
      </dgm:t>
    </dgm:pt>
    <dgm:pt modelId="{7FE0A26C-DCB0-48D5-A8B9-051F9CAE30D7}" type="parTrans" cxnId="{BC541A99-94AB-4D09-91E9-91B5DA813D72}">
      <dgm:prSet/>
      <dgm:spPr/>
      <dgm:t>
        <a:bodyPr/>
        <a:lstStyle/>
        <a:p>
          <a:endParaRPr lang="en-US"/>
        </a:p>
      </dgm:t>
    </dgm:pt>
    <dgm:pt modelId="{3568D8C9-C9E5-4EB1-ABE4-7BE1494B290D}" type="sibTrans" cxnId="{BC541A99-94AB-4D09-91E9-91B5DA813D72}">
      <dgm:prSet/>
      <dgm:spPr/>
      <dgm:t>
        <a:bodyPr/>
        <a:lstStyle/>
        <a:p>
          <a:endParaRPr lang="en-US"/>
        </a:p>
      </dgm:t>
    </dgm:pt>
    <dgm:pt modelId="{CC3270D3-0951-4F0F-AA47-6D4D5E930751}">
      <dgm:prSet custT="1"/>
      <dgm:spPr/>
      <dgm:t>
        <a:bodyPr/>
        <a:lstStyle/>
        <a:p>
          <a:pPr rtl="0"/>
          <a:r>
            <a:rPr lang="en-US" sz="1400" dirty="0" smtClean="0"/>
            <a:t>Dell / Quest PowerGUI </a:t>
          </a:r>
          <a:endParaRPr lang="en-US" sz="1400" dirty="0"/>
        </a:p>
      </dgm:t>
    </dgm:pt>
    <dgm:pt modelId="{48D44302-D33C-47A6-B13C-A619B336055A}" type="parTrans" cxnId="{BF20D20D-0221-4ADC-BD3E-7396D3AA1A3B}">
      <dgm:prSet/>
      <dgm:spPr/>
      <dgm:t>
        <a:bodyPr/>
        <a:lstStyle/>
        <a:p>
          <a:endParaRPr lang="en-US"/>
        </a:p>
      </dgm:t>
    </dgm:pt>
    <dgm:pt modelId="{0FAD1844-D674-4AC1-9A34-5B5E00992674}" type="sibTrans" cxnId="{BF20D20D-0221-4ADC-BD3E-7396D3AA1A3B}">
      <dgm:prSet/>
      <dgm:spPr/>
      <dgm:t>
        <a:bodyPr/>
        <a:lstStyle/>
        <a:p>
          <a:endParaRPr lang="en-US"/>
        </a:p>
      </dgm:t>
    </dgm:pt>
    <dgm:pt modelId="{E0F1C9BB-1161-435A-B1C8-D8D4621B9626}">
      <dgm:prSet custT="1"/>
      <dgm:spPr/>
      <dgm:t>
        <a:bodyPr/>
        <a:lstStyle/>
        <a:p>
          <a:pPr rtl="0"/>
          <a:r>
            <a:rPr lang="en-US" sz="1800" dirty="0" smtClean="0"/>
            <a:t>Code Repository (Version Control, Snippets, etc.)</a:t>
          </a:r>
          <a:endParaRPr lang="en-US" sz="1800" dirty="0"/>
        </a:p>
      </dgm:t>
    </dgm:pt>
    <dgm:pt modelId="{BA58505F-4F35-46F6-AFBF-6CE9FD744C83}" type="parTrans" cxnId="{D0094466-DB2A-4F9C-854B-7625A4D4DF19}">
      <dgm:prSet/>
      <dgm:spPr/>
      <dgm:t>
        <a:bodyPr/>
        <a:lstStyle/>
        <a:p>
          <a:endParaRPr lang="en-US"/>
        </a:p>
      </dgm:t>
    </dgm:pt>
    <dgm:pt modelId="{7B55C422-203A-4315-9869-8CEA2A1E2FE3}" type="sibTrans" cxnId="{D0094466-DB2A-4F9C-854B-7625A4D4DF19}">
      <dgm:prSet/>
      <dgm:spPr/>
      <dgm:t>
        <a:bodyPr/>
        <a:lstStyle/>
        <a:p>
          <a:endParaRPr lang="en-US"/>
        </a:p>
      </dgm:t>
    </dgm:pt>
    <dgm:pt modelId="{7E19B1B7-D42B-40F6-A91B-381184FAC8F5}">
      <dgm:prSet custT="1"/>
      <dgm:spPr/>
      <dgm:t>
        <a:bodyPr/>
        <a:lstStyle/>
        <a:p>
          <a:pPr rtl="0"/>
          <a:r>
            <a:rPr lang="en-US" sz="1400" dirty="0" smtClean="0"/>
            <a:t>Mercurial</a:t>
          </a:r>
          <a:endParaRPr lang="en-US" sz="5100" dirty="0"/>
        </a:p>
      </dgm:t>
    </dgm:pt>
    <dgm:pt modelId="{50F396EF-FAB4-43D1-9535-9AAFAB1B5402}" type="parTrans" cxnId="{D207D1FD-D5A8-4E77-AF5E-7CF8531BEB1F}">
      <dgm:prSet/>
      <dgm:spPr/>
      <dgm:t>
        <a:bodyPr/>
        <a:lstStyle/>
        <a:p>
          <a:endParaRPr lang="en-US"/>
        </a:p>
      </dgm:t>
    </dgm:pt>
    <dgm:pt modelId="{1263B6D0-6321-4DBC-978C-19C92CAFADCC}" type="sibTrans" cxnId="{D207D1FD-D5A8-4E77-AF5E-7CF8531BEB1F}">
      <dgm:prSet/>
      <dgm:spPr/>
      <dgm:t>
        <a:bodyPr/>
        <a:lstStyle/>
        <a:p>
          <a:endParaRPr lang="en-US"/>
        </a:p>
      </dgm:t>
    </dgm:pt>
    <dgm:pt modelId="{316C17DE-13B4-41C3-8E4B-EE827EBE4E59}" type="pres">
      <dgm:prSet presAssocID="{CECF1CE3-A065-4C98-AFD4-494D74660D65}" presName="linear" presStyleCnt="0">
        <dgm:presLayoutVars>
          <dgm:animLvl val="lvl"/>
          <dgm:resizeHandles val="exact"/>
        </dgm:presLayoutVars>
      </dgm:prSet>
      <dgm:spPr/>
      <dgm:t>
        <a:bodyPr/>
        <a:lstStyle/>
        <a:p>
          <a:endParaRPr lang="en-US"/>
        </a:p>
      </dgm:t>
    </dgm:pt>
    <dgm:pt modelId="{D76CC319-6B22-49A2-8612-6B7003B4AC72}" type="pres">
      <dgm:prSet presAssocID="{43C7E5EE-5339-443B-8830-1E01A7D1C9BD}" presName="parentText" presStyleLbl="node1" presStyleIdx="0" presStyleCnt="2" custScaleY="39518" custLinFactNeighborY="-95656">
        <dgm:presLayoutVars>
          <dgm:chMax val="0"/>
          <dgm:bulletEnabled val="1"/>
        </dgm:presLayoutVars>
      </dgm:prSet>
      <dgm:spPr/>
      <dgm:t>
        <a:bodyPr/>
        <a:lstStyle/>
        <a:p>
          <a:endParaRPr lang="en-US"/>
        </a:p>
      </dgm:t>
    </dgm:pt>
    <dgm:pt modelId="{629C31A3-283C-44EA-86C5-74E5438F7AB7}" type="pres">
      <dgm:prSet presAssocID="{43C7E5EE-5339-443B-8830-1E01A7D1C9BD}" presName="childText" presStyleLbl="revTx" presStyleIdx="0" presStyleCnt="2" custScaleY="48167" custLinFactNeighborY="-79073">
        <dgm:presLayoutVars>
          <dgm:bulletEnabled val="1"/>
        </dgm:presLayoutVars>
      </dgm:prSet>
      <dgm:spPr/>
      <dgm:t>
        <a:bodyPr/>
        <a:lstStyle/>
        <a:p>
          <a:endParaRPr lang="en-US"/>
        </a:p>
      </dgm:t>
    </dgm:pt>
    <dgm:pt modelId="{4003F08B-8FAE-48C8-B5BE-6AEB33476358}" type="pres">
      <dgm:prSet presAssocID="{E0F1C9BB-1161-435A-B1C8-D8D4621B9626}" presName="parentText" presStyleLbl="node1" presStyleIdx="1" presStyleCnt="2" custScaleY="35783" custLinFactY="-1345" custLinFactNeighborY="-100000">
        <dgm:presLayoutVars>
          <dgm:chMax val="0"/>
          <dgm:bulletEnabled val="1"/>
        </dgm:presLayoutVars>
      </dgm:prSet>
      <dgm:spPr/>
      <dgm:t>
        <a:bodyPr/>
        <a:lstStyle/>
        <a:p>
          <a:endParaRPr lang="en-US"/>
        </a:p>
      </dgm:t>
    </dgm:pt>
    <dgm:pt modelId="{225430CF-3BF1-4CC0-9365-99947800A2E0}" type="pres">
      <dgm:prSet presAssocID="{E0F1C9BB-1161-435A-B1C8-D8D4621B9626}" presName="childText" presStyleLbl="revTx" presStyleIdx="1" presStyleCnt="2" custLinFactNeighborY="-83545">
        <dgm:presLayoutVars>
          <dgm:bulletEnabled val="1"/>
        </dgm:presLayoutVars>
      </dgm:prSet>
      <dgm:spPr/>
      <dgm:t>
        <a:bodyPr/>
        <a:lstStyle/>
        <a:p>
          <a:endParaRPr lang="en-US"/>
        </a:p>
      </dgm:t>
    </dgm:pt>
  </dgm:ptLst>
  <dgm:cxnLst>
    <dgm:cxn modelId="{D0094466-DB2A-4F9C-854B-7625A4D4DF19}" srcId="{CECF1CE3-A065-4C98-AFD4-494D74660D65}" destId="{E0F1C9BB-1161-435A-B1C8-D8D4621B9626}" srcOrd="1" destOrd="0" parTransId="{BA58505F-4F35-46F6-AFBF-6CE9FD744C83}" sibTransId="{7B55C422-203A-4315-9869-8CEA2A1E2FE3}"/>
    <dgm:cxn modelId="{4C32DF1E-E9C2-485B-AA39-720827D86FC2}" type="presOf" srcId="{CECF1CE3-A065-4C98-AFD4-494D74660D65}" destId="{316C17DE-13B4-41C3-8E4B-EE827EBE4E59}" srcOrd="0" destOrd="0" presId="urn:microsoft.com/office/officeart/2005/8/layout/vList2"/>
    <dgm:cxn modelId="{1701DA7D-8227-48D7-9261-91FDBF3CF2D9}" type="presOf" srcId="{7E19B1B7-D42B-40F6-A91B-381184FAC8F5}" destId="{225430CF-3BF1-4CC0-9365-99947800A2E0}" srcOrd="0" destOrd="0" presId="urn:microsoft.com/office/officeart/2005/8/layout/vList2"/>
    <dgm:cxn modelId="{5C3E14D8-BF16-4EF8-952B-0A9FC757B770}" type="presOf" srcId="{CC3270D3-0951-4F0F-AA47-6D4D5E930751}" destId="{629C31A3-283C-44EA-86C5-74E5438F7AB7}" srcOrd="0" destOrd="0" presId="urn:microsoft.com/office/officeart/2005/8/layout/vList2"/>
    <dgm:cxn modelId="{56C1652A-3B39-4BDE-B38B-A78151CA773B}" type="presOf" srcId="{E0F1C9BB-1161-435A-B1C8-D8D4621B9626}" destId="{4003F08B-8FAE-48C8-B5BE-6AEB33476358}" srcOrd="0" destOrd="0" presId="urn:microsoft.com/office/officeart/2005/8/layout/vList2"/>
    <dgm:cxn modelId="{A76524EC-4035-40D2-AF36-A7BA265CC364}" type="presOf" srcId="{43C7E5EE-5339-443B-8830-1E01A7D1C9BD}" destId="{D76CC319-6B22-49A2-8612-6B7003B4AC72}" srcOrd="0" destOrd="0" presId="urn:microsoft.com/office/officeart/2005/8/layout/vList2"/>
    <dgm:cxn modelId="{D207D1FD-D5A8-4E77-AF5E-7CF8531BEB1F}" srcId="{E0F1C9BB-1161-435A-B1C8-D8D4621B9626}" destId="{7E19B1B7-D42B-40F6-A91B-381184FAC8F5}" srcOrd="0" destOrd="0" parTransId="{50F396EF-FAB4-43D1-9535-9AAFAB1B5402}" sibTransId="{1263B6D0-6321-4DBC-978C-19C92CAFADCC}"/>
    <dgm:cxn modelId="{BC541A99-94AB-4D09-91E9-91B5DA813D72}" srcId="{CECF1CE3-A065-4C98-AFD4-494D74660D65}" destId="{43C7E5EE-5339-443B-8830-1E01A7D1C9BD}" srcOrd="0" destOrd="0" parTransId="{7FE0A26C-DCB0-48D5-A8B9-051F9CAE30D7}" sibTransId="{3568D8C9-C9E5-4EB1-ABE4-7BE1494B290D}"/>
    <dgm:cxn modelId="{BF20D20D-0221-4ADC-BD3E-7396D3AA1A3B}" srcId="{43C7E5EE-5339-443B-8830-1E01A7D1C9BD}" destId="{CC3270D3-0951-4F0F-AA47-6D4D5E930751}" srcOrd="0" destOrd="0" parTransId="{48D44302-D33C-47A6-B13C-A619B336055A}" sibTransId="{0FAD1844-D674-4AC1-9A34-5B5E00992674}"/>
    <dgm:cxn modelId="{A2C10043-3BA0-4EF6-B361-C6E3B6F00D5B}" type="presParOf" srcId="{316C17DE-13B4-41C3-8E4B-EE827EBE4E59}" destId="{D76CC319-6B22-49A2-8612-6B7003B4AC72}" srcOrd="0" destOrd="0" presId="urn:microsoft.com/office/officeart/2005/8/layout/vList2"/>
    <dgm:cxn modelId="{F7E0B041-4821-4B1C-BAFE-DC0FCD082327}" type="presParOf" srcId="{316C17DE-13B4-41C3-8E4B-EE827EBE4E59}" destId="{629C31A3-283C-44EA-86C5-74E5438F7AB7}" srcOrd="1" destOrd="0" presId="urn:microsoft.com/office/officeart/2005/8/layout/vList2"/>
    <dgm:cxn modelId="{C6B73EEB-AD32-4176-8837-8231F1BBFC76}" type="presParOf" srcId="{316C17DE-13B4-41C3-8E4B-EE827EBE4E59}" destId="{4003F08B-8FAE-48C8-B5BE-6AEB33476358}" srcOrd="2" destOrd="0" presId="urn:microsoft.com/office/officeart/2005/8/layout/vList2"/>
    <dgm:cxn modelId="{58712E2E-A5D0-40F4-B322-3348E3BD6AEC}" type="presParOf" srcId="{316C17DE-13B4-41C3-8E4B-EE827EBE4E59}" destId="{225430CF-3BF1-4CC0-9365-99947800A2E0}" srcOrd="3"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8BE0EB0-FC08-4DF1-B319-6EACF399A5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56834C2-EF32-4A6F-89AF-B8F220EB0694}">
      <dgm:prSet/>
      <dgm:spPr/>
      <dgm:t>
        <a:bodyPr/>
        <a:lstStyle/>
        <a:p>
          <a:pPr rtl="0"/>
          <a:r>
            <a:rPr lang="en-US" dirty="0" smtClean="0"/>
            <a:t>PowerShell Training</a:t>
          </a:r>
          <a:endParaRPr lang="en-US" dirty="0"/>
        </a:p>
      </dgm:t>
    </dgm:pt>
    <dgm:pt modelId="{0FACC271-3DC7-495F-9B71-0E2C7C04EE08}" type="parTrans" cxnId="{CD5F1790-A37B-4521-9434-F63966549ACA}">
      <dgm:prSet/>
      <dgm:spPr/>
      <dgm:t>
        <a:bodyPr/>
        <a:lstStyle/>
        <a:p>
          <a:endParaRPr lang="en-US"/>
        </a:p>
      </dgm:t>
    </dgm:pt>
    <dgm:pt modelId="{95E2C959-0B4D-4162-B854-C9130526E592}" type="sibTrans" cxnId="{CD5F1790-A37B-4521-9434-F63966549ACA}">
      <dgm:prSet/>
      <dgm:spPr/>
      <dgm:t>
        <a:bodyPr/>
        <a:lstStyle/>
        <a:p>
          <a:endParaRPr lang="en-US"/>
        </a:p>
      </dgm:t>
    </dgm:pt>
    <dgm:pt modelId="{0C67ACC6-F6D8-44EC-8C31-AF64D5D4FF7E}">
      <dgm:prSet/>
      <dgm:spPr/>
      <dgm:t>
        <a:bodyPr/>
        <a:lstStyle/>
        <a:p>
          <a:pPr rtl="0"/>
          <a:r>
            <a:rPr lang="en-US" dirty="0" smtClean="0"/>
            <a:t>Week 1: Monday, Wednesday, Friday (AM / PM)</a:t>
          </a:r>
          <a:endParaRPr lang="en-US" dirty="0"/>
        </a:p>
      </dgm:t>
    </dgm:pt>
    <dgm:pt modelId="{DF797257-2AB6-4E4E-8D58-6C5F07595471}" type="parTrans" cxnId="{406BCA11-57EE-456A-AD6D-0D7B1BEBC73E}">
      <dgm:prSet/>
      <dgm:spPr/>
      <dgm:t>
        <a:bodyPr/>
        <a:lstStyle/>
        <a:p>
          <a:endParaRPr lang="en-US"/>
        </a:p>
      </dgm:t>
    </dgm:pt>
    <dgm:pt modelId="{C368CD38-6B6A-46F4-9EC5-B1F1B23DCCF3}" type="sibTrans" cxnId="{406BCA11-57EE-456A-AD6D-0D7B1BEBC73E}">
      <dgm:prSet/>
      <dgm:spPr/>
      <dgm:t>
        <a:bodyPr/>
        <a:lstStyle/>
        <a:p>
          <a:endParaRPr lang="en-US"/>
        </a:p>
      </dgm:t>
    </dgm:pt>
    <dgm:pt modelId="{7EC3274B-6112-4D23-AA02-190B3523E626}">
      <dgm:prSet/>
      <dgm:spPr/>
      <dgm:t>
        <a:bodyPr/>
        <a:lstStyle/>
        <a:p>
          <a:pPr rtl="0"/>
          <a:r>
            <a:rPr lang="en-US" dirty="0" smtClean="0"/>
            <a:t>Week 2: Monday, Wednesday, Friday (AM / PM)</a:t>
          </a:r>
          <a:endParaRPr lang="en-US" dirty="0"/>
        </a:p>
      </dgm:t>
    </dgm:pt>
    <dgm:pt modelId="{07C54337-9CB3-4ECC-BCE9-A51108FA1ADB}" type="parTrans" cxnId="{BF08E3C6-F1D0-4031-B936-BBCB20D2EE2C}">
      <dgm:prSet/>
      <dgm:spPr/>
      <dgm:t>
        <a:bodyPr/>
        <a:lstStyle/>
        <a:p>
          <a:endParaRPr lang="en-US"/>
        </a:p>
      </dgm:t>
    </dgm:pt>
    <dgm:pt modelId="{D7AC8B3B-E3F1-4AE6-95C7-6AA973B3FBA9}" type="sibTrans" cxnId="{BF08E3C6-F1D0-4031-B936-BBCB20D2EE2C}">
      <dgm:prSet/>
      <dgm:spPr/>
      <dgm:t>
        <a:bodyPr/>
        <a:lstStyle/>
        <a:p>
          <a:endParaRPr lang="en-US"/>
        </a:p>
      </dgm:t>
    </dgm:pt>
    <dgm:pt modelId="{F549EB7B-5C36-420D-A74D-E398EB6C0AF4}">
      <dgm:prSet/>
      <dgm:spPr/>
      <dgm:t>
        <a:bodyPr/>
        <a:lstStyle/>
        <a:p>
          <a:pPr rtl="0"/>
          <a:r>
            <a:rPr lang="en-US" dirty="0" smtClean="0"/>
            <a:t>2 Hours Per Day</a:t>
          </a:r>
          <a:endParaRPr lang="en-US" dirty="0"/>
        </a:p>
      </dgm:t>
    </dgm:pt>
    <dgm:pt modelId="{8F8B5244-FD3B-4DAE-B069-2D3BDFA48963}" type="parTrans" cxnId="{6B203D93-82BE-434E-A92F-5DD0E9714DEA}">
      <dgm:prSet/>
      <dgm:spPr/>
      <dgm:t>
        <a:bodyPr/>
        <a:lstStyle/>
        <a:p>
          <a:endParaRPr lang="en-US"/>
        </a:p>
      </dgm:t>
    </dgm:pt>
    <dgm:pt modelId="{82C5E383-7575-4ACA-BCA9-67450274BE0A}" type="sibTrans" cxnId="{6B203D93-82BE-434E-A92F-5DD0E9714DEA}">
      <dgm:prSet/>
      <dgm:spPr/>
      <dgm:t>
        <a:bodyPr/>
        <a:lstStyle/>
        <a:p>
          <a:endParaRPr lang="en-US"/>
        </a:p>
      </dgm:t>
    </dgm:pt>
    <dgm:pt modelId="{9F95EC3E-0DD9-41A8-AE4E-959A4D482874}">
      <dgm:prSet/>
      <dgm:spPr/>
      <dgm:t>
        <a:bodyPr/>
        <a:lstStyle/>
        <a:p>
          <a:pPr rtl="0"/>
          <a:r>
            <a:rPr lang="en-US" smtClean="0"/>
            <a:t>Open Discussion	</a:t>
          </a:r>
          <a:endParaRPr lang="en-US"/>
        </a:p>
      </dgm:t>
    </dgm:pt>
    <dgm:pt modelId="{6E1D0797-7527-4D14-A8F9-8628D9A36BCC}" type="parTrans" cxnId="{2C5871EB-D920-41D9-84F1-5B2F8387487A}">
      <dgm:prSet/>
      <dgm:spPr/>
      <dgm:t>
        <a:bodyPr/>
        <a:lstStyle/>
        <a:p>
          <a:endParaRPr lang="en-US"/>
        </a:p>
      </dgm:t>
    </dgm:pt>
    <dgm:pt modelId="{3FAD159C-9921-46FB-9315-7C79C3286F50}" type="sibTrans" cxnId="{2C5871EB-D920-41D9-84F1-5B2F8387487A}">
      <dgm:prSet/>
      <dgm:spPr/>
      <dgm:t>
        <a:bodyPr/>
        <a:lstStyle/>
        <a:p>
          <a:endParaRPr lang="en-US"/>
        </a:p>
      </dgm:t>
    </dgm:pt>
    <dgm:pt modelId="{4C3F3C11-1665-464F-BD1F-9E9651B96E1E}">
      <dgm:prSet/>
      <dgm:spPr/>
      <dgm:t>
        <a:bodyPr/>
        <a:lstStyle/>
        <a:p>
          <a:pPr rtl="0"/>
          <a:r>
            <a:rPr lang="en-US" smtClean="0"/>
            <a:t>Week 1: Friday (PM)</a:t>
          </a:r>
          <a:endParaRPr lang="en-US"/>
        </a:p>
      </dgm:t>
    </dgm:pt>
    <dgm:pt modelId="{2F887582-CEF3-497D-A837-DC728E50EF85}" type="parTrans" cxnId="{38D5B218-299A-47F7-9D15-84C8F6473BD5}">
      <dgm:prSet/>
      <dgm:spPr/>
      <dgm:t>
        <a:bodyPr/>
        <a:lstStyle/>
        <a:p>
          <a:endParaRPr lang="en-US"/>
        </a:p>
      </dgm:t>
    </dgm:pt>
    <dgm:pt modelId="{DD71F5C8-4EF5-4C6F-8B1F-AB64E669EDA9}" type="sibTrans" cxnId="{38D5B218-299A-47F7-9D15-84C8F6473BD5}">
      <dgm:prSet/>
      <dgm:spPr/>
      <dgm:t>
        <a:bodyPr/>
        <a:lstStyle/>
        <a:p>
          <a:endParaRPr lang="en-US"/>
        </a:p>
      </dgm:t>
    </dgm:pt>
    <dgm:pt modelId="{67395459-DBF0-4BF8-A9C8-81720DA5A18C}">
      <dgm:prSet/>
      <dgm:spPr/>
      <dgm:t>
        <a:bodyPr/>
        <a:lstStyle/>
        <a:p>
          <a:pPr rtl="0"/>
          <a:r>
            <a:rPr lang="en-US" dirty="0" smtClean="0"/>
            <a:t>Week 2: Friday (PM)</a:t>
          </a:r>
          <a:endParaRPr lang="en-US" dirty="0"/>
        </a:p>
      </dgm:t>
    </dgm:pt>
    <dgm:pt modelId="{ED546F0A-F1C5-45D4-AF3E-458D40BD60DC}" type="parTrans" cxnId="{AF95B431-42BF-48DE-837D-1BF2A6D659DC}">
      <dgm:prSet/>
      <dgm:spPr/>
      <dgm:t>
        <a:bodyPr/>
        <a:lstStyle/>
        <a:p>
          <a:endParaRPr lang="en-US"/>
        </a:p>
      </dgm:t>
    </dgm:pt>
    <dgm:pt modelId="{12AAA86F-356D-47E4-B993-B196103B7B00}" type="sibTrans" cxnId="{AF95B431-42BF-48DE-837D-1BF2A6D659DC}">
      <dgm:prSet/>
      <dgm:spPr/>
      <dgm:t>
        <a:bodyPr/>
        <a:lstStyle/>
        <a:p>
          <a:endParaRPr lang="en-US"/>
        </a:p>
      </dgm:t>
    </dgm:pt>
    <dgm:pt modelId="{7B1A2C41-7C16-414B-BFD7-5CF3A3384899}">
      <dgm:prSet/>
      <dgm:spPr/>
      <dgm:t>
        <a:bodyPr/>
        <a:lstStyle/>
        <a:p>
          <a:pPr rtl="0"/>
          <a:r>
            <a:rPr lang="en-US" dirty="0" smtClean="0"/>
            <a:t>1 Hour</a:t>
          </a:r>
          <a:endParaRPr lang="en-US" dirty="0"/>
        </a:p>
      </dgm:t>
    </dgm:pt>
    <dgm:pt modelId="{2ABC19C7-CD97-4FD1-A619-E0329ABF069C}" type="parTrans" cxnId="{0EEE3264-63F3-4B60-832E-64645B54CFDF}">
      <dgm:prSet/>
      <dgm:spPr/>
      <dgm:t>
        <a:bodyPr/>
        <a:lstStyle/>
        <a:p>
          <a:endParaRPr lang="en-US"/>
        </a:p>
      </dgm:t>
    </dgm:pt>
    <dgm:pt modelId="{3CD12CE8-BECB-46E7-8281-49E4CBFA3D7D}" type="sibTrans" cxnId="{0EEE3264-63F3-4B60-832E-64645B54CFDF}">
      <dgm:prSet/>
      <dgm:spPr/>
      <dgm:t>
        <a:bodyPr/>
        <a:lstStyle/>
        <a:p>
          <a:endParaRPr lang="en-US"/>
        </a:p>
      </dgm:t>
    </dgm:pt>
    <dgm:pt modelId="{389FFF84-B6C5-437B-B988-A539D19F9D12}">
      <dgm:prSet/>
      <dgm:spPr/>
      <dgm:t>
        <a:bodyPr/>
        <a:lstStyle/>
        <a:p>
          <a:pPr rtl="0"/>
          <a:r>
            <a:rPr lang="en-US" dirty="0" smtClean="0"/>
            <a:t>Training Modules</a:t>
          </a:r>
          <a:endParaRPr lang="en-US" dirty="0"/>
        </a:p>
      </dgm:t>
    </dgm:pt>
    <dgm:pt modelId="{B35B1547-DBB5-4120-9128-9EB44EDE2B39}" type="parTrans" cxnId="{EAA5370C-7D93-4971-BBB2-40D9E0167187}">
      <dgm:prSet/>
      <dgm:spPr/>
      <dgm:t>
        <a:bodyPr/>
        <a:lstStyle/>
        <a:p>
          <a:endParaRPr lang="en-US"/>
        </a:p>
      </dgm:t>
    </dgm:pt>
    <dgm:pt modelId="{0D78BC0F-095B-419F-B074-395C15A41CD9}" type="sibTrans" cxnId="{EAA5370C-7D93-4971-BBB2-40D9E0167187}">
      <dgm:prSet/>
      <dgm:spPr/>
      <dgm:t>
        <a:bodyPr/>
        <a:lstStyle/>
        <a:p>
          <a:endParaRPr lang="en-US"/>
        </a:p>
      </dgm:t>
    </dgm:pt>
    <dgm:pt modelId="{BB4EA59C-3DA4-4956-A918-E5C0DB755CEC}" type="pres">
      <dgm:prSet presAssocID="{18BE0EB0-FC08-4DF1-B319-6EACF399A571}" presName="linear" presStyleCnt="0">
        <dgm:presLayoutVars>
          <dgm:animLvl val="lvl"/>
          <dgm:resizeHandles val="exact"/>
        </dgm:presLayoutVars>
      </dgm:prSet>
      <dgm:spPr/>
      <dgm:t>
        <a:bodyPr/>
        <a:lstStyle/>
        <a:p>
          <a:endParaRPr lang="en-US"/>
        </a:p>
      </dgm:t>
    </dgm:pt>
    <dgm:pt modelId="{E171FF2D-85DB-4399-90EA-5E4114D40A93}" type="pres">
      <dgm:prSet presAssocID="{856834C2-EF32-4A6F-89AF-B8F220EB0694}" presName="parentText" presStyleLbl="node1" presStyleIdx="0" presStyleCnt="3">
        <dgm:presLayoutVars>
          <dgm:chMax val="0"/>
          <dgm:bulletEnabled val="1"/>
        </dgm:presLayoutVars>
      </dgm:prSet>
      <dgm:spPr/>
      <dgm:t>
        <a:bodyPr/>
        <a:lstStyle/>
        <a:p>
          <a:endParaRPr lang="en-US"/>
        </a:p>
      </dgm:t>
    </dgm:pt>
    <dgm:pt modelId="{326C9151-E439-4B19-AD2E-220337386465}" type="pres">
      <dgm:prSet presAssocID="{856834C2-EF32-4A6F-89AF-B8F220EB0694}" presName="childText" presStyleLbl="revTx" presStyleIdx="0" presStyleCnt="2">
        <dgm:presLayoutVars>
          <dgm:bulletEnabled val="1"/>
        </dgm:presLayoutVars>
      </dgm:prSet>
      <dgm:spPr/>
      <dgm:t>
        <a:bodyPr/>
        <a:lstStyle/>
        <a:p>
          <a:endParaRPr lang="en-US"/>
        </a:p>
      </dgm:t>
    </dgm:pt>
    <dgm:pt modelId="{5A95DE4E-4DE1-4524-ABBE-124295AF1ACA}" type="pres">
      <dgm:prSet presAssocID="{9F95EC3E-0DD9-41A8-AE4E-959A4D482874}" presName="parentText" presStyleLbl="node1" presStyleIdx="1" presStyleCnt="3">
        <dgm:presLayoutVars>
          <dgm:chMax val="0"/>
          <dgm:bulletEnabled val="1"/>
        </dgm:presLayoutVars>
      </dgm:prSet>
      <dgm:spPr/>
      <dgm:t>
        <a:bodyPr/>
        <a:lstStyle/>
        <a:p>
          <a:endParaRPr lang="en-US"/>
        </a:p>
      </dgm:t>
    </dgm:pt>
    <dgm:pt modelId="{BA5CE4A0-DECB-4C40-A135-D2566350476B}" type="pres">
      <dgm:prSet presAssocID="{9F95EC3E-0DD9-41A8-AE4E-959A4D482874}" presName="childText" presStyleLbl="revTx" presStyleIdx="1" presStyleCnt="2">
        <dgm:presLayoutVars>
          <dgm:bulletEnabled val="1"/>
        </dgm:presLayoutVars>
      </dgm:prSet>
      <dgm:spPr/>
      <dgm:t>
        <a:bodyPr/>
        <a:lstStyle/>
        <a:p>
          <a:endParaRPr lang="en-US"/>
        </a:p>
      </dgm:t>
    </dgm:pt>
    <dgm:pt modelId="{29F5E44F-3CD7-430B-AB86-0F7AA1320257}" type="pres">
      <dgm:prSet presAssocID="{389FFF84-B6C5-437B-B988-A539D19F9D12}" presName="parentText" presStyleLbl="node1" presStyleIdx="2" presStyleCnt="3">
        <dgm:presLayoutVars>
          <dgm:chMax val="0"/>
          <dgm:bulletEnabled val="1"/>
        </dgm:presLayoutVars>
      </dgm:prSet>
      <dgm:spPr/>
      <dgm:t>
        <a:bodyPr/>
        <a:lstStyle/>
        <a:p>
          <a:endParaRPr lang="en-US"/>
        </a:p>
      </dgm:t>
    </dgm:pt>
  </dgm:ptLst>
  <dgm:cxnLst>
    <dgm:cxn modelId="{593777DA-B6DA-4DA2-AED3-B72F65B93441}" type="presOf" srcId="{0C67ACC6-F6D8-44EC-8C31-AF64D5D4FF7E}" destId="{326C9151-E439-4B19-AD2E-220337386465}" srcOrd="0" destOrd="0" presId="urn:microsoft.com/office/officeart/2005/8/layout/vList2"/>
    <dgm:cxn modelId="{2C5871EB-D920-41D9-84F1-5B2F8387487A}" srcId="{18BE0EB0-FC08-4DF1-B319-6EACF399A571}" destId="{9F95EC3E-0DD9-41A8-AE4E-959A4D482874}" srcOrd="1" destOrd="0" parTransId="{6E1D0797-7527-4D14-A8F9-8628D9A36BCC}" sibTransId="{3FAD159C-9921-46FB-9315-7C79C3286F50}"/>
    <dgm:cxn modelId="{CD5F1790-A37B-4521-9434-F63966549ACA}" srcId="{18BE0EB0-FC08-4DF1-B319-6EACF399A571}" destId="{856834C2-EF32-4A6F-89AF-B8F220EB0694}" srcOrd="0" destOrd="0" parTransId="{0FACC271-3DC7-495F-9B71-0E2C7C04EE08}" sibTransId="{95E2C959-0B4D-4162-B854-C9130526E592}"/>
    <dgm:cxn modelId="{406BCA11-57EE-456A-AD6D-0D7B1BEBC73E}" srcId="{856834C2-EF32-4A6F-89AF-B8F220EB0694}" destId="{0C67ACC6-F6D8-44EC-8C31-AF64D5D4FF7E}" srcOrd="0" destOrd="0" parTransId="{DF797257-2AB6-4E4E-8D58-6C5F07595471}" sibTransId="{C368CD38-6B6A-46F4-9EC5-B1F1B23DCCF3}"/>
    <dgm:cxn modelId="{DEB01DE3-C04E-45C1-AEF0-0EE89199339D}" type="presOf" srcId="{9F95EC3E-0DD9-41A8-AE4E-959A4D482874}" destId="{5A95DE4E-4DE1-4524-ABBE-124295AF1ACA}" srcOrd="0" destOrd="0" presId="urn:microsoft.com/office/officeart/2005/8/layout/vList2"/>
    <dgm:cxn modelId="{A81FF4E8-6F99-444D-AC12-090684A58467}" type="presOf" srcId="{4C3F3C11-1665-464F-BD1F-9E9651B96E1E}" destId="{BA5CE4A0-DECB-4C40-A135-D2566350476B}" srcOrd="0" destOrd="0" presId="urn:microsoft.com/office/officeart/2005/8/layout/vList2"/>
    <dgm:cxn modelId="{5833735D-B115-40C0-91C5-E578C19D9496}" type="presOf" srcId="{7EC3274B-6112-4D23-AA02-190B3523E626}" destId="{326C9151-E439-4B19-AD2E-220337386465}" srcOrd="0" destOrd="1" presId="urn:microsoft.com/office/officeart/2005/8/layout/vList2"/>
    <dgm:cxn modelId="{AF95B431-42BF-48DE-837D-1BF2A6D659DC}" srcId="{9F95EC3E-0DD9-41A8-AE4E-959A4D482874}" destId="{67395459-DBF0-4BF8-A9C8-81720DA5A18C}" srcOrd="1" destOrd="0" parTransId="{ED546F0A-F1C5-45D4-AF3E-458D40BD60DC}" sibTransId="{12AAA86F-356D-47E4-B993-B196103B7B00}"/>
    <dgm:cxn modelId="{38D5B218-299A-47F7-9D15-84C8F6473BD5}" srcId="{9F95EC3E-0DD9-41A8-AE4E-959A4D482874}" destId="{4C3F3C11-1665-464F-BD1F-9E9651B96E1E}" srcOrd="0" destOrd="0" parTransId="{2F887582-CEF3-497D-A837-DC728E50EF85}" sibTransId="{DD71F5C8-4EF5-4C6F-8B1F-AB64E669EDA9}"/>
    <dgm:cxn modelId="{0EEE3264-63F3-4B60-832E-64645B54CFDF}" srcId="{9F95EC3E-0DD9-41A8-AE4E-959A4D482874}" destId="{7B1A2C41-7C16-414B-BFD7-5CF3A3384899}" srcOrd="2" destOrd="0" parTransId="{2ABC19C7-CD97-4FD1-A619-E0329ABF069C}" sibTransId="{3CD12CE8-BECB-46E7-8281-49E4CBFA3D7D}"/>
    <dgm:cxn modelId="{294547D1-B361-4139-9866-10F58E720330}" type="presOf" srcId="{F549EB7B-5C36-420D-A74D-E398EB6C0AF4}" destId="{326C9151-E439-4B19-AD2E-220337386465}" srcOrd="0" destOrd="2" presId="urn:microsoft.com/office/officeart/2005/8/layout/vList2"/>
    <dgm:cxn modelId="{D0DB27F2-85FA-4949-AC91-07293893B2CC}" type="presOf" srcId="{856834C2-EF32-4A6F-89AF-B8F220EB0694}" destId="{E171FF2D-85DB-4399-90EA-5E4114D40A93}" srcOrd="0" destOrd="0" presId="urn:microsoft.com/office/officeart/2005/8/layout/vList2"/>
    <dgm:cxn modelId="{6B203D93-82BE-434E-A92F-5DD0E9714DEA}" srcId="{856834C2-EF32-4A6F-89AF-B8F220EB0694}" destId="{F549EB7B-5C36-420D-A74D-E398EB6C0AF4}" srcOrd="2" destOrd="0" parTransId="{8F8B5244-FD3B-4DAE-B069-2D3BDFA48963}" sibTransId="{82C5E383-7575-4ACA-BCA9-67450274BE0A}"/>
    <dgm:cxn modelId="{BF08E3C6-F1D0-4031-B936-BBCB20D2EE2C}" srcId="{856834C2-EF32-4A6F-89AF-B8F220EB0694}" destId="{7EC3274B-6112-4D23-AA02-190B3523E626}" srcOrd="1" destOrd="0" parTransId="{07C54337-9CB3-4ECC-BCE9-A51108FA1ADB}" sibTransId="{D7AC8B3B-E3F1-4AE6-95C7-6AA973B3FBA9}"/>
    <dgm:cxn modelId="{671FC683-E25D-4866-8687-87ED7208E347}" type="presOf" srcId="{67395459-DBF0-4BF8-A9C8-81720DA5A18C}" destId="{BA5CE4A0-DECB-4C40-A135-D2566350476B}" srcOrd="0" destOrd="1" presId="urn:microsoft.com/office/officeart/2005/8/layout/vList2"/>
    <dgm:cxn modelId="{D8D906A8-4A3A-48B2-A427-AD6BCD364196}" type="presOf" srcId="{389FFF84-B6C5-437B-B988-A539D19F9D12}" destId="{29F5E44F-3CD7-430B-AB86-0F7AA1320257}" srcOrd="0" destOrd="0" presId="urn:microsoft.com/office/officeart/2005/8/layout/vList2"/>
    <dgm:cxn modelId="{8B102594-2944-45EF-978D-06E98322B975}" type="presOf" srcId="{7B1A2C41-7C16-414B-BFD7-5CF3A3384899}" destId="{BA5CE4A0-DECB-4C40-A135-D2566350476B}" srcOrd="0" destOrd="2" presId="urn:microsoft.com/office/officeart/2005/8/layout/vList2"/>
    <dgm:cxn modelId="{B6C4EB29-286F-465A-8280-2D0B045B985C}" type="presOf" srcId="{18BE0EB0-FC08-4DF1-B319-6EACF399A571}" destId="{BB4EA59C-3DA4-4956-A918-E5C0DB755CEC}" srcOrd="0" destOrd="0" presId="urn:microsoft.com/office/officeart/2005/8/layout/vList2"/>
    <dgm:cxn modelId="{EAA5370C-7D93-4971-BBB2-40D9E0167187}" srcId="{18BE0EB0-FC08-4DF1-B319-6EACF399A571}" destId="{389FFF84-B6C5-437B-B988-A539D19F9D12}" srcOrd="2" destOrd="0" parTransId="{B35B1547-DBB5-4120-9128-9EB44EDE2B39}" sibTransId="{0D78BC0F-095B-419F-B074-395C15A41CD9}"/>
    <dgm:cxn modelId="{35190803-42C7-48D5-ADE2-28312CE266FA}" type="presParOf" srcId="{BB4EA59C-3DA4-4956-A918-E5C0DB755CEC}" destId="{E171FF2D-85DB-4399-90EA-5E4114D40A93}" srcOrd="0" destOrd="0" presId="urn:microsoft.com/office/officeart/2005/8/layout/vList2"/>
    <dgm:cxn modelId="{380BD347-5202-4AAB-B020-4DA248ACE291}" type="presParOf" srcId="{BB4EA59C-3DA4-4956-A918-E5C0DB755CEC}" destId="{326C9151-E439-4B19-AD2E-220337386465}" srcOrd="1" destOrd="0" presId="urn:microsoft.com/office/officeart/2005/8/layout/vList2"/>
    <dgm:cxn modelId="{C95B4D6D-D355-4155-89A3-D650EE54E160}" type="presParOf" srcId="{BB4EA59C-3DA4-4956-A918-E5C0DB755CEC}" destId="{5A95DE4E-4DE1-4524-ABBE-124295AF1ACA}" srcOrd="2" destOrd="0" presId="urn:microsoft.com/office/officeart/2005/8/layout/vList2"/>
    <dgm:cxn modelId="{70948A21-5B47-4D42-A97B-125D23BD82D7}" type="presParOf" srcId="{BB4EA59C-3DA4-4956-A918-E5C0DB755CEC}" destId="{BA5CE4A0-DECB-4C40-A135-D2566350476B}" srcOrd="3" destOrd="0" presId="urn:microsoft.com/office/officeart/2005/8/layout/vList2"/>
    <dgm:cxn modelId="{B32B02D7-8F57-4FE8-8E17-2E192A7AC81C}" type="presParOf" srcId="{BB4EA59C-3DA4-4956-A918-E5C0DB755CEC}" destId="{29F5E44F-3CD7-430B-AB86-0F7AA1320257}" srcOrd="4"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1FCE78C-4273-4FE7-BADB-483740C2B075}"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en-US"/>
        </a:p>
      </dgm:t>
    </dgm:pt>
    <dgm:pt modelId="{D5D7C695-C99A-4CF7-BD0E-C4624A0B5642}">
      <dgm:prSet/>
      <dgm:spPr/>
      <dgm:t>
        <a:bodyPr/>
        <a:lstStyle/>
        <a:p>
          <a:pPr rtl="0"/>
          <a:r>
            <a:rPr lang="en-US" smtClean="0"/>
            <a:t>C# Type Syntax</a:t>
          </a:r>
          <a:endParaRPr lang="en-US"/>
        </a:p>
      </dgm:t>
    </dgm:pt>
    <dgm:pt modelId="{F5F4EBCE-2985-4682-B9ED-5C60022908FF}" type="parTrans" cxnId="{C5681B4C-E7E0-4CC7-9954-22AC86B233B2}">
      <dgm:prSet/>
      <dgm:spPr/>
      <dgm:t>
        <a:bodyPr/>
        <a:lstStyle/>
        <a:p>
          <a:endParaRPr lang="en-US"/>
        </a:p>
      </dgm:t>
    </dgm:pt>
    <dgm:pt modelId="{B81A2B8F-907E-4D34-9614-E6E5A9FA2260}" type="sibTrans" cxnId="{C5681B4C-E7E0-4CC7-9954-22AC86B233B2}">
      <dgm:prSet/>
      <dgm:spPr/>
      <dgm:t>
        <a:bodyPr/>
        <a:lstStyle/>
        <a:p>
          <a:endParaRPr lang="en-US"/>
        </a:p>
      </dgm:t>
    </dgm:pt>
    <dgm:pt modelId="{7AB96B2A-70A4-4A60-961B-10E3170CCEF3}">
      <dgm:prSet/>
      <dgm:spPr/>
      <dgm:t>
        <a:bodyPr/>
        <a:lstStyle/>
        <a:p>
          <a:pPr rtl="0"/>
          <a:r>
            <a:rPr lang="en-US" smtClean="0"/>
            <a:t>Access to cmdlets providing access to .NET Framework classes</a:t>
          </a:r>
          <a:endParaRPr lang="en-US"/>
        </a:p>
      </dgm:t>
    </dgm:pt>
    <dgm:pt modelId="{8C5F6FF0-0DB6-45A9-B720-D7648C444262}" type="parTrans" cxnId="{8239AEE0-C554-4B23-A52F-2A1D3E5A07C8}">
      <dgm:prSet/>
      <dgm:spPr/>
      <dgm:t>
        <a:bodyPr/>
        <a:lstStyle/>
        <a:p>
          <a:endParaRPr lang="en-US"/>
        </a:p>
      </dgm:t>
    </dgm:pt>
    <dgm:pt modelId="{1309B26F-CA19-42D3-8D36-8A24A0CDD0B8}" type="sibTrans" cxnId="{8239AEE0-C554-4B23-A52F-2A1D3E5A07C8}">
      <dgm:prSet/>
      <dgm:spPr/>
      <dgm:t>
        <a:bodyPr/>
        <a:lstStyle/>
        <a:p>
          <a:endParaRPr lang="en-US"/>
        </a:p>
      </dgm:t>
    </dgm:pt>
    <dgm:pt modelId="{126A2126-BD4D-48B3-B858-7373B36984A3}">
      <dgm:prSet/>
      <dgm:spPr/>
      <dgm:t>
        <a:bodyPr/>
        <a:lstStyle/>
        <a:p>
          <a:pPr rtl="0"/>
          <a:r>
            <a:rPr lang="en-US" smtClean="0"/>
            <a:t>Support for regular expressions</a:t>
          </a:r>
          <a:endParaRPr lang="en-US"/>
        </a:p>
      </dgm:t>
    </dgm:pt>
    <dgm:pt modelId="{5B6F9CA2-2AB1-4BE5-89D2-79A85007DF4F}" type="parTrans" cxnId="{A1CBFF19-826C-4123-9E19-D95147671B96}">
      <dgm:prSet/>
      <dgm:spPr/>
      <dgm:t>
        <a:bodyPr/>
        <a:lstStyle/>
        <a:p>
          <a:endParaRPr lang="en-US"/>
        </a:p>
      </dgm:t>
    </dgm:pt>
    <dgm:pt modelId="{26E57540-E554-428B-B9CA-61A6622419AE}" type="sibTrans" cxnId="{A1CBFF19-826C-4123-9E19-D95147671B96}">
      <dgm:prSet/>
      <dgm:spPr/>
      <dgm:t>
        <a:bodyPr/>
        <a:lstStyle/>
        <a:p>
          <a:endParaRPr lang="en-US"/>
        </a:p>
      </dgm:t>
    </dgm:pt>
    <dgm:pt modelId="{AB77D758-F961-4DF8-8DD3-B2033DB35264}">
      <dgm:prSet/>
      <dgm:spPr/>
      <dgm:t>
        <a:bodyPr/>
        <a:lstStyle/>
        <a:p>
          <a:pPr rtl="0"/>
          <a:r>
            <a:rPr lang="en-US" smtClean="0"/>
            <a:t>A provider model that provides Windows PowerShell with access to hierarchical repositories (Registry, FileSystem, etc.)</a:t>
          </a:r>
          <a:endParaRPr lang="en-US"/>
        </a:p>
      </dgm:t>
    </dgm:pt>
    <dgm:pt modelId="{00C29578-8AE7-44F2-B24C-17133BA2633D}" type="parTrans" cxnId="{E9D739A7-E560-465C-8A7D-1BC3869B697A}">
      <dgm:prSet/>
      <dgm:spPr/>
      <dgm:t>
        <a:bodyPr/>
        <a:lstStyle/>
        <a:p>
          <a:endParaRPr lang="en-US"/>
        </a:p>
      </dgm:t>
    </dgm:pt>
    <dgm:pt modelId="{140F7DC1-3165-4D95-86A2-96673366F97D}" type="sibTrans" cxnId="{E9D739A7-E560-465C-8A7D-1BC3869B697A}">
      <dgm:prSet/>
      <dgm:spPr/>
      <dgm:t>
        <a:bodyPr/>
        <a:lstStyle/>
        <a:p>
          <a:endParaRPr lang="en-US"/>
        </a:p>
      </dgm:t>
    </dgm:pt>
    <dgm:pt modelId="{182EC797-8DDF-4162-B469-62C216AF0DFE}">
      <dgm:prSet/>
      <dgm:spPr/>
      <dgm:t>
        <a:bodyPr/>
        <a:lstStyle/>
        <a:p>
          <a:pPr rtl="0"/>
          <a:r>
            <a:rPr lang="en-US" smtClean="0"/>
            <a:t>Shorthand Support</a:t>
          </a:r>
          <a:endParaRPr lang="en-US"/>
        </a:p>
      </dgm:t>
    </dgm:pt>
    <dgm:pt modelId="{938512E7-9D96-4DF1-8FDE-E228D2254463}" type="parTrans" cxnId="{139B21D6-011F-49F5-B386-F44679B2C56D}">
      <dgm:prSet/>
      <dgm:spPr/>
      <dgm:t>
        <a:bodyPr/>
        <a:lstStyle/>
        <a:p>
          <a:endParaRPr lang="en-US"/>
        </a:p>
      </dgm:t>
    </dgm:pt>
    <dgm:pt modelId="{1B84ECE1-259F-46E0-8F1E-AE5DEEA16C15}" type="sibTrans" cxnId="{139B21D6-011F-49F5-B386-F44679B2C56D}">
      <dgm:prSet/>
      <dgm:spPr/>
      <dgm:t>
        <a:bodyPr/>
        <a:lstStyle/>
        <a:p>
          <a:endParaRPr lang="en-US"/>
        </a:p>
      </dgm:t>
    </dgm:pt>
    <dgm:pt modelId="{E1AF76FE-F201-4FE4-8A9C-E8A464DBBB1C}">
      <dgm:prSet/>
      <dgm:spPr/>
      <dgm:t>
        <a:bodyPr/>
        <a:lstStyle/>
        <a:p>
          <a:pPr rtl="0"/>
          <a:r>
            <a:rPr lang="en-US" smtClean="0"/>
            <a:t>Some Unix/Linux commands available</a:t>
          </a:r>
          <a:endParaRPr lang="en-US"/>
        </a:p>
      </dgm:t>
    </dgm:pt>
    <dgm:pt modelId="{BCC1D284-CA83-4C83-A63E-1200FEF13051}" type="parTrans" cxnId="{F7B7354F-560E-4527-B68D-387AFA194675}">
      <dgm:prSet/>
      <dgm:spPr/>
      <dgm:t>
        <a:bodyPr/>
        <a:lstStyle/>
        <a:p>
          <a:endParaRPr lang="en-US"/>
        </a:p>
      </dgm:t>
    </dgm:pt>
    <dgm:pt modelId="{7B84BF5F-FCBC-47B4-AE23-A29D44304E35}" type="sibTrans" cxnId="{F7B7354F-560E-4527-B68D-387AFA194675}">
      <dgm:prSet/>
      <dgm:spPr/>
      <dgm:t>
        <a:bodyPr/>
        <a:lstStyle/>
        <a:p>
          <a:endParaRPr lang="en-US"/>
        </a:p>
      </dgm:t>
    </dgm:pt>
    <dgm:pt modelId="{65370B49-D7F0-4940-A6CD-D452798527DF}" type="pres">
      <dgm:prSet presAssocID="{F1FCE78C-4273-4FE7-BADB-483740C2B075}" presName="compositeShape" presStyleCnt="0">
        <dgm:presLayoutVars>
          <dgm:dir/>
          <dgm:resizeHandles/>
        </dgm:presLayoutVars>
      </dgm:prSet>
      <dgm:spPr/>
      <dgm:t>
        <a:bodyPr/>
        <a:lstStyle/>
        <a:p>
          <a:endParaRPr lang="en-US"/>
        </a:p>
      </dgm:t>
    </dgm:pt>
    <dgm:pt modelId="{1AD53FB8-EB5B-43DE-9330-F47AD511FAC9}" type="pres">
      <dgm:prSet presAssocID="{F1FCE78C-4273-4FE7-BADB-483740C2B075}" presName="pyramid" presStyleLbl="node1" presStyleIdx="0" presStyleCnt="1"/>
      <dgm:spPr/>
    </dgm:pt>
    <dgm:pt modelId="{372862C9-35D4-4853-BFDF-AB7CA789ABF1}" type="pres">
      <dgm:prSet presAssocID="{F1FCE78C-4273-4FE7-BADB-483740C2B075}" presName="theList" presStyleCnt="0"/>
      <dgm:spPr/>
    </dgm:pt>
    <dgm:pt modelId="{08B1F496-FBB2-4BFC-8919-287175D42499}" type="pres">
      <dgm:prSet presAssocID="{D5D7C695-C99A-4CF7-BD0E-C4624A0B5642}" presName="aNode" presStyleLbl="fgAcc1" presStyleIdx="0" presStyleCnt="6">
        <dgm:presLayoutVars>
          <dgm:bulletEnabled val="1"/>
        </dgm:presLayoutVars>
      </dgm:prSet>
      <dgm:spPr/>
      <dgm:t>
        <a:bodyPr/>
        <a:lstStyle/>
        <a:p>
          <a:endParaRPr lang="en-US"/>
        </a:p>
      </dgm:t>
    </dgm:pt>
    <dgm:pt modelId="{CD880228-E3DE-4BC7-ADE6-3C1A0E9CAF72}" type="pres">
      <dgm:prSet presAssocID="{D5D7C695-C99A-4CF7-BD0E-C4624A0B5642}" presName="aSpace" presStyleCnt="0"/>
      <dgm:spPr/>
    </dgm:pt>
    <dgm:pt modelId="{B3A09FCF-156B-4240-BD3B-6A0DAC3F4B52}" type="pres">
      <dgm:prSet presAssocID="{7AB96B2A-70A4-4A60-961B-10E3170CCEF3}" presName="aNode" presStyleLbl="fgAcc1" presStyleIdx="1" presStyleCnt="6">
        <dgm:presLayoutVars>
          <dgm:bulletEnabled val="1"/>
        </dgm:presLayoutVars>
      </dgm:prSet>
      <dgm:spPr/>
      <dgm:t>
        <a:bodyPr/>
        <a:lstStyle/>
        <a:p>
          <a:endParaRPr lang="en-US"/>
        </a:p>
      </dgm:t>
    </dgm:pt>
    <dgm:pt modelId="{AFCA5639-8BEC-465B-BE0E-EF0A6ED28ACC}" type="pres">
      <dgm:prSet presAssocID="{7AB96B2A-70A4-4A60-961B-10E3170CCEF3}" presName="aSpace" presStyleCnt="0"/>
      <dgm:spPr/>
    </dgm:pt>
    <dgm:pt modelId="{6325FB4A-6041-4BD7-A332-3ECCF64076C9}" type="pres">
      <dgm:prSet presAssocID="{126A2126-BD4D-48B3-B858-7373B36984A3}" presName="aNode" presStyleLbl="fgAcc1" presStyleIdx="2" presStyleCnt="6">
        <dgm:presLayoutVars>
          <dgm:bulletEnabled val="1"/>
        </dgm:presLayoutVars>
      </dgm:prSet>
      <dgm:spPr/>
      <dgm:t>
        <a:bodyPr/>
        <a:lstStyle/>
        <a:p>
          <a:endParaRPr lang="en-US"/>
        </a:p>
      </dgm:t>
    </dgm:pt>
    <dgm:pt modelId="{75439212-937B-4657-900A-8501ECF347B2}" type="pres">
      <dgm:prSet presAssocID="{126A2126-BD4D-48B3-B858-7373B36984A3}" presName="aSpace" presStyleCnt="0"/>
      <dgm:spPr/>
    </dgm:pt>
    <dgm:pt modelId="{429310A8-22FC-4BF5-8092-A21231079C3A}" type="pres">
      <dgm:prSet presAssocID="{AB77D758-F961-4DF8-8DD3-B2033DB35264}" presName="aNode" presStyleLbl="fgAcc1" presStyleIdx="3" presStyleCnt="6">
        <dgm:presLayoutVars>
          <dgm:bulletEnabled val="1"/>
        </dgm:presLayoutVars>
      </dgm:prSet>
      <dgm:spPr/>
      <dgm:t>
        <a:bodyPr/>
        <a:lstStyle/>
        <a:p>
          <a:endParaRPr lang="en-US"/>
        </a:p>
      </dgm:t>
    </dgm:pt>
    <dgm:pt modelId="{0E375B12-CB66-4CAB-9842-E6F6A409D183}" type="pres">
      <dgm:prSet presAssocID="{AB77D758-F961-4DF8-8DD3-B2033DB35264}" presName="aSpace" presStyleCnt="0"/>
      <dgm:spPr/>
    </dgm:pt>
    <dgm:pt modelId="{7AE89318-CC8C-43FC-82AA-B29A363D07DB}" type="pres">
      <dgm:prSet presAssocID="{182EC797-8DDF-4162-B469-62C216AF0DFE}" presName="aNode" presStyleLbl="fgAcc1" presStyleIdx="4" presStyleCnt="6">
        <dgm:presLayoutVars>
          <dgm:bulletEnabled val="1"/>
        </dgm:presLayoutVars>
      </dgm:prSet>
      <dgm:spPr/>
      <dgm:t>
        <a:bodyPr/>
        <a:lstStyle/>
        <a:p>
          <a:endParaRPr lang="en-US"/>
        </a:p>
      </dgm:t>
    </dgm:pt>
    <dgm:pt modelId="{7407FD0C-5E7B-4475-A93A-EF8E198B88FD}" type="pres">
      <dgm:prSet presAssocID="{182EC797-8DDF-4162-B469-62C216AF0DFE}" presName="aSpace" presStyleCnt="0"/>
      <dgm:spPr/>
    </dgm:pt>
    <dgm:pt modelId="{9DF84638-B215-4B4D-9E39-7B91F6A2ECA0}" type="pres">
      <dgm:prSet presAssocID="{E1AF76FE-F201-4FE4-8A9C-E8A464DBBB1C}" presName="aNode" presStyleLbl="fgAcc1" presStyleIdx="5" presStyleCnt="6">
        <dgm:presLayoutVars>
          <dgm:bulletEnabled val="1"/>
        </dgm:presLayoutVars>
      </dgm:prSet>
      <dgm:spPr/>
      <dgm:t>
        <a:bodyPr/>
        <a:lstStyle/>
        <a:p>
          <a:endParaRPr lang="en-US"/>
        </a:p>
      </dgm:t>
    </dgm:pt>
    <dgm:pt modelId="{50B5C7A2-9418-426A-ADCD-56B660E28712}" type="pres">
      <dgm:prSet presAssocID="{E1AF76FE-F201-4FE4-8A9C-E8A464DBBB1C}" presName="aSpace" presStyleCnt="0"/>
      <dgm:spPr/>
    </dgm:pt>
  </dgm:ptLst>
  <dgm:cxnLst>
    <dgm:cxn modelId="{5EA64332-00E4-462C-8622-F982AD76CA6E}" type="presOf" srcId="{126A2126-BD4D-48B3-B858-7373B36984A3}" destId="{6325FB4A-6041-4BD7-A332-3ECCF64076C9}" srcOrd="0" destOrd="0" presId="urn:microsoft.com/office/officeart/2005/8/layout/pyramid2"/>
    <dgm:cxn modelId="{AF1A4F87-00ED-4A99-A75B-B0C4567DE3BA}" type="presOf" srcId="{E1AF76FE-F201-4FE4-8A9C-E8A464DBBB1C}" destId="{9DF84638-B215-4B4D-9E39-7B91F6A2ECA0}" srcOrd="0" destOrd="0" presId="urn:microsoft.com/office/officeart/2005/8/layout/pyramid2"/>
    <dgm:cxn modelId="{E9D739A7-E560-465C-8A7D-1BC3869B697A}" srcId="{F1FCE78C-4273-4FE7-BADB-483740C2B075}" destId="{AB77D758-F961-4DF8-8DD3-B2033DB35264}" srcOrd="3" destOrd="0" parTransId="{00C29578-8AE7-44F2-B24C-17133BA2633D}" sibTransId="{140F7DC1-3165-4D95-86A2-96673366F97D}"/>
    <dgm:cxn modelId="{F7B7354F-560E-4527-B68D-387AFA194675}" srcId="{F1FCE78C-4273-4FE7-BADB-483740C2B075}" destId="{E1AF76FE-F201-4FE4-8A9C-E8A464DBBB1C}" srcOrd="5" destOrd="0" parTransId="{BCC1D284-CA83-4C83-A63E-1200FEF13051}" sibTransId="{7B84BF5F-FCBC-47B4-AE23-A29D44304E35}"/>
    <dgm:cxn modelId="{8239AEE0-C554-4B23-A52F-2A1D3E5A07C8}" srcId="{F1FCE78C-4273-4FE7-BADB-483740C2B075}" destId="{7AB96B2A-70A4-4A60-961B-10E3170CCEF3}" srcOrd="1" destOrd="0" parTransId="{8C5F6FF0-0DB6-45A9-B720-D7648C444262}" sibTransId="{1309B26F-CA19-42D3-8D36-8A24A0CDD0B8}"/>
    <dgm:cxn modelId="{139B21D6-011F-49F5-B386-F44679B2C56D}" srcId="{F1FCE78C-4273-4FE7-BADB-483740C2B075}" destId="{182EC797-8DDF-4162-B469-62C216AF0DFE}" srcOrd="4" destOrd="0" parTransId="{938512E7-9D96-4DF1-8FDE-E228D2254463}" sibTransId="{1B84ECE1-259F-46E0-8F1E-AE5DEEA16C15}"/>
    <dgm:cxn modelId="{DDDE245D-DDD8-46D3-B45C-90F8704C487F}" type="presOf" srcId="{182EC797-8DDF-4162-B469-62C216AF0DFE}" destId="{7AE89318-CC8C-43FC-82AA-B29A363D07DB}" srcOrd="0" destOrd="0" presId="urn:microsoft.com/office/officeart/2005/8/layout/pyramid2"/>
    <dgm:cxn modelId="{A1CBFF19-826C-4123-9E19-D95147671B96}" srcId="{F1FCE78C-4273-4FE7-BADB-483740C2B075}" destId="{126A2126-BD4D-48B3-B858-7373B36984A3}" srcOrd="2" destOrd="0" parTransId="{5B6F9CA2-2AB1-4BE5-89D2-79A85007DF4F}" sibTransId="{26E57540-E554-428B-B9CA-61A6622419AE}"/>
    <dgm:cxn modelId="{C4B34338-B4A7-4AFF-84F6-4C84C271C85E}" type="presOf" srcId="{F1FCE78C-4273-4FE7-BADB-483740C2B075}" destId="{65370B49-D7F0-4940-A6CD-D452798527DF}" srcOrd="0" destOrd="0" presId="urn:microsoft.com/office/officeart/2005/8/layout/pyramid2"/>
    <dgm:cxn modelId="{FAABEB9F-84A4-4BCD-AAC4-C3F2E5A94D52}" type="presOf" srcId="{D5D7C695-C99A-4CF7-BD0E-C4624A0B5642}" destId="{08B1F496-FBB2-4BFC-8919-287175D42499}" srcOrd="0" destOrd="0" presId="urn:microsoft.com/office/officeart/2005/8/layout/pyramid2"/>
    <dgm:cxn modelId="{618B39CF-4254-4411-B8B6-C56404454FA0}" type="presOf" srcId="{7AB96B2A-70A4-4A60-961B-10E3170CCEF3}" destId="{B3A09FCF-156B-4240-BD3B-6A0DAC3F4B52}" srcOrd="0" destOrd="0" presId="urn:microsoft.com/office/officeart/2005/8/layout/pyramid2"/>
    <dgm:cxn modelId="{FB224DD6-2FDD-4A64-AB5E-A24DD9B4F959}" type="presOf" srcId="{AB77D758-F961-4DF8-8DD3-B2033DB35264}" destId="{429310A8-22FC-4BF5-8092-A21231079C3A}" srcOrd="0" destOrd="0" presId="urn:microsoft.com/office/officeart/2005/8/layout/pyramid2"/>
    <dgm:cxn modelId="{C5681B4C-E7E0-4CC7-9954-22AC86B233B2}" srcId="{F1FCE78C-4273-4FE7-BADB-483740C2B075}" destId="{D5D7C695-C99A-4CF7-BD0E-C4624A0B5642}" srcOrd="0" destOrd="0" parTransId="{F5F4EBCE-2985-4682-B9ED-5C60022908FF}" sibTransId="{B81A2B8F-907E-4D34-9614-E6E5A9FA2260}"/>
    <dgm:cxn modelId="{7AB42880-63A1-4E4D-BBBF-EA5BF109EED7}" type="presParOf" srcId="{65370B49-D7F0-4940-A6CD-D452798527DF}" destId="{1AD53FB8-EB5B-43DE-9330-F47AD511FAC9}" srcOrd="0" destOrd="0" presId="urn:microsoft.com/office/officeart/2005/8/layout/pyramid2"/>
    <dgm:cxn modelId="{029EC334-C7E9-4CD3-82BC-FAD35167777B}" type="presParOf" srcId="{65370B49-D7F0-4940-A6CD-D452798527DF}" destId="{372862C9-35D4-4853-BFDF-AB7CA789ABF1}" srcOrd="1" destOrd="0" presId="urn:microsoft.com/office/officeart/2005/8/layout/pyramid2"/>
    <dgm:cxn modelId="{75275485-6E0D-4E00-9374-397417948634}" type="presParOf" srcId="{372862C9-35D4-4853-BFDF-AB7CA789ABF1}" destId="{08B1F496-FBB2-4BFC-8919-287175D42499}" srcOrd="0" destOrd="0" presId="urn:microsoft.com/office/officeart/2005/8/layout/pyramid2"/>
    <dgm:cxn modelId="{33E8F099-393A-400B-8CB6-DE5C162C6EE9}" type="presParOf" srcId="{372862C9-35D4-4853-BFDF-AB7CA789ABF1}" destId="{CD880228-E3DE-4BC7-ADE6-3C1A0E9CAF72}" srcOrd="1" destOrd="0" presId="urn:microsoft.com/office/officeart/2005/8/layout/pyramid2"/>
    <dgm:cxn modelId="{91E8786D-9020-40DF-8F6A-177561728C59}" type="presParOf" srcId="{372862C9-35D4-4853-BFDF-AB7CA789ABF1}" destId="{B3A09FCF-156B-4240-BD3B-6A0DAC3F4B52}" srcOrd="2" destOrd="0" presId="urn:microsoft.com/office/officeart/2005/8/layout/pyramid2"/>
    <dgm:cxn modelId="{C2132C47-FAE8-479C-BD1D-3F0FC8D0D7CA}" type="presParOf" srcId="{372862C9-35D4-4853-BFDF-AB7CA789ABF1}" destId="{AFCA5639-8BEC-465B-BE0E-EF0A6ED28ACC}" srcOrd="3" destOrd="0" presId="urn:microsoft.com/office/officeart/2005/8/layout/pyramid2"/>
    <dgm:cxn modelId="{CC281ED7-822D-4A3D-B1DB-8BC4FF7A6CC5}" type="presParOf" srcId="{372862C9-35D4-4853-BFDF-AB7CA789ABF1}" destId="{6325FB4A-6041-4BD7-A332-3ECCF64076C9}" srcOrd="4" destOrd="0" presId="urn:microsoft.com/office/officeart/2005/8/layout/pyramid2"/>
    <dgm:cxn modelId="{1B3FF783-810B-45D1-80AE-DEEEC532C654}" type="presParOf" srcId="{372862C9-35D4-4853-BFDF-AB7CA789ABF1}" destId="{75439212-937B-4657-900A-8501ECF347B2}" srcOrd="5" destOrd="0" presId="urn:microsoft.com/office/officeart/2005/8/layout/pyramid2"/>
    <dgm:cxn modelId="{407656D0-1BF1-46F9-97B1-BE15B31495C5}" type="presParOf" srcId="{372862C9-35D4-4853-BFDF-AB7CA789ABF1}" destId="{429310A8-22FC-4BF5-8092-A21231079C3A}" srcOrd="6" destOrd="0" presId="urn:microsoft.com/office/officeart/2005/8/layout/pyramid2"/>
    <dgm:cxn modelId="{A71CFDA9-0A33-424A-B519-6D0FA2887670}" type="presParOf" srcId="{372862C9-35D4-4853-BFDF-AB7CA789ABF1}" destId="{0E375B12-CB66-4CAB-9842-E6F6A409D183}" srcOrd="7" destOrd="0" presId="urn:microsoft.com/office/officeart/2005/8/layout/pyramid2"/>
    <dgm:cxn modelId="{EB0410B8-F47C-438F-95C3-39202E6A1C5D}" type="presParOf" srcId="{372862C9-35D4-4853-BFDF-AB7CA789ABF1}" destId="{7AE89318-CC8C-43FC-82AA-B29A363D07DB}" srcOrd="8" destOrd="0" presId="urn:microsoft.com/office/officeart/2005/8/layout/pyramid2"/>
    <dgm:cxn modelId="{0F8C20E5-7455-4243-B445-DDBE89D453EB}" type="presParOf" srcId="{372862C9-35D4-4853-BFDF-AB7CA789ABF1}" destId="{7407FD0C-5E7B-4475-A93A-EF8E198B88FD}" srcOrd="9" destOrd="0" presId="urn:microsoft.com/office/officeart/2005/8/layout/pyramid2"/>
    <dgm:cxn modelId="{30F22DA0-6392-4324-ADBD-392AEDA8E502}" type="presParOf" srcId="{372862C9-35D4-4853-BFDF-AB7CA789ABF1}" destId="{9DF84638-B215-4B4D-9E39-7B91F6A2ECA0}" srcOrd="10" destOrd="0" presId="urn:microsoft.com/office/officeart/2005/8/layout/pyramid2"/>
    <dgm:cxn modelId="{0A5676F4-AADD-4527-83D3-5F5E1F270397}" type="presParOf" srcId="{372862C9-35D4-4853-BFDF-AB7CA789ABF1}" destId="{50B5C7A2-9418-426A-ADCD-56B660E28712}" srcOrd="11" destOrd="0" presId="urn:microsoft.com/office/officeart/2005/8/layout/pyramid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43314E-AED8-4F3F-8374-81D1C4F1289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4884A0-9FFF-42A5-B3BE-7A8F08A4E2A9}">
      <dgm:prSet custT="1"/>
      <dgm:spPr/>
      <dgm:t>
        <a:bodyPr/>
        <a:lstStyle/>
        <a:p>
          <a:pPr rtl="0"/>
          <a:r>
            <a:rPr lang="en-US" sz="2100" dirty="0" smtClean="0"/>
            <a:t>PowerShell Console</a:t>
          </a:r>
          <a:endParaRPr lang="en-US" sz="2100" dirty="0"/>
        </a:p>
      </dgm:t>
    </dgm:pt>
    <dgm:pt modelId="{1456CA73-E33A-4725-9E19-ADF279E4F931}" type="parTrans" cxnId="{B52C524C-54B6-44E6-896A-6236BFB07C1D}">
      <dgm:prSet/>
      <dgm:spPr/>
      <dgm:t>
        <a:bodyPr/>
        <a:lstStyle/>
        <a:p>
          <a:endParaRPr lang="en-US"/>
        </a:p>
      </dgm:t>
    </dgm:pt>
    <dgm:pt modelId="{47098321-EB07-4A8E-BC1B-73A5F4B8897D}" type="sibTrans" cxnId="{B52C524C-54B6-44E6-896A-6236BFB07C1D}">
      <dgm:prSet/>
      <dgm:spPr/>
      <dgm:t>
        <a:bodyPr/>
        <a:lstStyle/>
        <a:p>
          <a:endParaRPr lang="en-US"/>
        </a:p>
      </dgm:t>
    </dgm:pt>
    <dgm:pt modelId="{D913462C-4D92-4BEF-ACCD-5836495FA352}">
      <dgm:prSet custT="1"/>
      <dgm:spPr/>
      <dgm:t>
        <a:bodyPr/>
        <a:lstStyle/>
        <a:p>
          <a:pPr rtl="0"/>
          <a:r>
            <a:rPr lang="en-US" sz="1600" dirty="0" smtClean="0"/>
            <a:t>PowerShell’s default command line interface. </a:t>
          </a:r>
          <a:endParaRPr lang="en-US" sz="1600" dirty="0"/>
        </a:p>
      </dgm:t>
    </dgm:pt>
    <dgm:pt modelId="{1ABCE922-262B-4E4B-B4DD-B1EF11293B61}" type="parTrans" cxnId="{3D324C8D-EE0A-4003-9F59-AEB1E063A26D}">
      <dgm:prSet/>
      <dgm:spPr/>
      <dgm:t>
        <a:bodyPr/>
        <a:lstStyle/>
        <a:p>
          <a:endParaRPr lang="en-US"/>
        </a:p>
      </dgm:t>
    </dgm:pt>
    <dgm:pt modelId="{D87EA0C8-EA08-42C0-BED4-B3FF907B9431}" type="sibTrans" cxnId="{3D324C8D-EE0A-4003-9F59-AEB1E063A26D}">
      <dgm:prSet/>
      <dgm:spPr/>
      <dgm:t>
        <a:bodyPr/>
        <a:lstStyle/>
        <a:p>
          <a:endParaRPr lang="en-US"/>
        </a:p>
      </dgm:t>
    </dgm:pt>
    <dgm:pt modelId="{391D6585-4047-4A6A-A8C4-C8F8E19DBE43}">
      <dgm:prSet custT="1"/>
      <dgm:spPr/>
      <dgm:t>
        <a:bodyPr/>
        <a:lstStyle/>
        <a:p>
          <a:pPr rtl="0"/>
          <a:r>
            <a:rPr lang="en-US" sz="1600" dirty="0" smtClean="0"/>
            <a:t>Light Weight</a:t>
          </a:r>
          <a:endParaRPr lang="en-US" sz="1600" dirty="0"/>
        </a:p>
      </dgm:t>
    </dgm:pt>
    <dgm:pt modelId="{612B4BDB-C516-4A56-98E1-989EA2DDCBC6}" type="parTrans" cxnId="{05610487-D6E6-495C-BA46-CA5860066C36}">
      <dgm:prSet/>
      <dgm:spPr/>
      <dgm:t>
        <a:bodyPr/>
        <a:lstStyle/>
        <a:p>
          <a:endParaRPr lang="en-US"/>
        </a:p>
      </dgm:t>
    </dgm:pt>
    <dgm:pt modelId="{C2D43BB5-AD3D-4EE8-AA9F-6D84BE9B5709}" type="sibTrans" cxnId="{05610487-D6E6-495C-BA46-CA5860066C36}">
      <dgm:prSet/>
      <dgm:spPr/>
      <dgm:t>
        <a:bodyPr/>
        <a:lstStyle/>
        <a:p>
          <a:endParaRPr lang="en-US"/>
        </a:p>
      </dgm:t>
    </dgm:pt>
    <dgm:pt modelId="{0D48722A-9DC5-4962-93F7-B02BD9C7F067}">
      <dgm:prSet custT="1"/>
      <dgm:spPr/>
      <dgm:t>
        <a:bodyPr/>
        <a:lstStyle/>
        <a:p>
          <a:pPr rtl="0"/>
          <a:r>
            <a:rPr lang="en-US" sz="1600" dirty="0" smtClean="0"/>
            <a:t>Quick</a:t>
          </a:r>
          <a:endParaRPr lang="en-US" sz="1600" dirty="0"/>
        </a:p>
      </dgm:t>
    </dgm:pt>
    <dgm:pt modelId="{7969B374-A3E6-44EE-8968-5E047317C896}" type="parTrans" cxnId="{C9628644-7422-4C9D-B53E-334D2B7F4079}">
      <dgm:prSet/>
      <dgm:spPr/>
      <dgm:t>
        <a:bodyPr/>
        <a:lstStyle/>
        <a:p>
          <a:endParaRPr lang="en-US"/>
        </a:p>
      </dgm:t>
    </dgm:pt>
    <dgm:pt modelId="{5625C09B-B2DE-407A-BB6F-9F49604D71D8}" type="sibTrans" cxnId="{C9628644-7422-4C9D-B53E-334D2B7F4079}">
      <dgm:prSet/>
      <dgm:spPr/>
      <dgm:t>
        <a:bodyPr/>
        <a:lstStyle/>
        <a:p>
          <a:endParaRPr lang="en-US"/>
        </a:p>
      </dgm:t>
    </dgm:pt>
    <dgm:pt modelId="{120EDEFA-D432-411A-9CC3-72CE4C7D149A}">
      <dgm:prSet custT="1"/>
      <dgm:spPr/>
      <dgm:t>
        <a:bodyPr/>
        <a:lstStyle/>
        <a:p>
          <a:pPr rtl="0"/>
          <a:r>
            <a:rPr lang="en-US" sz="2100" dirty="0" smtClean="0"/>
            <a:t>PowerShell ISE (Interactive Scripting Environment) </a:t>
          </a:r>
          <a:endParaRPr lang="en-US" sz="2100" dirty="0"/>
        </a:p>
      </dgm:t>
    </dgm:pt>
    <dgm:pt modelId="{798CD608-FBC6-4D5F-B214-0D08C37E8FAD}" type="parTrans" cxnId="{9666212D-1414-47B9-8C2A-25CDC9C8104F}">
      <dgm:prSet/>
      <dgm:spPr/>
      <dgm:t>
        <a:bodyPr/>
        <a:lstStyle/>
        <a:p>
          <a:endParaRPr lang="en-US"/>
        </a:p>
      </dgm:t>
    </dgm:pt>
    <dgm:pt modelId="{8BCD3B27-7D93-46D1-BC5B-1F0723D56232}" type="sibTrans" cxnId="{9666212D-1414-47B9-8C2A-25CDC9C8104F}">
      <dgm:prSet/>
      <dgm:spPr/>
      <dgm:t>
        <a:bodyPr/>
        <a:lstStyle/>
        <a:p>
          <a:endParaRPr lang="en-US"/>
        </a:p>
      </dgm:t>
    </dgm:pt>
    <dgm:pt modelId="{09A9B8FC-FF67-4D09-8B6E-6BA32F8AD072}">
      <dgm:prSet custT="1"/>
      <dgm:spPr/>
      <dgm:t>
        <a:bodyPr/>
        <a:lstStyle/>
        <a:p>
          <a:pPr rtl="0"/>
          <a:r>
            <a:rPr lang="en-US" sz="1600" dirty="0" smtClean="0"/>
            <a:t>User Friendly</a:t>
          </a:r>
          <a:endParaRPr lang="en-US" sz="1600" dirty="0"/>
        </a:p>
      </dgm:t>
    </dgm:pt>
    <dgm:pt modelId="{295AEBE8-5FE9-42F8-AD60-8867FBB1C524}" type="parTrans" cxnId="{F2AD5676-7DF6-467F-955A-479FE8827D6E}">
      <dgm:prSet/>
      <dgm:spPr/>
      <dgm:t>
        <a:bodyPr/>
        <a:lstStyle/>
        <a:p>
          <a:endParaRPr lang="en-US"/>
        </a:p>
      </dgm:t>
    </dgm:pt>
    <dgm:pt modelId="{88C852DB-1A54-4C29-B4E9-4DF734D4F4FC}" type="sibTrans" cxnId="{F2AD5676-7DF6-467F-955A-479FE8827D6E}">
      <dgm:prSet/>
      <dgm:spPr/>
      <dgm:t>
        <a:bodyPr/>
        <a:lstStyle/>
        <a:p>
          <a:endParaRPr lang="en-US"/>
        </a:p>
      </dgm:t>
    </dgm:pt>
    <dgm:pt modelId="{EFDEA675-C616-4D85-92F7-430F6E022C82}">
      <dgm:prSet custT="1"/>
      <dgm:spPr/>
      <dgm:t>
        <a:bodyPr/>
        <a:lstStyle/>
        <a:p>
          <a:pPr rtl="0"/>
          <a:r>
            <a:rPr lang="en-US" sz="1600" dirty="0" smtClean="0"/>
            <a:t>Primarily used for Script Development</a:t>
          </a:r>
          <a:endParaRPr lang="en-US" sz="1600" dirty="0"/>
        </a:p>
      </dgm:t>
    </dgm:pt>
    <dgm:pt modelId="{555D393B-D176-490E-8718-22A730628D80}" type="parTrans" cxnId="{43EC2A2E-0F50-4B8F-92BA-853C1E5F4B63}">
      <dgm:prSet/>
      <dgm:spPr/>
      <dgm:t>
        <a:bodyPr/>
        <a:lstStyle/>
        <a:p>
          <a:endParaRPr lang="en-US"/>
        </a:p>
      </dgm:t>
    </dgm:pt>
    <dgm:pt modelId="{630F5F1F-03A8-4F86-BF3A-08057447E7F1}" type="sibTrans" cxnId="{43EC2A2E-0F50-4B8F-92BA-853C1E5F4B63}">
      <dgm:prSet/>
      <dgm:spPr/>
      <dgm:t>
        <a:bodyPr/>
        <a:lstStyle/>
        <a:p>
          <a:endParaRPr lang="en-US"/>
        </a:p>
      </dgm:t>
    </dgm:pt>
    <dgm:pt modelId="{3EE0CA3B-5902-4A8A-96CD-D9191D9CDF41}" type="pres">
      <dgm:prSet presAssocID="{2543314E-AED8-4F3F-8374-81D1C4F1289F}" presName="linear" presStyleCnt="0">
        <dgm:presLayoutVars>
          <dgm:animLvl val="lvl"/>
          <dgm:resizeHandles val="exact"/>
        </dgm:presLayoutVars>
      </dgm:prSet>
      <dgm:spPr/>
      <dgm:t>
        <a:bodyPr/>
        <a:lstStyle/>
        <a:p>
          <a:endParaRPr lang="en-US"/>
        </a:p>
      </dgm:t>
    </dgm:pt>
    <dgm:pt modelId="{4A5417B2-41FA-4F66-A3C5-1D0FB5AB2E4A}" type="pres">
      <dgm:prSet presAssocID="{804884A0-9FFF-42A5-B3BE-7A8F08A4E2A9}" presName="parentText" presStyleLbl="node1" presStyleIdx="0" presStyleCnt="2" custScaleY="29301" custLinFactY="-12239" custLinFactNeighborX="-43" custLinFactNeighborY="-100000">
        <dgm:presLayoutVars>
          <dgm:chMax val="0"/>
          <dgm:bulletEnabled val="1"/>
        </dgm:presLayoutVars>
      </dgm:prSet>
      <dgm:spPr/>
      <dgm:t>
        <a:bodyPr/>
        <a:lstStyle/>
        <a:p>
          <a:endParaRPr lang="en-US"/>
        </a:p>
      </dgm:t>
    </dgm:pt>
    <dgm:pt modelId="{141CB79B-8F8E-4E99-BEB7-63BB156F6118}" type="pres">
      <dgm:prSet presAssocID="{804884A0-9FFF-42A5-B3BE-7A8F08A4E2A9}" presName="childText" presStyleLbl="revTx" presStyleIdx="0" presStyleCnt="2" custLinFactNeighborY="-98201">
        <dgm:presLayoutVars>
          <dgm:bulletEnabled val="1"/>
        </dgm:presLayoutVars>
      </dgm:prSet>
      <dgm:spPr/>
      <dgm:t>
        <a:bodyPr/>
        <a:lstStyle/>
        <a:p>
          <a:endParaRPr lang="en-US"/>
        </a:p>
      </dgm:t>
    </dgm:pt>
    <dgm:pt modelId="{2D783479-3BB6-494B-9D8F-81F3A6AF74B4}" type="pres">
      <dgm:prSet presAssocID="{120EDEFA-D432-411A-9CC3-72CE4C7D149A}" presName="parentText" presStyleLbl="node1" presStyleIdx="1" presStyleCnt="2" custScaleY="31226" custLinFactY="-15519" custLinFactNeighborY="-100000">
        <dgm:presLayoutVars>
          <dgm:chMax val="0"/>
          <dgm:bulletEnabled val="1"/>
        </dgm:presLayoutVars>
      </dgm:prSet>
      <dgm:spPr/>
      <dgm:t>
        <a:bodyPr/>
        <a:lstStyle/>
        <a:p>
          <a:endParaRPr lang="en-US"/>
        </a:p>
      </dgm:t>
    </dgm:pt>
    <dgm:pt modelId="{5F0CBFF9-FAD6-4951-B28E-C04DEA1E64E0}" type="pres">
      <dgm:prSet presAssocID="{120EDEFA-D432-411A-9CC3-72CE4C7D149A}" presName="childText" presStyleLbl="revTx" presStyleIdx="1" presStyleCnt="2" custLinFactNeighborY="-97045">
        <dgm:presLayoutVars>
          <dgm:bulletEnabled val="1"/>
        </dgm:presLayoutVars>
      </dgm:prSet>
      <dgm:spPr/>
      <dgm:t>
        <a:bodyPr/>
        <a:lstStyle/>
        <a:p>
          <a:endParaRPr lang="en-US"/>
        </a:p>
      </dgm:t>
    </dgm:pt>
  </dgm:ptLst>
  <dgm:cxnLst>
    <dgm:cxn modelId="{F0932CD0-A298-4F60-881E-40809E4A2846}" type="presOf" srcId="{EFDEA675-C616-4D85-92F7-430F6E022C82}" destId="{5F0CBFF9-FAD6-4951-B28E-C04DEA1E64E0}" srcOrd="0" destOrd="1" presId="urn:microsoft.com/office/officeart/2005/8/layout/vList2"/>
    <dgm:cxn modelId="{85684FFB-C0D3-44C6-A0B9-C11D3BFBBFD3}" type="presOf" srcId="{0D48722A-9DC5-4962-93F7-B02BD9C7F067}" destId="{141CB79B-8F8E-4E99-BEB7-63BB156F6118}" srcOrd="0" destOrd="2" presId="urn:microsoft.com/office/officeart/2005/8/layout/vList2"/>
    <dgm:cxn modelId="{41FB95FF-B380-42CA-8773-DC3F3F2B490F}" type="presOf" srcId="{2543314E-AED8-4F3F-8374-81D1C4F1289F}" destId="{3EE0CA3B-5902-4A8A-96CD-D9191D9CDF41}" srcOrd="0" destOrd="0" presId="urn:microsoft.com/office/officeart/2005/8/layout/vList2"/>
    <dgm:cxn modelId="{F2AD5676-7DF6-467F-955A-479FE8827D6E}" srcId="{120EDEFA-D432-411A-9CC3-72CE4C7D149A}" destId="{09A9B8FC-FF67-4D09-8B6E-6BA32F8AD072}" srcOrd="0" destOrd="0" parTransId="{295AEBE8-5FE9-42F8-AD60-8867FBB1C524}" sibTransId="{88C852DB-1A54-4C29-B4E9-4DF734D4F4FC}"/>
    <dgm:cxn modelId="{46ECB8DE-C5ED-48D3-9FBF-84216CAFA608}" type="presOf" srcId="{391D6585-4047-4A6A-A8C4-C8F8E19DBE43}" destId="{141CB79B-8F8E-4E99-BEB7-63BB156F6118}" srcOrd="0" destOrd="1" presId="urn:microsoft.com/office/officeart/2005/8/layout/vList2"/>
    <dgm:cxn modelId="{05610487-D6E6-495C-BA46-CA5860066C36}" srcId="{804884A0-9FFF-42A5-B3BE-7A8F08A4E2A9}" destId="{391D6585-4047-4A6A-A8C4-C8F8E19DBE43}" srcOrd="1" destOrd="0" parTransId="{612B4BDB-C516-4A56-98E1-989EA2DDCBC6}" sibTransId="{C2D43BB5-AD3D-4EE8-AA9F-6D84BE9B5709}"/>
    <dgm:cxn modelId="{3D324C8D-EE0A-4003-9F59-AEB1E063A26D}" srcId="{804884A0-9FFF-42A5-B3BE-7A8F08A4E2A9}" destId="{D913462C-4D92-4BEF-ACCD-5836495FA352}" srcOrd="0" destOrd="0" parTransId="{1ABCE922-262B-4E4B-B4DD-B1EF11293B61}" sibTransId="{D87EA0C8-EA08-42C0-BED4-B3FF907B9431}"/>
    <dgm:cxn modelId="{9666212D-1414-47B9-8C2A-25CDC9C8104F}" srcId="{2543314E-AED8-4F3F-8374-81D1C4F1289F}" destId="{120EDEFA-D432-411A-9CC3-72CE4C7D149A}" srcOrd="1" destOrd="0" parTransId="{798CD608-FBC6-4D5F-B214-0D08C37E8FAD}" sibTransId="{8BCD3B27-7D93-46D1-BC5B-1F0723D56232}"/>
    <dgm:cxn modelId="{32108884-D478-4565-A806-72744A690421}" type="presOf" srcId="{120EDEFA-D432-411A-9CC3-72CE4C7D149A}" destId="{2D783479-3BB6-494B-9D8F-81F3A6AF74B4}" srcOrd="0" destOrd="0" presId="urn:microsoft.com/office/officeart/2005/8/layout/vList2"/>
    <dgm:cxn modelId="{AE24B118-9F4E-4410-824A-29DED934C3AE}" type="presOf" srcId="{804884A0-9FFF-42A5-B3BE-7A8F08A4E2A9}" destId="{4A5417B2-41FA-4F66-A3C5-1D0FB5AB2E4A}" srcOrd="0" destOrd="0" presId="urn:microsoft.com/office/officeart/2005/8/layout/vList2"/>
    <dgm:cxn modelId="{43EC2A2E-0F50-4B8F-92BA-853C1E5F4B63}" srcId="{120EDEFA-D432-411A-9CC3-72CE4C7D149A}" destId="{EFDEA675-C616-4D85-92F7-430F6E022C82}" srcOrd="1" destOrd="0" parTransId="{555D393B-D176-490E-8718-22A730628D80}" sibTransId="{630F5F1F-03A8-4F86-BF3A-08057447E7F1}"/>
    <dgm:cxn modelId="{B52C524C-54B6-44E6-896A-6236BFB07C1D}" srcId="{2543314E-AED8-4F3F-8374-81D1C4F1289F}" destId="{804884A0-9FFF-42A5-B3BE-7A8F08A4E2A9}" srcOrd="0" destOrd="0" parTransId="{1456CA73-E33A-4725-9E19-ADF279E4F931}" sibTransId="{47098321-EB07-4A8E-BC1B-73A5F4B8897D}"/>
    <dgm:cxn modelId="{C9628644-7422-4C9D-B53E-334D2B7F4079}" srcId="{804884A0-9FFF-42A5-B3BE-7A8F08A4E2A9}" destId="{0D48722A-9DC5-4962-93F7-B02BD9C7F067}" srcOrd="2" destOrd="0" parTransId="{7969B374-A3E6-44EE-8968-5E047317C896}" sibTransId="{5625C09B-B2DE-407A-BB6F-9F49604D71D8}"/>
    <dgm:cxn modelId="{12733527-AB11-4B84-A868-2B4449F10AD4}" type="presOf" srcId="{D913462C-4D92-4BEF-ACCD-5836495FA352}" destId="{141CB79B-8F8E-4E99-BEB7-63BB156F6118}" srcOrd="0" destOrd="0" presId="urn:microsoft.com/office/officeart/2005/8/layout/vList2"/>
    <dgm:cxn modelId="{5D067F14-25B2-475B-B230-125E1D2256C4}" type="presOf" srcId="{09A9B8FC-FF67-4D09-8B6E-6BA32F8AD072}" destId="{5F0CBFF9-FAD6-4951-B28E-C04DEA1E64E0}" srcOrd="0" destOrd="0" presId="urn:microsoft.com/office/officeart/2005/8/layout/vList2"/>
    <dgm:cxn modelId="{4EBB57C1-55C3-44D3-8A61-0DF1494BE204}" type="presParOf" srcId="{3EE0CA3B-5902-4A8A-96CD-D9191D9CDF41}" destId="{4A5417B2-41FA-4F66-A3C5-1D0FB5AB2E4A}" srcOrd="0" destOrd="0" presId="urn:microsoft.com/office/officeart/2005/8/layout/vList2"/>
    <dgm:cxn modelId="{29EC7C55-970B-4A92-B0BE-14E37071543F}" type="presParOf" srcId="{3EE0CA3B-5902-4A8A-96CD-D9191D9CDF41}" destId="{141CB79B-8F8E-4E99-BEB7-63BB156F6118}" srcOrd="1" destOrd="0" presId="urn:microsoft.com/office/officeart/2005/8/layout/vList2"/>
    <dgm:cxn modelId="{5163F280-DCB6-4212-A0E2-C205BC24E9DF}" type="presParOf" srcId="{3EE0CA3B-5902-4A8A-96CD-D9191D9CDF41}" destId="{2D783479-3BB6-494B-9D8F-81F3A6AF74B4}" srcOrd="2" destOrd="0" presId="urn:microsoft.com/office/officeart/2005/8/layout/vList2"/>
    <dgm:cxn modelId="{F96A31DE-1DC9-4006-8EE8-D48D0934E9B6}" type="presParOf" srcId="{3EE0CA3B-5902-4A8A-96CD-D9191D9CDF41}" destId="{5F0CBFF9-FAD6-4951-B28E-C04DEA1E64E0}" srcOrd="3"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69B0908-BF16-45D7-B3D2-9422DA3EA680}">
      <dsp:nvSpPr>
        <dsp:cNvPr id="0" name=""/>
        <dsp:cNvSpPr/>
      </dsp:nvSpPr>
      <dsp:spPr>
        <a:xfrm>
          <a:off x="0" y="116031"/>
          <a:ext cx="7369175" cy="5523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Multiple languages</a:t>
          </a:r>
          <a:endParaRPr lang="en-US" sz="2100" kern="1200" dirty="0"/>
        </a:p>
      </dsp:txBody>
      <dsp:txXfrm>
        <a:off x="0" y="116031"/>
        <a:ext cx="7369175" cy="552305"/>
      </dsp:txXfrm>
    </dsp:sp>
    <dsp:sp modelId="{8CF81F27-B886-41FB-9172-24E1040E2072}">
      <dsp:nvSpPr>
        <dsp:cNvPr id="0" name=""/>
        <dsp:cNvSpPr/>
      </dsp:nvSpPr>
      <dsp:spPr>
        <a:xfrm>
          <a:off x="0" y="744535"/>
          <a:ext cx="73691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0320" rIns="113792" bIns="2032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smtClean="0"/>
            <a:t>Support For Legacy Code</a:t>
          </a:r>
          <a:endParaRPr lang="en-US" sz="1600" kern="1200" dirty="0"/>
        </a:p>
      </dsp:txBody>
      <dsp:txXfrm>
        <a:off x="0" y="744535"/>
        <a:ext cx="7369175" cy="1076400"/>
      </dsp:txXfrm>
    </dsp:sp>
    <dsp:sp modelId="{0AFD25BB-472D-41C7-9AEF-C93BB83D673F}">
      <dsp:nvSpPr>
        <dsp:cNvPr id="0" name=""/>
        <dsp:cNvSpPr/>
      </dsp:nvSpPr>
      <dsp:spPr>
        <a:xfrm>
          <a:off x="0" y="1354132"/>
          <a:ext cx="7369175" cy="51827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err="1" smtClean="0"/>
            <a:t>Remoting</a:t>
          </a:r>
          <a:endParaRPr lang="en-US" sz="2100" kern="1200" dirty="0"/>
        </a:p>
      </dsp:txBody>
      <dsp:txXfrm>
        <a:off x="0" y="1354132"/>
        <a:ext cx="7369175" cy="518271"/>
      </dsp:txXfrm>
    </dsp:sp>
    <dsp:sp modelId="{2A6B2E35-93D3-410E-AF20-C270FFF57104}">
      <dsp:nvSpPr>
        <dsp:cNvPr id="0" name=""/>
        <dsp:cNvSpPr/>
      </dsp:nvSpPr>
      <dsp:spPr>
        <a:xfrm>
          <a:off x="0" y="1954138"/>
          <a:ext cx="73691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0320" rIns="113792" bIns="2032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smtClean="0"/>
            <a:t>Various Technologies Used</a:t>
          </a:r>
          <a:endParaRPr lang="en-US" sz="1600" kern="1200" dirty="0"/>
        </a:p>
        <a:p>
          <a:pPr marL="171450" lvl="1" indent="-171450" algn="l" defTabSz="711200" rtl="0">
            <a:lnSpc>
              <a:spcPct val="90000"/>
            </a:lnSpc>
            <a:spcBef>
              <a:spcPct val="0"/>
            </a:spcBef>
            <a:spcAft>
              <a:spcPct val="20000"/>
            </a:spcAft>
            <a:buChar char="••"/>
          </a:pPr>
          <a:r>
            <a:rPr lang="en-US" sz="1600" kern="1200" dirty="0" smtClean="0"/>
            <a:t>Firewall Friendly?</a:t>
          </a:r>
          <a:endParaRPr lang="en-US" sz="1600" kern="1200" dirty="0"/>
        </a:p>
      </dsp:txBody>
      <dsp:txXfrm>
        <a:off x="0" y="1954138"/>
        <a:ext cx="7369175" cy="1076400"/>
      </dsp:txXfrm>
    </dsp:sp>
    <dsp:sp modelId="{E0E96343-C5B9-43D8-87A6-61181937C692}">
      <dsp:nvSpPr>
        <dsp:cNvPr id="0" name=""/>
        <dsp:cNvSpPr/>
      </dsp:nvSpPr>
      <dsp:spPr>
        <a:xfrm>
          <a:off x="0" y="2743201"/>
          <a:ext cx="7369175" cy="5200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Code Locations</a:t>
          </a:r>
          <a:endParaRPr lang="en-US" sz="2100" kern="1200" dirty="0"/>
        </a:p>
      </dsp:txBody>
      <dsp:txXfrm>
        <a:off x="0" y="2743201"/>
        <a:ext cx="7369175" cy="520023"/>
      </dsp:txXfrm>
    </dsp:sp>
    <dsp:sp modelId="{75CBEC85-6752-4CF2-A0C1-8696AF5B5E4B}">
      <dsp:nvSpPr>
        <dsp:cNvPr id="0" name=""/>
        <dsp:cNvSpPr/>
      </dsp:nvSpPr>
      <dsp:spPr>
        <a:xfrm>
          <a:off x="0" y="3343195"/>
          <a:ext cx="73691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0320" rIns="113792" bIns="2032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smtClean="0"/>
            <a:t>Multiple Locations</a:t>
          </a:r>
          <a:endParaRPr lang="en-US" sz="1600" kern="1200" dirty="0"/>
        </a:p>
        <a:p>
          <a:pPr marL="171450" lvl="1" indent="-171450" algn="l" defTabSz="711200" rtl="0">
            <a:lnSpc>
              <a:spcPct val="90000"/>
            </a:lnSpc>
            <a:spcBef>
              <a:spcPct val="0"/>
            </a:spcBef>
            <a:spcAft>
              <a:spcPct val="20000"/>
            </a:spcAft>
            <a:buChar char="••"/>
          </a:pPr>
          <a:r>
            <a:rPr lang="en-US" sz="1600" kern="1200" dirty="0" smtClean="0"/>
            <a:t>Versioning?</a:t>
          </a:r>
          <a:endParaRPr lang="en-US" sz="1600" kern="1200" dirty="0"/>
        </a:p>
      </dsp:txBody>
      <dsp:txXfrm>
        <a:off x="0" y="3343195"/>
        <a:ext cx="7369175" cy="107640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0B0FF36-B6E4-4AE3-8DEC-38C0B506B422}">
      <dsp:nvSpPr>
        <dsp:cNvPr id="0" name=""/>
        <dsp:cNvSpPr/>
      </dsp:nvSpPr>
      <dsp:spPr>
        <a:xfrm>
          <a:off x="0" y="139770"/>
          <a:ext cx="7369175" cy="4913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Standards</a:t>
          </a:r>
          <a:endParaRPr lang="en-US" sz="2100" kern="1200" dirty="0"/>
        </a:p>
      </dsp:txBody>
      <dsp:txXfrm>
        <a:off x="0" y="139770"/>
        <a:ext cx="7369175" cy="491399"/>
      </dsp:txXfrm>
    </dsp:sp>
    <dsp:sp modelId="{B2020D4A-751C-4CD0-934B-92C1E84B0C69}">
      <dsp:nvSpPr>
        <dsp:cNvPr id="0" name=""/>
        <dsp:cNvSpPr/>
      </dsp:nvSpPr>
      <dsp:spPr>
        <a:xfrm>
          <a:off x="0" y="631170"/>
          <a:ext cx="7369175"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smtClean="0"/>
            <a:t>Language</a:t>
          </a:r>
          <a:endParaRPr lang="en-US" sz="1600" kern="1200" dirty="0"/>
        </a:p>
        <a:p>
          <a:pPr marL="171450" lvl="1" indent="-171450" algn="l" defTabSz="711200" rtl="0">
            <a:lnSpc>
              <a:spcPct val="90000"/>
            </a:lnSpc>
            <a:spcBef>
              <a:spcPct val="0"/>
            </a:spcBef>
            <a:spcAft>
              <a:spcPct val="20000"/>
            </a:spcAft>
            <a:buChar char="••"/>
          </a:pPr>
          <a:r>
            <a:rPr lang="en-US" sz="1600" kern="1200" smtClean="0"/>
            <a:t>Remote Management</a:t>
          </a:r>
          <a:endParaRPr lang="en-US" sz="1600" kern="1200"/>
        </a:p>
        <a:p>
          <a:pPr marL="171450" lvl="1" indent="-171450" algn="l" defTabSz="711200" rtl="0">
            <a:lnSpc>
              <a:spcPct val="90000"/>
            </a:lnSpc>
            <a:spcBef>
              <a:spcPct val="0"/>
            </a:spcBef>
            <a:spcAft>
              <a:spcPct val="20000"/>
            </a:spcAft>
            <a:buChar char="••"/>
          </a:pPr>
          <a:r>
            <a:rPr lang="en-US" sz="1600" kern="1200" dirty="0" smtClean="0"/>
            <a:t>Repository</a:t>
          </a:r>
          <a:endParaRPr lang="en-US" sz="1600" kern="1200" dirty="0"/>
        </a:p>
      </dsp:txBody>
      <dsp:txXfrm>
        <a:off x="0" y="631170"/>
        <a:ext cx="7369175" cy="782460"/>
      </dsp:txXfrm>
    </dsp:sp>
    <dsp:sp modelId="{DBEDB8AB-3E38-49C9-97FC-44AFDF6D0A1F}">
      <dsp:nvSpPr>
        <dsp:cNvPr id="0" name=""/>
        <dsp:cNvSpPr/>
      </dsp:nvSpPr>
      <dsp:spPr>
        <a:xfrm>
          <a:off x="0" y="1413630"/>
          <a:ext cx="7369175" cy="4913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Processes</a:t>
          </a:r>
          <a:endParaRPr lang="en-US" sz="2100" kern="1200" dirty="0"/>
        </a:p>
      </dsp:txBody>
      <dsp:txXfrm>
        <a:off x="0" y="1413630"/>
        <a:ext cx="7369175" cy="491399"/>
      </dsp:txXfrm>
    </dsp:sp>
    <dsp:sp modelId="{F4A8F0CB-02B5-472A-BA2E-37CBF4650914}">
      <dsp:nvSpPr>
        <dsp:cNvPr id="0" name=""/>
        <dsp:cNvSpPr/>
      </dsp:nvSpPr>
      <dsp:spPr>
        <a:xfrm>
          <a:off x="0" y="1905030"/>
          <a:ext cx="7369175"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Peer Code Review</a:t>
          </a:r>
          <a:endParaRPr lang="en-US" sz="1600" kern="1200"/>
        </a:p>
      </dsp:txBody>
      <dsp:txXfrm>
        <a:off x="0" y="1905030"/>
        <a:ext cx="7369175" cy="347760"/>
      </dsp:txXfrm>
    </dsp:sp>
    <dsp:sp modelId="{C3299B3B-AEFC-434A-8B82-21DA227B00A2}">
      <dsp:nvSpPr>
        <dsp:cNvPr id="0" name=""/>
        <dsp:cNvSpPr/>
      </dsp:nvSpPr>
      <dsp:spPr>
        <a:xfrm>
          <a:off x="0" y="2252790"/>
          <a:ext cx="7369175" cy="4913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Training</a:t>
          </a:r>
          <a:endParaRPr lang="en-US" sz="2100" kern="1200"/>
        </a:p>
      </dsp:txBody>
      <dsp:txXfrm>
        <a:off x="0" y="2252790"/>
        <a:ext cx="7369175" cy="491399"/>
      </dsp:txXfrm>
    </dsp:sp>
    <dsp:sp modelId="{1962D778-1B32-406F-BFAD-907E5F713AF2}">
      <dsp:nvSpPr>
        <dsp:cNvPr id="0" name=""/>
        <dsp:cNvSpPr/>
      </dsp:nvSpPr>
      <dsp:spPr>
        <a:xfrm>
          <a:off x="0" y="2744190"/>
          <a:ext cx="7369175"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2 Week Training</a:t>
          </a:r>
          <a:endParaRPr lang="en-US" sz="1600" kern="1200"/>
        </a:p>
      </dsp:txBody>
      <dsp:txXfrm>
        <a:off x="0" y="2744190"/>
        <a:ext cx="7369175" cy="347760"/>
      </dsp:txXfrm>
    </dsp:sp>
    <dsp:sp modelId="{0C8CA59E-0019-41E1-A8D2-8AE301612C01}">
      <dsp:nvSpPr>
        <dsp:cNvPr id="0" name=""/>
        <dsp:cNvSpPr/>
      </dsp:nvSpPr>
      <dsp:spPr>
        <a:xfrm>
          <a:off x="0" y="3091950"/>
          <a:ext cx="7369175" cy="4913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Central Management</a:t>
          </a:r>
          <a:endParaRPr lang="en-US" sz="2100" kern="1200"/>
        </a:p>
      </dsp:txBody>
      <dsp:txXfrm>
        <a:off x="0" y="3091950"/>
        <a:ext cx="7369175" cy="491399"/>
      </dsp:txXfrm>
    </dsp:sp>
    <dsp:sp modelId="{143C0329-1B86-4042-8442-7FAFCA307C7E}">
      <dsp:nvSpPr>
        <dsp:cNvPr id="0" name=""/>
        <dsp:cNvSpPr/>
      </dsp:nvSpPr>
      <dsp:spPr>
        <a:xfrm>
          <a:off x="0" y="3583350"/>
          <a:ext cx="7369175" cy="521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Script Execution Point</a:t>
          </a:r>
          <a:endParaRPr lang="en-US" sz="1600" kern="1200"/>
        </a:p>
        <a:p>
          <a:pPr marL="171450" lvl="1" indent="-171450" algn="l" defTabSz="711200" rtl="0">
            <a:lnSpc>
              <a:spcPct val="90000"/>
            </a:lnSpc>
            <a:spcBef>
              <a:spcPct val="0"/>
            </a:spcBef>
            <a:spcAft>
              <a:spcPct val="20000"/>
            </a:spcAft>
            <a:buChar char="••"/>
          </a:pPr>
          <a:r>
            <a:rPr lang="en-US" sz="1600" kern="1200" smtClean="0"/>
            <a:t>Refreshed Hardware</a:t>
          </a:r>
          <a:endParaRPr lang="en-US" sz="1600" kern="1200"/>
        </a:p>
      </dsp:txBody>
      <dsp:txXfrm>
        <a:off x="0" y="3583350"/>
        <a:ext cx="7369175" cy="521640"/>
      </dsp:txXfrm>
    </dsp:sp>
    <dsp:sp modelId="{14F6ABDA-83BA-4C75-B608-2A82AA18B3A0}">
      <dsp:nvSpPr>
        <dsp:cNvPr id="0" name=""/>
        <dsp:cNvSpPr/>
      </dsp:nvSpPr>
      <dsp:spPr>
        <a:xfrm>
          <a:off x="0" y="4104990"/>
          <a:ext cx="7369175" cy="4913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Better Tools</a:t>
          </a:r>
          <a:endParaRPr lang="en-US" sz="2100" kern="1200"/>
        </a:p>
      </dsp:txBody>
      <dsp:txXfrm>
        <a:off x="0" y="4104990"/>
        <a:ext cx="7369175" cy="491399"/>
      </dsp:txXfrm>
    </dsp:sp>
    <dsp:sp modelId="{3F717ABE-C910-4D8D-B0DE-2F31FD42E7FA}">
      <dsp:nvSpPr>
        <dsp:cNvPr id="0" name=""/>
        <dsp:cNvSpPr/>
      </dsp:nvSpPr>
      <dsp:spPr>
        <a:xfrm>
          <a:off x="0" y="4596390"/>
          <a:ext cx="7369175" cy="521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Scripting Editor</a:t>
          </a:r>
          <a:endParaRPr lang="en-US" sz="1600" kern="1200"/>
        </a:p>
        <a:p>
          <a:pPr marL="171450" lvl="1" indent="-171450" algn="l" defTabSz="711200" rtl="0">
            <a:lnSpc>
              <a:spcPct val="90000"/>
            </a:lnSpc>
            <a:spcBef>
              <a:spcPct val="0"/>
            </a:spcBef>
            <a:spcAft>
              <a:spcPct val="20000"/>
            </a:spcAft>
            <a:buChar char="••"/>
          </a:pPr>
          <a:r>
            <a:rPr lang="en-US" sz="1600" kern="1200" dirty="0" smtClean="0"/>
            <a:t>Code Repository</a:t>
          </a:r>
          <a:endParaRPr lang="en-US" sz="1600" kern="1200" dirty="0"/>
        </a:p>
      </dsp:txBody>
      <dsp:txXfrm>
        <a:off x="0" y="4596390"/>
        <a:ext cx="7369175" cy="52164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771A30C-6BE8-47AF-B211-306E5E9217BE}">
      <dsp:nvSpPr>
        <dsp:cNvPr id="0" name=""/>
        <dsp:cNvSpPr/>
      </dsp:nvSpPr>
      <dsp:spPr>
        <a:xfrm>
          <a:off x="0" y="20355"/>
          <a:ext cx="7369175"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Language</a:t>
          </a:r>
          <a:endParaRPr lang="en-US" sz="2000" kern="1200" dirty="0"/>
        </a:p>
      </dsp:txBody>
      <dsp:txXfrm>
        <a:off x="0" y="20355"/>
        <a:ext cx="7369175" cy="468000"/>
      </dsp:txXfrm>
    </dsp:sp>
    <dsp:sp modelId="{F7EB624A-FC80-42BD-B462-ED2714A074A4}">
      <dsp:nvSpPr>
        <dsp:cNvPr id="0" name=""/>
        <dsp:cNvSpPr/>
      </dsp:nvSpPr>
      <dsp:spPr>
        <a:xfrm>
          <a:off x="0" y="488355"/>
          <a:ext cx="7369175"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smtClean="0"/>
            <a:t>Microsoft PowerShell 3.0</a:t>
          </a:r>
          <a:endParaRPr lang="en-US" sz="1600" kern="1200" dirty="0"/>
        </a:p>
        <a:p>
          <a:pPr marL="342900" lvl="2" indent="-171450" algn="l" defTabSz="711200" rtl="0">
            <a:lnSpc>
              <a:spcPct val="90000"/>
            </a:lnSpc>
            <a:spcBef>
              <a:spcPct val="0"/>
            </a:spcBef>
            <a:spcAft>
              <a:spcPct val="20000"/>
            </a:spcAft>
            <a:buChar char="••"/>
          </a:pPr>
          <a:r>
            <a:rPr lang="en-US" sz="1600" kern="1200" dirty="0" smtClean="0"/>
            <a:t>PowerShell is both a interactive shell and a scriptable language</a:t>
          </a:r>
          <a:endParaRPr lang="en-US" sz="1600" kern="1200" dirty="0"/>
        </a:p>
        <a:p>
          <a:pPr marL="342900" lvl="2" indent="-171450" algn="l" defTabSz="711200" rtl="0">
            <a:lnSpc>
              <a:spcPct val="90000"/>
            </a:lnSpc>
            <a:spcBef>
              <a:spcPct val="0"/>
            </a:spcBef>
            <a:spcAft>
              <a:spcPct val="20000"/>
            </a:spcAft>
            <a:buChar char="••"/>
          </a:pPr>
          <a:r>
            <a:rPr lang="en-US" sz="1600" kern="1200" dirty="0" smtClean="0"/>
            <a:t>Microsoft Road Map</a:t>
          </a:r>
          <a:endParaRPr lang="en-US" sz="1600" kern="1200" dirty="0"/>
        </a:p>
      </dsp:txBody>
      <dsp:txXfrm>
        <a:off x="0" y="488355"/>
        <a:ext cx="7369175" cy="786599"/>
      </dsp:txXfrm>
    </dsp:sp>
    <dsp:sp modelId="{F67244B8-D2F7-4C88-8AEA-FE051B6074B6}">
      <dsp:nvSpPr>
        <dsp:cNvPr id="0" name=""/>
        <dsp:cNvSpPr/>
      </dsp:nvSpPr>
      <dsp:spPr>
        <a:xfrm>
          <a:off x="0" y="1274955"/>
          <a:ext cx="7369175"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Remote Management</a:t>
          </a:r>
          <a:endParaRPr lang="en-US" sz="2000" kern="1200" dirty="0"/>
        </a:p>
      </dsp:txBody>
      <dsp:txXfrm>
        <a:off x="0" y="1274955"/>
        <a:ext cx="7369175" cy="468000"/>
      </dsp:txXfrm>
    </dsp:sp>
    <dsp:sp modelId="{1F0EA623-0976-4AD5-BA70-A3333C8148E9}">
      <dsp:nvSpPr>
        <dsp:cNvPr id="0" name=""/>
        <dsp:cNvSpPr/>
      </dsp:nvSpPr>
      <dsp:spPr>
        <a:xfrm>
          <a:off x="0" y="1742956"/>
          <a:ext cx="7369175"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Windows Remote Management (WinRM)</a:t>
          </a:r>
          <a:endParaRPr lang="en-US" sz="1600" kern="1200"/>
        </a:p>
        <a:p>
          <a:pPr marL="342900" lvl="2" indent="-171450" algn="l" defTabSz="711200" rtl="0">
            <a:lnSpc>
              <a:spcPct val="90000"/>
            </a:lnSpc>
            <a:spcBef>
              <a:spcPct val="0"/>
            </a:spcBef>
            <a:spcAft>
              <a:spcPct val="20000"/>
            </a:spcAft>
            <a:buChar char="••"/>
          </a:pPr>
          <a:r>
            <a:rPr lang="en-US" sz="1600" kern="1200" dirty="0" smtClean="0"/>
            <a:t>Integrated with PowerShell 2.0 and higher</a:t>
          </a:r>
          <a:endParaRPr lang="en-US" sz="1600" kern="1200" dirty="0"/>
        </a:p>
        <a:p>
          <a:pPr marL="342900" lvl="2" indent="-171450" algn="l" defTabSz="711200" rtl="0">
            <a:lnSpc>
              <a:spcPct val="90000"/>
            </a:lnSpc>
            <a:spcBef>
              <a:spcPct val="0"/>
            </a:spcBef>
            <a:spcAft>
              <a:spcPct val="20000"/>
            </a:spcAft>
            <a:buChar char="••"/>
          </a:pPr>
          <a:r>
            <a:rPr lang="en-US" sz="1600" kern="1200" dirty="0" smtClean="0"/>
            <a:t>Robust / Flexible / Secure</a:t>
          </a:r>
          <a:endParaRPr lang="en-US" sz="1600" kern="1200" dirty="0"/>
        </a:p>
        <a:p>
          <a:pPr marL="342900" lvl="2" indent="-171450" algn="l" defTabSz="711200" rtl="0">
            <a:lnSpc>
              <a:spcPct val="90000"/>
            </a:lnSpc>
            <a:spcBef>
              <a:spcPct val="0"/>
            </a:spcBef>
            <a:spcAft>
              <a:spcPct val="20000"/>
            </a:spcAft>
            <a:buChar char="••"/>
          </a:pPr>
          <a:r>
            <a:rPr lang="en-US" sz="1600" kern="1200" dirty="0" smtClean="0"/>
            <a:t>Easy Firewall Management</a:t>
          </a:r>
          <a:endParaRPr lang="en-US" sz="1600" kern="1200" dirty="0"/>
        </a:p>
      </dsp:txBody>
      <dsp:txXfrm>
        <a:off x="0" y="1742956"/>
        <a:ext cx="7369175" cy="1035000"/>
      </dsp:txXfrm>
    </dsp:sp>
    <dsp:sp modelId="{BEB071DE-DC07-4046-B3A9-190421698366}">
      <dsp:nvSpPr>
        <dsp:cNvPr id="0" name=""/>
        <dsp:cNvSpPr/>
      </dsp:nvSpPr>
      <dsp:spPr>
        <a:xfrm>
          <a:off x="0" y="2777956"/>
          <a:ext cx="7369175" cy="468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Repository</a:t>
          </a:r>
          <a:endParaRPr lang="en-US" sz="2000" kern="1200"/>
        </a:p>
      </dsp:txBody>
      <dsp:txXfrm>
        <a:off x="0" y="2777956"/>
        <a:ext cx="7369175" cy="468000"/>
      </dsp:txXfrm>
    </dsp:sp>
    <dsp:sp modelId="{AD3DAE29-E1FF-43C5-8CDF-97B022373CF3}">
      <dsp:nvSpPr>
        <dsp:cNvPr id="0" name=""/>
        <dsp:cNvSpPr/>
      </dsp:nvSpPr>
      <dsp:spPr>
        <a:xfrm>
          <a:off x="0" y="3245956"/>
          <a:ext cx="736917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smtClean="0"/>
            <a:t>Mercurial</a:t>
          </a:r>
          <a:endParaRPr lang="en-US" sz="1600" kern="1200"/>
        </a:p>
        <a:p>
          <a:pPr marL="342900" lvl="2" indent="-171450" algn="l" defTabSz="711200" rtl="0">
            <a:lnSpc>
              <a:spcPct val="90000"/>
            </a:lnSpc>
            <a:spcBef>
              <a:spcPct val="0"/>
            </a:spcBef>
            <a:spcAft>
              <a:spcPct val="20000"/>
            </a:spcAft>
            <a:buChar char="••"/>
          </a:pPr>
          <a:r>
            <a:rPr lang="en-US" sz="1600" kern="1200" smtClean="0"/>
            <a:t>Distributed Model</a:t>
          </a:r>
          <a:endParaRPr lang="en-US" sz="1600" kern="1200"/>
        </a:p>
        <a:p>
          <a:pPr marL="342900" lvl="2" indent="-171450" algn="l" defTabSz="711200" rtl="0">
            <a:lnSpc>
              <a:spcPct val="90000"/>
            </a:lnSpc>
            <a:spcBef>
              <a:spcPct val="0"/>
            </a:spcBef>
            <a:spcAft>
              <a:spcPct val="20000"/>
            </a:spcAft>
            <a:buChar char="••"/>
          </a:pPr>
          <a:r>
            <a:rPr lang="en-US" sz="1600" kern="1200" smtClean="0"/>
            <a:t>Branching Support</a:t>
          </a:r>
          <a:endParaRPr lang="en-US" sz="1600" kern="1200"/>
        </a:p>
        <a:p>
          <a:pPr marL="342900" lvl="2" indent="-171450" algn="l" defTabSz="711200" rtl="0">
            <a:lnSpc>
              <a:spcPct val="90000"/>
            </a:lnSpc>
            <a:spcBef>
              <a:spcPct val="0"/>
            </a:spcBef>
            <a:spcAft>
              <a:spcPct val="20000"/>
            </a:spcAft>
            <a:buChar char="••"/>
          </a:pPr>
          <a:r>
            <a:rPr lang="en-US" sz="1600" kern="1200" dirty="0" smtClean="0"/>
            <a:t>In-house Expertise</a:t>
          </a:r>
          <a:endParaRPr lang="en-US" sz="1600" kern="1200" dirty="0"/>
        </a:p>
        <a:p>
          <a:pPr marL="342900" lvl="2" indent="-171450" algn="l" defTabSz="711200" rtl="0">
            <a:lnSpc>
              <a:spcPct val="90000"/>
            </a:lnSpc>
            <a:spcBef>
              <a:spcPct val="0"/>
            </a:spcBef>
            <a:spcAft>
              <a:spcPct val="20000"/>
            </a:spcAft>
            <a:buChar char="••"/>
          </a:pPr>
          <a:r>
            <a:rPr lang="en-US" sz="1600" kern="1200" dirty="0" smtClean="0"/>
            <a:t>Free</a:t>
          </a:r>
          <a:endParaRPr lang="en-US" sz="1600" kern="1200" dirty="0"/>
        </a:p>
      </dsp:txBody>
      <dsp:txXfrm>
        <a:off x="0" y="3245956"/>
        <a:ext cx="7369175" cy="130410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13CA446-5BF0-45EA-81AB-9DCEA7AF3DB0}">
      <dsp:nvSpPr>
        <dsp:cNvPr id="0" name=""/>
        <dsp:cNvSpPr/>
      </dsp:nvSpPr>
      <dsp:spPr>
        <a:xfrm>
          <a:off x="0" y="0"/>
          <a:ext cx="7369175" cy="46520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Peer Code Review</a:t>
          </a:r>
          <a:endParaRPr lang="en-US" sz="1800" kern="1200" dirty="0"/>
        </a:p>
      </dsp:txBody>
      <dsp:txXfrm>
        <a:off x="0" y="0"/>
        <a:ext cx="7369175" cy="465206"/>
      </dsp:txXfrm>
    </dsp:sp>
    <dsp:sp modelId="{EFFAD5FA-AA66-4F29-B520-878B05DFC81D}">
      <dsp:nvSpPr>
        <dsp:cNvPr id="0" name=""/>
        <dsp:cNvSpPr/>
      </dsp:nvSpPr>
      <dsp:spPr>
        <a:xfrm>
          <a:off x="0" y="523805"/>
          <a:ext cx="73691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17780" rIns="99568" bIns="17780" numCol="1" spcCol="1270" anchor="t" anchorCtr="0">
          <a:noAutofit/>
        </a:bodyPr>
        <a:lstStyle/>
        <a:p>
          <a:pPr marL="114300" lvl="1" indent="-114300" algn="l" defTabSz="622300" rtl="0">
            <a:lnSpc>
              <a:spcPct val="90000"/>
            </a:lnSpc>
            <a:spcBef>
              <a:spcPct val="0"/>
            </a:spcBef>
            <a:spcAft>
              <a:spcPct val="20000"/>
            </a:spcAft>
            <a:buChar char="••"/>
          </a:pPr>
          <a:r>
            <a:rPr lang="en-US" sz="1400" kern="1200" dirty="0" smtClean="0"/>
            <a:t>Learning Opportunity</a:t>
          </a:r>
          <a:endParaRPr lang="en-US" sz="1400" kern="1200" dirty="0"/>
        </a:p>
        <a:p>
          <a:pPr marL="114300" lvl="1" indent="-114300" algn="l" defTabSz="622300" rtl="0">
            <a:lnSpc>
              <a:spcPct val="90000"/>
            </a:lnSpc>
            <a:spcBef>
              <a:spcPct val="0"/>
            </a:spcBef>
            <a:spcAft>
              <a:spcPct val="20000"/>
            </a:spcAft>
            <a:buChar char="••"/>
          </a:pPr>
          <a:r>
            <a:rPr lang="en-US" sz="1400" kern="1200" dirty="0" smtClean="0"/>
            <a:t>Stability</a:t>
          </a:r>
          <a:endParaRPr lang="en-US" sz="1400" kern="1200" dirty="0"/>
        </a:p>
        <a:p>
          <a:pPr marL="114300" lvl="1" indent="-114300" algn="l" defTabSz="622300" rtl="0">
            <a:lnSpc>
              <a:spcPct val="90000"/>
            </a:lnSpc>
            <a:spcBef>
              <a:spcPct val="0"/>
            </a:spcBef>
            <a:spcAft>
              <a:spcPct val="20000"/>
            </a:spcAft>
            <a:buChar char="••"/>
          </a:pPr>
          <a:r>
            <a:rPr lang="en-US" sz="1400" kern="1200" dirty="0" smtClean="0"/>
            <a:t>Coding / Process Consistency</a:t>
          </a:r>
          <a:endParaRPr lang="en-US" sz="1400" kern="1200" dirty="0"/>
        </a:p>
      </dsp:txBody>
      <dsp:txXfrm>
        <a:off x="0" y="523805"/>
        <a:ext cx="7369175" cy="1076400"/>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76CC319-6B22-49A2-8612-6B7003B4AC72}">
      <dsp:nvSpPr>
        <dsp:cNvPr id="0" name=""/>
        <dsp:cNvSpPr/>
      </dsp:nvSpPr>
      <dsp:spPr>
        <a:xfrm>
          <a:off x="0" y="0"/>
          <a:ext cx="7369175" cy="4808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Scripting Editor</a:t>
          </a:r>
          <a:endParaRPr lang="en-US" sz="1800" kern="1200" dirty="0"/>
        </a:p>
      </dsp:txBody>
      <dsp:txXfrm>
        <a:off x="0" y="0"/>
        <a:ext cx="7369175" cy="480855"/>
      </dsp:txXfrm>
    </dsp:sp>
    <dsp:sp modelId="{629C31A3-283C-44EA-86C5-74E5438F7AB7}">
      <dsp:nvSpPr>
        <dsp:cNvPr id="0" name=""/>
        <dsp:cNvSpPr/>
      </dsp:nvSpPr>
      <dsp:spPr>
        <a:xfrm>
          <a:off x="0" y="548334"/>
          <a:ext cx="7369175" cy="518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17780" rIns="99568" bIns="17780" numCol="1" spcCol="1270" anchor="t" anchorCtr="0">
          <a:noAutofit/>
        </a:bodyPr>
        <a:lstStyle/>
        <a:p>
          <a:pPr marL="114300" lvl="1" indent="-114300" algn="l" defTabSz="622300" rtl="0">
            <a:lnSpc>
              <a:spcPct val="90000"/>
            </a:lnSpc>
            <a:spcBef>
              <a:spcPct val="0"/>
            </a:spcBef>
            <a:spcAft>
              <a:spcPct val="20000"/>
            </a:spcAft>
            <a:buChar char="••"/>
          </a:pPr>
          <a:r>
            <a:rPr lang="en-US" sz="1400" kern="1200" dirty="0" smtClean="0"/>
            <a:t>Dell / Quest PowerGUI </a:t>
          </a:r>
          <a:endParaRPr lang="en-US" sz="1400" kern="1200" dirty="0"/>
        </a:p>
      </dsp:txBody>
      <dsp:txXfrm>
        <a:off x="0" y="548334"/>
        <a:ext cx="7369175" cy="518469"/>
      </dsp:txXfrm>
    </dsp:sp>
    <dsp:sp modelId="{4003F08B-8FAE-48C8-B5BE-6AEB33476358}">
      <dsp:nvSpPr>
        <dsp:cNvPr id="0" name=""/>
        <dsp:cNvSpPr/>
      </dsp:nvSpPr>
      <dsp:spPr>
        <a:xfrm>
          <a:off x="0" y="936198"/>
          <a:ext cx="7369175" cy="4354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Code Repository (Version Control, Snippets, etc.)</a:t>
          </a:r>
          <a:endParaRPr lang="en-US" sz="1800" kern="1200" dirty="0"/>
        </a:p>
      </dsp:txBody>
      <dsp:txXfrm>
        <a:off x="0" y="936198"/>
        <a:ext cx="7369175" cy="435407"/>
      </dsp:txXfrm>
    </dsp:sp>
    <dsp:sp modelId="{225430CF-3BF1-4CC0-9365-99947800A2E0}">
      <dsp:nvSpPr>
        <dsp:cNvPr id="0" name=""/>
        <dsp:cNvSpPr/>
      </dsp:nvSpPr>
      <dsp:spPr>
        <a:xfrm>
          <a:off x="0" y="1447796"/>
          <a:ext cx="73691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1" tIns="17780" rIns="99568" bIns="17780" numCol="1" spcCol="1270" anchor="t" anchorCtr="0">
          <a:noAutofit/>
        </a:bodyPr>
        <a:lstStyle/>
        <a:p>
          <a:pPr marL="114300" lvl="1" indent="-114300" algn="l" defTabSz="622300" rtl="0">
            <a:lnSpc>
              <a:spcPct val="90000"/>
            </a:lnSpc>
            <a:spcBef>
              <a:spcPct val="0"/>
            </a:spcBef>
            <a:spcAft>
              <a:spcPct val="20000"/>
            </a:spcAft>
            <a:buChar char="••"/>
          </a:pPr>
          <a:r>
            <a:rPr lang="en-US" sz="1400" kern="1200" dirty="0" smtClean="0"/>
            <a:t>Mercurial</a:t>
          </a:r>
          <a:endParaRPr lang="en-US" sz="5100" kern="1200" dirty="0"/>
        </a:p>
      </dsp:txBody>
      <dsp:txXfrm>
        <a:off x="0" y="1447796"/>
        <a:ext cx="7369175" cy="1076400"/>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atin typeface="Arial" pitchFamily="-108" charset="0"/>
                <a:ea typeface="ＭＳ Ｐゴシック" pitchFamily="-108" charset="-128"/>
                <a:cs typeface="ＭＳ Ｐゴシック" pitchFamily="-108" charset="-128"/>
              </a:defRPr>
            </a:lvl1pPr>
          </a:lstStyle>
          <a:p>
            <a:pPr>
              <a:defRPr/>
            </a:pPr>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atin typeface="Arial" pitchFamily="-108" charset="0"/>
                <a:ea typeface="ＭＳ Ｐゴシック" pitchFamily="-108" charset="-128"/>
                <a:cs typeface="ＭＳ Ｐゴシック" pitchFamily="-108" charset="-128"/>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atin typeface="Arial" pitchFamily="-108" charset="0"/>
                <a:ea typeface="ＭＳ Ｐゴシック" pitchFamily="-108" charset="-128"/>
                <a:cs typeface="ＭＳ Ｐゴシック" pitchFamily="-108" charset="-128"/>
              </a:defRPr>
            </a:lvl1pPr>
          </a:lstStyle>
          <a:p>
            <a:pPr>
              <a:defRPr/>
            </a:pPr>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atin typeface="Arial" pitchFamily="34" charset="0"/>
                <a:ea typeface="ＭＳ Ｐゴシック" charset="-128"/>
              </a:defRPr>
            </a:lvl1pPr>
          </a:lstStyle>
          <a:p>
            <a:pPr>
              <a:defRPr/>
            </a:pPr>
            <a:fld id="{895DFEE4-DA45-458B-93D2-D92960DDE927}" type="slidenum">
              <a:rPr lang="en-US"/>
              <a:pPr>
                <a:defRPr/>
              </a:pPr>
              <a:t>‹#›</a:t>
            </a:fld>
            <a:endParaRPr lang="en-US"/>
          </a:p>
        </p:txBody>
      </p:sp>
    </p:spTree>
    <p:extLst>
      <p:ext uri="{BB962C8B-B14F-4D97-AF65-F5344CB8AC3E}">
        <p14:creationId xmlns="" xmlns:p14="http://schemas.microsoft.com/office/powerpoint/2010/main" val="23005426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youtube.com/watch?v=cZh105_r2Qk"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criptlore.com/why-learn-to-script/"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msdn.microsoft.com/en-us/library/windows/desktop/ms714428(v=vs.85).aspx"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msdn.microsoft.com/en-us/library/system.reflection.membertypes.aspx"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blogs.technet.com/b/heyscriptingguy/archive/2013/01/04/understanding-and-using-powershell-profiles.aspx?Redirected=true"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technet.microsoft.com/en-us/scriptcenter/ee861518.aspx" TargetMode="External"/><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34" charset="-128"/>
              </a:defRPr>
            </a:lvl1pPr>
            <a:lvl2pPr marL="785372" indent="-302066" eaLnBrk="0" hangingPunct="0">
              <a:defRPr>
                <a:solidFill>
                  <a:schemeClr val="tx1"/>
                </a:solidFill>
                <a:latin typeface="Arial" charset="0"/>
                <a:ea typeface="ＭＳ Ｐゴシック" pitchFamily="34" charset="-128"/>
              </a:defRPr>
            </a:lvl2pPr>
            <a:lvl3pPr marL="1208265" indent="-241653" eaLnBrk="0" hangingPunct="0">
              <a:defRPr>
                <a:solidFill>
                  <a:schemeClr val="tx1"/>
                </a:solidFill>
                <a:latin typeface="Arial" charset="0"/>
                <a:ea typeface="ＭＳ Ｐゴシック" pitchFamily="34" charset="-128"/>
              </a:defRPr>
            </a:lvl3pPr>
            <a:lvl4pPr marL="1691571" indent="-241653" eaLnBrk="0" hangingPunct="0">
              <a:defRPr>
                <a:solidFill>
                  <a:schemeClr val="tx1"/>
                </a:solidFill>
                <a:latin typeface="Arial" charset="0"/>
                <a:ea typeface="ＭＳ Ｐゴシック" pitchFamily="34" charset="-128"/>
              </a:defRPr>
            </a:lvl4pPr>
            <a:lvl5pPr marL="2174878" indent="-241653" eaLnBrk="0" hangingPunct="0">
              <a:defRPr>
                <a:solidFill>
                  <a:schemeClr val="tx1"/>
                </a:solidFill>
                <a:latin typeface="Arial" charset="0"/>
                <a:ea typeface="ＭＳ Ｐゴシック" pitchFamily="34" charset="-128"/>
              </a:defRPr>
            </a:lvl5pPr>
            <a:lvl6pPr marL="2658184" indent="-241653" eaLnBrk="0" fontAlgn="base" hangingPunct="0">
              <a:spcBef>
                <a:spcPct val="0"/>
              </a:spcBef>
              <a:spcAft>
                <a:spcPct val="0"/>
              </a:spcAft>
              <a:defRPr>
                <a:solidFill>
                  <a:schemeClr val="tx1"/>
                </a:solidFill>
                <a:latin typeface="Arial" charset="0"/>
                <a:ea typeface="ＭＳ Ｐゴシック" pitchFamily="34" charset="-128"/>
              </a:defRPr>
            </a:lvl6pPr>
            <a:lvl7pPr marL="3141490" indent="-241653" eaLnBrk="0" fontAlgn="base" hangingPunct="0">
              <a:spcBef>
                <a:spcPct val="0"/>
              </a:spcBef>
              <a:spcAft>
                <a:spcPct val="0"/>
              </a:spcAft>
              <a:defRPr>
                <a:solidFill>
                  <a:schemeClr val="tx1"/>
                </a:solidFill>
                <a:latin typeface="Arial" charset="0"/>
                <a:ea typeface="ＭＳ Ｐゴシック" pitchFamily="34" charset="-128"/>
              </a:defRPr>
            </a:lvl7pPr>
            <a:lvl8pPr marL="3624796" indent="-241653" eaLnBrk="0" fontAlgn="base" hangingPunct="0">
              <a:spcBef>
                <a:spcPct val="0"/>
              </a:spcBef>
              <a:spcAft>
                <a:spcPct val="0"/>
              </a:spcAft>
              <a:defRPr>
                <a:solidFill>
                  <a:schemeClr val="tx1"/>
                </a:solidFill>
                <a:latin typeface="Arial" charset="0"/>
                <a:ea typeface="ＭＳ Ｐゴシック" pitchFamily="34" charset="-128"/>
              </a:defRPr>
            </a:lvl8pPr>
            <a:lvl9pPr marL="4108102" indent="-241653"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fld id="{2B0AA1F7-5EFD-4280-8BFB-3728C27558EE}" type="slidenum">
              <a:rPr lang="en-US" smtClean="0"/>
              <a:pPr eaLnBrk="1" hangingPunct="1"/>
              <a:t>1</a:t>
            </a:fld>
            <a:endParaRPr lang="en-US" smtClean="0"/>
          </a:p>
        </p:txBody>
      </p:sp>
      <p:sp>
        <p:nvSpPr>
          <p:cNvPr id="13315" name="Rectangle 2"/>
          <p:cNvSpPr>
            <a:spLocks noGrp="1" noRot="1" noChangeAspect="1" noChangeArrowheads="1" noTextEdit="1"/>
          </p:cNvSpPr>
          <p:nvPr>
            <p:ph type="sldImg"/>
          </p:nvPr>
        </p:nvSpPr>
        <p:spPr>
          <a:xfrm>
            <a:off x="1257300" y="661988"/>
            <a:ext cx="4800600" cy="3600450"/>
          </a:xfrm>
          <a:ln/>
        </p:spPr>
      </p:sp>
      <p:sp>
        <p:nvSpPr>
          <p:cNvPr id="13316" name="Rectangle 3"/>
          <p:cNvSpPr>
            <a:spLocks noGrp="1" noChangeArrowheads="1"/>
          </p:cNvSpPr>
          <p:nvPr>
            <p:ph type="body" idx="1"/>
          </p:nvPr>
        </p:nvSpPr>
        <p:spPr>
          <a:xfrm>
            <a:off x="336975" y="4437221"/>
            <a:ext cx="6700519" cy="4668917"/>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smtClean="0">
              <a:latin typeface="Arial" charset="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66612">
              <a:defRPr/>
            </a:pPr>
            <a:r>
              <a:rPr lang="en-US" dirty="0" smtClean="0">
                <a:hlinkClick r:id="rId3"/>
              </a:rPr>
              <a:t>http://www.youtube.com/watch?v=cZh105_r2Qk</a:t>
            </a:r>
            <a:endParaRPr lang="en-US" dirty="0" smtClean="0"/>
          </a:p>
          <a:p>
            <a:endParaRPr lang="en-US" dirty="0" smtClean="0"/>
          </a:p>
          <a:p>
            <a:r>
              <a:rPr lang="en-US" dirty="0" smtClean="0"/>
              <a:t>Multiple Languages</a:t>
            </a:r>
          </a:p>
          <a:p>
            <a:r>
              <a:rPr lang="en-US" dirty="0" smtClean="0"/>
              <a:t>  - Multiple</a:t>
            </a:r>
            <a:r>
              <a:rPr lang="en-US" baseline="0" dirty="0" smtClean="0"/>
              <a:t> languages require various dependencies</a:t>
            </a:r>
            <a:r>
              <a:rPr lang="en-US" baseline="0" dirty="0"/>
              <a:t> </a:t>
            </a:r>
            <a:r>
              <a:rPr lang="en-US" baseline="0" dirty="0" smtClean="0"/>
              <a:t>(e.g. Perl requires </a:t>
            </a:r>
            <a:r>
              <a:rPr lang="en-US" baseline="0" dirty="0" err="1" smtClean="0"/>
              <a:t>ActivePerl</a:t>
            </a:r>
            <a:r>
              <a:rPr lang="en-US" baseline="0" dirty="0" smtClean="0"/>
              <a:t>)</a:t>
            </a:r>
          </a:p>
          <a:p>
            <a:r>
              <a:rPr lang="en-US" baseline="0" dirty="0" smtClean="0"/>
              <a:t>  - Supporting legacy code is always challenging if there is no </a:t>
            </a:r>
            <a:r>
              <a:rPr lang="en-US" baseline="0" dirty="0" err="1" smtClean="0"/>
              <a:t>consistancy</a:t>
            </a:r>
            <a:r>
              <a:rPr lang="en-US" baseline="0" dirty="0" smtClean="0"/>
              <a:t> in language (bash, </a:t>
            </a:r>
            <a:r>
              <a:rPr lang="en-US" baseline="0" dirty="0" err="1" smtClean="0"/>
              <a:t>perl</a:t>
            </a:r>
            <a:r>
              <a:rPr lang="en-US" baseline="0" dirty="0" smtClean="0"/>
              <a:t>, python, </a:t>
            </a:r>
            <a:r>
              <a:rPr lang="en-US" baseline="0" dirty="0" err="1" smtClean="0"/>
              <a:t>powershell</a:t>
            </a:r>
            <a:r>
              <a:rPr lang="en-US" baseline="0" dirty="0" smtClean="0"/>
              <a:t>, vbscript, AutoIT, etc.) </a:t>
            </a:r>
          </a:p>
          <a:p>
            <a:endParaRPr lang="en-US" baseline="0" dirty="0" smtClean="0"/>
          </a:p>
          <a:p>
            <a:r>
              <a:rPr lang="en-US" baseline="0" dirty="0" err="1" smtClean="0"/>
              <a:t>Remoting</a:t>
            </a:r>
            <a:endParaRPr lang="en-US" baseline="0" dirty="0" smtClean="0"/>
          </a:p>
          <a:p>
            <a:r>
              <a:rPr lang="en-US" baseline="0" dirty="0" smtClean="0"/>
              <a:t>  - No consistency in technologies being used (some secure and some not) (e.g. </a:t>
            </a:r>
            <a:r>
              <a:rPr lang="en-US" baseline="0" dirty="0" err="1" smtClean="0"/>
              <a:t>PSExec</a:t>
            </a:r>
            <a:r>
              <a:rPr lang="en-US" baseline="0" dirty="0" smtClean="0"/>
              <a:t>, RPC, WMI)</a:t>
            </a:r>
          </a:p>
          <a:p>
            <a:r>
              <a:rPr lang="en-US" baseline="0" dirty="0" smtClean="0"/>
              <a:t>  - Some technologies are not firewall friendly (WMI, RPC)</a:t>
            </a:r>
          </a:p>
          <a:p>
            <a:endParaRPr lang="en-US" baseline="0" dirty="0" smtClean="0"/>
          </a:p>
          <a:p>
            <a:r>
              <a:rPr lang="en-US" baseline="0" dirty="0" smtClean="0"/>
              <a:t>Code Locations</a:t>
            </a:r>
          </a:p>
          <a:p>
            <a:r>
              <a:rPr lang="en-US" baseline="0" dirty="0" smtClean="0"/>
              <a:t>  - Saving code in multiple locations is always a challenge because your forced to search multiple locations to find what your looking for</a:t>
            </a:r>
          </a:p>
          <a:p>
            <a:r>
              <a:rPr lang="en-US" baseline="0" dirty="0" smtClean="0"/>
              <a:t>  - No Versioning</a:t>
            </a:r>
          </a:p>
          <a:p>
            <a:r>
              <a:rPr lang="en-US" baseline="0" dirty="0" smtClean="0"/>
              <a:t>  - Snippet Repository</a:t>
            </a:r>
          </a:p>
          <a:p>
            <a:r>
              <a:rPr lang="en-US" baseline="0" dirty="0" smtClean="0"/>
              <a:t>  - Multiple versions of the same code</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Learning opportunity for engineers</a:t>
            </a:r>
            <a:r>
              <a:rPr lang="en-US" baseline="0" dirty="0" smtClean="0"/>
              <a:t> by having their code criticized by a more advanced scripter.</a:t>
            </a:r>
          </a:p>
          <a:p>
            <a:endParaRPr lang="en-US" baseline="0" dirty="0" smtClean="0"/>
          </a:p>
          <a:p>
            <a:r>
              <a:rPr lang="en-US" baseline="0" dirty="0" smtClean="0"/>
              <a:t>Stability by having someone review your code. Finding problems prior to deployment is always a positive. </a:t>
            </a:r>
          </a:p>
          <a:p>
            <a:endParaRPr lang="en-US" baseline="0" dirty="0" smtClean="0"/>
          </a:p>
          <a:p>
            <a:r>
              <a:rPr lang="en-US" baseline="0" dirty="0" smtClean="0"/>
              <a:t>Coding / Process Consistency – By having someone review your code, it should help keep processes and coding consistent between coders</a:t>
            </a:r>
            <a:endParaRPr lang="en-US" dirty="0"/>
          </a:p>
        </p:txBody>
      </p:sp>
      <p:sp>
        <p:nvSpPr>
          <p:cNvPr id="4" name="Slide Number Placeholder 3"/>
          <p:cNvSpPr>
            <a:spLocks noGrp="1"/>
          </p:cNvSpPr>
          <p:nvPr>
            <p:ph type="sldNum" sz="quarter" idx="10"/>
          </p:nvPr>
        </p:nvSpPr>
        <p:spPr/>
        <p:txBody>
          <a:bodyPr/>
          <a:lstStyle/>
          <a:p>
            <a:pPr>
              <a:defRPr/>
            </a:pPr>
            <a:fld id="{842843EC-DC7F-46D8-97F9-B0D29215DF0C}" type="slidenum">
              <a:rPr lang="en-US" smtClean="0"/>
              <a:pPr>
                <a:defRPr/>
              </a:pPr>
              <a:t>6</a:t>
            </a:fld>
            <a:endParaRPr lang="en-US"/>
          </a:p>
        </p:txBody>
      </p:sp>
    </p:spTree>
    <p:extLst>
      <p:ext uri="{BB962C8B-B14F-4D97-AF65-F5344CB8AC3E}">
        <p14:creationId xmlns="" xmlns:p14="http://schemas.microsoft.com/office/powerpoint/2010/main" val="4223210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smtClean="0"/>
              <a:t>Establish New Standards</a:t>
            </a:r>
          </a:p>
          <a:p>
            <a:pPr lvl="0" rtl="0"/>
            <a:r>
              <a:rPr lang="en-US" dirty="0" smtClean="0"/>
              <a:t>  - Ease of management through new tools and standards (WinRM)</a:t>
            </a:r>
          </a:p>
          <a:p>
            <a:pPr lvl="0" rtl="0"/>
            <a:r>
              <a:rPr lang="en-US" dirty="0" smtClean="0"/>
              <a:t>  - Standardized on:</a:t>
            </a:r>
            <a:r>
              <a:rPr lang="en-US" baseline="0" dirty="0" smtClean="0"/>
              <a:t> </a:t>
            </a:r>
          </a:p>
          <a:p>
            <a:pPr lvl="0" rtl="0"/>
            <a:r>
              <a:rPr lang="en-US" baseline="0" dirty="0" smtClean="0"/>
              <a:t>       - Language</a:t>
            </a:r>
          </a:p>
          <a:p>
            <a:pPr lvl="0" rtl="0"/>
            <a:r>
              <a:rPr lang="en-US" baseline="0" dirty="0" smtClean="0"/>
              <a:t>       - Versioning Control</a:t>
            </a:r>
            <a:endParaRPr lang="en-US" dirty="0" smtClean="0"/>
          </a:p>
          <a:p>
            <a:pPr lvl="0" rtl="0"/>
            <a:r>
              <a:rPr lang="en-US" dirty="0" smtClean="0"/>
              <a:t>      </a:t>
            </a:r>
          </a:p>
          <a:p>
            <a:pPr lvl="0" rtl="0"/>
            <a:r>
              <a:rPr lang="en-US" dirty="0" smtClean="0"/>
              <a:t>Peer Review Process</a:t>
            </a:r>
          </a:p>
          <a:p>
            <a:pPr lvl="0" rtl="0"/>
            <a:r>
              <a:rPr lang="en-US" dirty="0" smtClean="0"/>
              <a:t>   - Stability</a:t>
            </a:r>
          </a:p>
          <a:p>
            <a:pPr lvl="0" rtl="0"/>
            <a:r>
              <a:rPr lang="en-US" dirty="0" smtClean="0"/>
              <a:t>   - Mentoring / Teaching</a:t>
            </a:r>
          </a:p>
          <a:p>
            <a:pPr lvl="0" rtl="0"/>
            <a:r>
              <a:rPr lang="en-US" dirty="0" smtClean="0"/>
              <a:t>   </a:t>
            </a:r>
          </a:p>
          <a:p>
            <a:pPr lvl="0" rtl="0"/>
            <a:r>
              <a:rPr lang="en-US" dirty="0" smtClean="0"/>
              <a:t>Training</a:t>
            </a:r>
          </a:p>
          <a:p>
            <a:pPr lvl="0" rtl="0"/>
            <a:r>
              <a:rPr lang="en-US" dirty="0" smtClean="0"/>
              <a:t>   - In-House Training</a:t>
            </a:r>
          </a:p>
          <a:p>
            <a:pPr lvl="0" rtl="0"/>
            <a:r>
              <a:rPr lang="en-US" dirty="0" smtClean="0"/>
              <a:t>   - Everyone gets trained</a:t>
            </a:r>
            <a:endParaRPr lang="en-US" baseline="0" dirty="0" smtClean="0"/>
          </a:p>
          <a:p>
            <a:pPr lvl="0" rtl="0"/>
            <a:r>
              <a:rPr lang="en-US" baseline="0" dirty="0" smtClean="0"/>
              <a:t>   - Training on language, tools, processes</a:t>
            </a:r>
          </a:p>
          <a:p>
            <a:pPr lvl="0" rtl="0"/>
            <a:r>
              <a:rPr lang="en-US" dirty="0" smtClean="0"/>
              <a:t>   - Code Deployment Techniques </a:t>
            </a:r>
          </a:p>
          <a:p>
            <a:pPr lvl="0" rtl="0"/>
            <a:endParaRPr lang="en-US" dirty="0" smtClean="0"/>
          </a:p>
          <a:p>
            <a:pPr lvl="0" rtl="0"/>
            <a:r>
              <a:rPr lang="en-US" dirty="0" smtClean="0"/>
              <a:t>Collaboration Tools</a:t>
            </a:r>
          </a:p>
          <a:p>
            <a:pPr lvl="0" rtl="0"/>
            <a:r>
              <a:rPr lang="en-US" dirty="0" smtClean="0"/>
              <a:t>   - Repository</a:t>
            </a:r>
            <a:r>
              <a:rPr lang="en-US" baseline="0" dirty="0" smtClean="0"/>
              <a:t> – place to store and share your content with protection and versioning control. Will also include snippet repository</a:t>
            </a:r>
          </a:p>
          <a:p>
            <a:pPr lvl="0" rtl="0"/>
            <a:endParaRPr lang="en-US" baseline="0" dirty="0" smtClean="0"/>
          </a:p>
          <a:p>
            <a:pPr lvl="0" rtl="0"/>
            <a:r>
              <a:rPr lang="en-US" baseline="0" dirty="0" smtClean="0"/>
              <a:t>Updated Assets For Central Management</a:t>
            </a:r>
          </a:p>
          <a:p>
            <a:pPr lvl="0" rtl="0"/>
            <a:r>
              <a:rPr lang="en-US" baseline="0" dirty="0" smtClean="0"/>
              <a:t>   - Two new assets that will include access into secured environments</a:t>
            </a:r>
          </a:p>
          <a:p>
            <a:pPr lvl="0" rtl="0"/>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842843EC-DC7F-46D8-97F9-B0D29215DF0C}" type="slidenum">
              <a:rPr lang="en-US" smtClean="0"/>
              <a:pPr>
                <a:defRPr/>
              </a:pPr>
              <a:t>10</a:t>
            </a:fld>
            <a:endParaRPr lang="en-US" dirty="0"/>
          </a:p>
        </p:txBody>
      </p:sp>
    </p:spTree>
    <p:extLst>
      <p:ext uri="{BB962C8B-B14F-4D97-AF65-F5344CB8AC3E}">
        <p14:creationId xmlns="" xmlns:p14="http://schemas.microsoft.com/office/powerpoint/2010/main" val="3147244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presentation is NOT</a:t>
            </a:r>
            <a:r>
              <a:rPr lang="en-US" baseline="0" dirty="0" smtClean="0"/>
              <a:t> meant to be a comprehensive/complete tour of the PowerShell language. </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13</a:t>
            </a:fld>
            <a:endParaRPr lang="en-US"/>
          </a:p>
        </p:txBody>
      </p:sp>
    </p:spTree>
    <p:extLst>
      <p:ext uri="{BB962C8B-B14F-4D97-AF65-F5344CB8AC3E}">
        <p14:creationId xmlns="" xmlns:p14="http://schemas.microsoft.com/office/powerpoint/2010/main" val="2621568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http://scriptlore.com/why-learn-to-script/</a:t>
            </a:r>
            <a:endParaRPr lang="en-US" dirty="0" smtClean="0"/>
          </a:p>
          <a:p>
            <a:r>
              <a:rPr lang="en-US" dirty="0" smtClean="0"/>
              <a:t>Automation: Compare working an all </a:t>
            </a:r>
            <a:r>
              <a:rPr lang="en-US" dirty="0" err="1" smtClean="0"/>
              <a:t>nighter</a:t>
            </a:r>
            <a:r>
              <a:rPr lang="en-US" dirty="0" smtClean="0"/>
              <a:t> with doing the same with a one-liner (Bart writing “</a:t>
            </a:r>
            <a:r>
              <a:rPr lang="en-US" dirty="0" err="1" smtClean="0"/>
              <a:t>Shooping</a:t>
            </a:r>
            <a:r>
              <a:rPr lang="en-US" dirty="0" smtClean="0"/>
              <a:t> paintballs is not an art form”)</a:t>
            </a:r>
          </a:p>
          <a:p>
            <a:endParaRPr lang="en-US" dirty="0" smtClean="0"/>
          </a:p>
          <a:p>
            <a:r>
              <a:rPr lang="en-US" dirty="0" smtClean="0"/>
              <a:t>Only Human: Get tired, bored, limited hours =&gt; start making mistakes and redoing work (non-productive)</a:t>
            </a:r>
            <a:r>
              <a:rPr lang="en-US" baseline="0" dirty="0" smtClean="0"/>
              <a:t> and rarely appreciated</a:t>
            </a:r>
            <a:endParaRPr lang="en-US" dirty="0" smtClean="0"/>
          </a:p>
          <a:p>
            <a:endParaRPr lang="en-US" dirty="0" smtClean="0"/>
          </a:p>
          <a:p>
            <a:r>
              <a:rPr lang="en-US" dirty="0" smtClean="0"/>
              <a:t>Speed:</a:t>
            </a:r>
            <a:r>
              <a:rPr lang="en-US" baseline="0" dirty="0" smtClean="0"/>
              <a:t> Installing XP from a disk and not having to wait for the prompts</a:t>
            </a:r>
            <a:endParaRPr lang="en-US" dirty="0" smtClean="0"/>
          </a:p>
          <a:p>
            <a:endParaRPr lang="en-US" dirty="0" smtClean="0"/>
          </a:p>
          <a:p>
            <a:r>
              <a:rPr lang="en-US" dirty="0" smtClean="0"/>
              <a:t>Provides lasting value: Reuse scripts, quick runs, instant / concise results</a:t>
            </a:r>
          </a:p>
          <a:p>
            <a:endParaRPr lang="en-US" dirty="0" smtClean="0"/>
          </a:p>
          <a:p>
            <a:r>
              <a:rPr lang="en-US" dirty="0" smtClean="0"/>
              <a:t>Hugo</a:t>
            </a:r>
            <a:r>
              <a:rPr lang="en-US" baseline="0" dirty="0" smtClean="0"/>
              <a:t> Weaving (Agent Smith) – The Matrix</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15</a:t>
            </a:fld>
            <a:endParaRPr lang="en-US"/>
          </a:p>
        </p:txBody>
      </p:sp>
    </p:spTree>
    <p:extLst>
      <p:ext uri="{BB962C8B-B14F-4D97-AF65-F5344CB8AC3E}">
        <p14:creationId xmlns="" xmlns:p14="http://schemas.microsoft.com/office/powerpoint/2010/main" val="3292148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a:t>
            </a:r>
            <a:r>
              <a:rPr lang="en-US" baseline="0" dirty="0" smtClean="0"/>
              <a:t> Component Object Model</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16</a:t>
            </a:fld>
            <a:endParaRPr lang="en-US"/>
          </a:p>
        </p:txBody>
      </p:sp>
    </p:spTree>
    <p:extLst>
      <p:ext uri="{BB962C8B-B14F-4D97-AF65-F5344CB8AC3E}">
        <p14:creationId xmlns="" xmlns:p14="http://schemas.microsoft.com/office/powerpoint/2010/main" val="1954022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Initial Release: November 14, 2006</a:t>
            </a:r>
          </a:p>
          <a:p>
            <a:r>
              <a:rPr lang="en-US" dirty="0" smtClean="0"/>
              <a:t>Stable</a:t>
            </a:r>
            <a:r>
              <a:rPr lang="en-US" baseline="0" dirty="0" smtClean="0"/>
              <a:t> Release: September 4, 2012</a:t>
            </a:r>
          </a:p>
          <a:p>
            <a:endParaRPr lang="en-US" baseline="0" dirty="0" smtClean="0"/>
          </a:p>
          <a:p>
            <a:r>
              <a:rPr lang="en-US" baseline="0" dirty="0" smtClean="0"/>
              <a:t>Influenced by: </a:t>
            </a:r>
            <a:r>
              <a:rPr lang="en-US" baseline="0" dirty="0" err="1" smtClean="0"/>
              <a:t>Ksh</a:t>
            </a:r>
            <a:r>
              <a:rPr lang="en-US" baseline="0" dirty="0" smtClean="0"/>
              <a:t>, Perl, c#, CL, DCL, SQL, TCL and TK</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19</a:t>
            </a:fld>
            <a:endParaRPr lang="en-US"/>
          </a:p>
        </p:txBody>
      </p:sp>
    </p:spTree>
    <p:extLst>
      <p:ext uri="{BB962C8B-B14F-4D97-AF65-F5344CB8AC3E}">
        <p14:creationId xmlns="" xmlns:p14="http://schemas.microsoft.com/office/powerpoint/2010/main" val="1727331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Revolutionary: Radically new or innovative; outside or beyond established procedure, principles, etc.</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http://msdn.microsoft.com/en-us/library/windows/desktop/ms714428(v=vs.85).aspx</a:t>
            </a:r>
            <a:endParaRPr lang="en-US" dirty="0" smtClean="0"/>
          </a:p>
          <a:p>
            <a:endParaRPr lang="en-US" dirty="0" smtClean="0"/>
          </a:p>
          <a:p>
            <a:r>
              <a:rPr lang="en-US" dirty="0" smtClean="0"/>
              <a:t>Verb: Expresses actions, an occurrence or a state of being</a:t>
            </a:r>
          </a:p>
          <a:p>
            <a:r>
              <a:rPr lang="en-US" dirty="0" smtClean="0"/>
              <a:t>Noun: Person,</a:t>
            </a:r>
            <a:r>
              <a:rPr lang="en-US" baseline="0" dirty="0" smtClean="0"/>
              <a:t> place or thing</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2 types of help: </a:t>
            </a:r>
          </a:p>
          <a:p>
            <a:r>
              <a:rPr lang="en-US" dirty="0" smtClean="0"/>
              <a:t>  - Command Help</a:t>
            </a:r>
          </a:p>
          <a:p>
            <a:r>
              <a:rPr lang="en-US" dirty="0" smtClean="0"/>
              <a:t>  - Conceptual Help</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Method: Actions (Start,</a:t>
            </a:r>
            <a:r>
              <a:rPr lang="en-US" baseline="0" dirty="0" smtClean="0"/>
              <a:t> Stop)</a:t>
            </a:r>
          </a:p>
          <a:p>
            <a:r>
              <a:rPr lang="en-US" baseline="0" dirty="0" smtClean="0"/>
              <a:t>Property: State (Started or Stopped)</a:t>
            </a:r>
          </a:p>
          <a:p>
            <a:endParaRPr lang="en-US" baseline="0" dirty="0" smtClean="0"/>
          </a:p>
          <a:p>
            <a:r>
              <a:rPr lang="en-US" baseline="0" dirty="0" err="1" smtClean="0"/>
              <a:t>MemberTypes</a:t>
            </a:r>
            <a:r>
              <a:rPr lang="en-US" baseline="0" dirty="0" smtClean="0"/>
              <a:t>: </a:t>
            </a:r>
            <a:r>
              <a:rPr lang="en-US" dirty="0" smtClean="0">
                <a:hlinkClick r:id="rId3"/>
              </a:rPr>
              <a:t>http://msdn.microsoft.com/en-us/library/system.reflection.membertypes.aspx</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29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148 default aliases</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32</a:t>
            </a:fld>
            <a:endParaRPr lang="en-US"/>
          </a:p>
        </p:txBody>
      </p:sp>
    </p:spTree>
    <p:extLst>
      <p:ext uri="{BB962C8B-B14F-4D97-AF65-F5344CB8AC3E}">
        <p14:creationId xmlns="" xmlns:p14="http://schemas.microsoft.com/office/powerpoint/2010/main" val="3331843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http://blogs.technet.com/b/heyscriptingguy/archive/2013/01/04/understanding-and-using-powershell-profiles.aspx?Redirected=true</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34</a:t>
            </a:fld>
            <a:endParaRPr lang="en-US"/>
          </a:p>
        </p:txBody>
      </p:sp>
    </p:spTree>
    <p:extLst>
      <p:ext uri="{BB962C8B-B14F-4D97-AF65-F5344CB8AC3E}">
        <p14:creationId xmlns="" xmlns:p14="http://schemas.microsoft.com/office/powerpoint/2010/main" val="3643010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Examples</a:t>
            </a:r>
            <a:r>
              <a:rPr lang="en-US" baseline="0" dirty="0" smtClean="0"/>
              <a:t>: get-</a:t>
            </a:r>
            <a:r>
              <a:rPr lang="en-US" baseline="0" dirty="0" err="1" smtClean="0"/>
              <a:t>childitem</a:t>
            </a:r>
            <a:r>
              <a:rPr lang="en-US" baseline="0" dirty="0" smtClean="0"/>
              <a:t> </a:t>
            </a:r>
            <a:r>
              <a:rPr lang="en-US" baseline="0" dirty="0" err="1" smtClean="0"/>
              <a:t>hklm</a:t>
            </a:r>
            <a:r>
              <a:rPr lang="en-US" baseline="0" dirty="0" smtClean="0"/>
              <a:t>:\software</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36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Suggestions:</a:t>
            </a:r>
            <a:r>
              <a:rPr lang="en-US" baseline="0" dirty="0" smtClean="0"/>
              <a:t> </a:t>
            </a:r>
          </a:p>
          <a:p>
            <a:pPr marL="241653" indent="-241653">
              <a:buAutoNum type="arabicParenR"/>
            </a:pPr>
            <a:r>
              <a:rPr lang="en-US" baseline="0" dirty="0" smtClean="0"/>
              <a:t>Update the description of a pipe to include the handing of an object/collection of objects to another cmdlet Get-Service | Sort-By Name</a:t>
            </a:r>
          </a:p>
          <a:p>
            <a:pPr marL="241653" indent="-241653">
              <a:buAutoNum type="arabicParenR"/>
            </a:pPr>
            <a:r>
              <a:rPr lang="en-US" baseline="0" dirty="0" smtClean="0"/>
              <a:t>As your talking, reference that piping is common in Linux/Unix type environments and most network switch/router type environments such as show-interface | </a:t>
            </a:r>
            <a:r>
              <a:rPr lang="en-US" baseline="0" dirty="0" err="1" smtClean="0"/>
              <a:t>grep</a:t>
            </a:r>
            <a:r>
              <a:rPr lang="en-US" baseline="0" dirty="0" smtClean="0"/>
              <a:t> fc0/3</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41</a:t>
            </a:fld>
            <a:endParaRPr lang="en-US"/>
          </a:p>
        </p:txBody>
      </p:sp>
    </p:spTree>
    <p:extLst>
      <p:ext uri="{BB962C8B-B14F-4D97-AF65-F5344CB8AC3E}">
        <p14:creationId xmlns="" xmlns:p14="http://schemas.microsoft.com/office/powerpoint/2010/main" val="998080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 “dog” </a:t>
            </a:r>
          </a:p>
          <a:p>
            <a:r>
              <a:rPr lang="en-US" dirty="0" smtClean="0"/>
              <a:t>$b = “cat”</a:t>
            </a:r>
          </a:p>
          <a:p>
            <a:endParaRPr lang="en-US" dirty="0" smtClean="0"/>
          </a:p>
          <a:p>
            <a:r>
              <a:rPr lang="en-US" dirty="0" smtClean="0"/>
              <a:t>$a –</a:t>
            </a:r>
            <a:r>
              <a:rPr lang="en-US" dirty="0" err="1" smtClean="0"/>
              <a:t>eq</a:t>
            </a:r>
            <a:r>
              <a:rPr lang="en-US" dirty="0" smtClean="0"/>
              <a:t> $b</a:t>
            </a:r>
            <a:r>
              <a:rPr lang="en-US" baseline="0" dirty="0" smtClean="0"/>
              <a:t>      (results equal false)</a:t>
            </a:r>
          </a:p>
          <a:p>
            <a:endParaRPr lang="en-US" baseline="0" dirty="0" smtClean="0"/>
          </a:p>
          <a:p>
            <a:r>
              <a:rPr lang="en-US" baseline="0" dirty="0" smtClean="0"/>
              <a:t>$a –</a:t>
            </a:r>
            <a:r>
              <a:rPr lang="en-US" baseline="0" dirty="0" err="1" smtClean="0"/>
              <a:t>eq</a:t>
            </a:r>
            <a:r>
              <a:rPr lang="en-US" baseline="0" dirty="0" smtClean="0"/>
              <a:t> $a      (results equal true)</a:t>
            </a:r>
          </a:p>
          <a:p>
            <a:endParaRPr lang="en-US" baseline="0" dirty="0" smtClean="0"/>
          </a:p>
          <a:p>
            <a:r>
              <a:rPr lang="en-US" dirty="0" smtClean="0"/>
              <a:t>**</a:t>
            </a:r>
            <a:r>
              <a:rPr lang="en-US" baseline="0" dirty="0" smtClean="0"/>
              <a:t> Point out that when assigning a value to variable, use the = sign instead of the comparison operator. The comparison operator is ONLY used for comparison reason only!</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42</a:t>
            </a:fld>
            <a:endParaRPr lang="en-US"/>
          </a:p>
        </p:txBody>
      </p:sp>
    </p:spTree>
    <p:extLst>
      <p:ext uri="{BB962C8B-B14F-4D97-AF65-F5344CB8AC3E}">
        <p14:creationId xmlns="" xmlns:p14="http://schemas.microsoft.com/office/powerpoint/2010/main" val="261219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Suggestions:</a:t>
            </a:r>
            <a:r>
              <a:rPr lang="en-US" baseline="0" dirty="0" smtClean="0"/>
              <a:t> </a:t>
            </a:r>
          </a:p>
          <a:p>
            <a:r>
              <a:rPr lang="en-US" baseline="0" dirty="0" smtClean="0"/>
              <a:t>1) You’ll probably need to give an example that includes something with properties and then provide an example of something without parameters such as Get-Content</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43</a:t>
            </a:fld>
            <a:endParaRPr lang="en-US"/>
          </a:p>
        </p:txBody>
      </p:sp>
    </p:spTree>
    <p:extLst>
      <p:ext uri="{BB962C8B-B14F-4D97-AF65-F5344CB8AC3E}">
        <p14:creationId xmlns="" xmlns:p14="http://schemas.microsoft.com/office/powerpoint/2010/main" val="4769711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44</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45</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46</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Suggestion</a:t>
            </a:r>
            <a:r>
              <a:rPr lang="en-US" baseline="0" dirty="0" smtClean="0"/>
              <a:t>: </a:t>
            </a:r>
          </a:p>
          <a:p>
            <a:r>
              <a:rPr lang="en-US" baseline="0" dirty="0" smtClean="0"/>
              <a:t>- Mention that only a subset of properties return unless you leverage the “*” </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47</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48</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49</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50</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51</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52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53</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54</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a:t>
            </a:r>
            <a:r>
              <a:rPr lang="en-US" baseline="0" dirty="0" smtClean="0"/>
              <a:t> storage location that will be later utilized in the script. It will start with a $ and assigns data with = and not to be confused with compare operator –eq.</a:t>
            </a:r>
          </a:p>
          <a:p>
            <a:r>
              <a:rPr lang="en-US" baseline="0" dirty="0" smtClean="0"/>
              <a:t>Why: Think of a variable as a imaginary box where information is stored and allows us to use that later on in a script or as a result of script.</a:t>
            </a:r>
            <a:endParaRPr lang="en-US" dirty="0" smtClean="0"/>
          </a:p>
          <a:p>
            <a:r>
              <a:rPr lang="en-US" dirty="0" smtClean="0"/>
              <a:t>How :</a:t>
            </a:r>
            <a:r>
              <a:rPr lang="en-US" baseline="0" dirty="0" smtClean="0"/>
              <a:t> look at examples</a:t>
            </a:r>
            <a:endParaRPr lang="en-US" dirty="0" smtClean="0"/>
          </a:p>
          <a:p>
            <a:r>
              <a:rPr lang="en-US" dirty="0" smtClean="0"/>
              <a:t>Considerations: </a:t>
            </a:r>
          </a:p>
          <a:p>
            <a:pPr marL="181240" indent="-181240">
              <a:buFontTx/>
              <a:buChar char="-"/>
            </a:pPr>
            <a:r>
              <a:rPr lang="en-US" dirty="0" smtClean="0"/>
              <a:t>[string]</a:t>
            </a:r>
          </a:p>
          <a:p>
            <a:pPr marL="181240" indent="-181240">
              <a:buFontTx/>
              <a:buChar char="-"/>
            </a:pPr>
            <a:r>
              <a:rPr lang="en-US" dirty="0" smtClean="0"/>
              <a:t>Add</a:t>
            </a:r>
            <a:r>
              <a:rPr lang="en-US" baseline="0" dirty="0" smtClean="0"/>
              <a:t> type prefix</a:t>
            </a:r>
          </a:p>
          <a:p>
            <a:pPr marL="664546" lvl="1" indent="-181240">
              <a:buFontTx/>
              <a:buChar char="-"/>
            </a:pPr>
            <a:r>
              <a:rPr lang="en-US" baseline="0" dirty="0" err="1" smtClean="0"/>
              <a:t>Str</a:t>
            </a:r>
            <a:endParaRPr lang="en-US" baseline="0" dirty="0" smtClean="0"/>
          </a:p>
          <a:p>
            <a:pPr marL="664546" lvl="1" indent="-181240">
              <a:buFontTx/>
              <a:buChar char="-"/>
            </a:pPr>
            <a:r>
              <a:rPr lang="en-US" baseline="0" dirty="0" err="1" smtClean="0"/>
              <a:t>Arr</a:t>
            </a:r>
            <a:endParaRPr lang="en-US" baseline="0" dirty="0" smtClean="0"/>
          </a:p>
          <a:p>
            <a:pPr marL="664546" lvl="1" indent="-181240">
              <a:buFontTx/>
              <a:buChar char="-"/>
            </a:pPr>
            <a:r>
              <a:rPr lang="en-US" baseline="0" dirty="0" err="1" smtClean="0"/>
              <a:t>Bln</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Imagine</a:t>
            </a:r>
            <a:r>
              <a:rPr lang="en-US" baseline="0" dirty="0" smtClean="0"/>
              <a:t> an array as storage box with multiple locations to store the data starting with specific value of 0, 1, 2 </a:t>
            </a:r>
            <a:r>
              <a:rPr lang="en-US" baseline="0" dirty="0" err="1" smtClean="0"/>
              <a:t>ect</a:t>
            </a:r>
            <a:r>
              <a:rPr lang="en-US" baseline="0" dirty="0" smtClean="0"/>
              <a:t> and in </a:t>
            </a:r>
            <a:r>
              <a:rPr lang="en-US" baseline="0" dirty="0" err="1" smtClean="0"/>
              <a:t>powershell</a:t>
            </a:r>
            <a:r>
              <a:rPr lang="en-US" baseline="0" dirty="0" smtClean="0"/>
              <a:t> they are assigned with an @ symbol</a:t>
            </a:r>
            <a:endParaRPr lang="en-US" dirty="0" smtClean="0"/>
          </a:p>
          <a:p>
            <a:r>
              <a:rPr lang="en-US" dirty="0" smtClean="0"/>
              <a:t>Why: We use arrays to make</a:t>
            </a:r>
            <a:r>
              <a:rPr lang="en-US" baseline="0" dirty="0" smtClean="0"/>
              <a:t> a collection of data we can later process such as a grouping of servers instead of having a messy list of variables </a:t>
            </a:r>
            <a:endParaRPr lang="en-US" dirty="0" smtClean="0"/>
          </a:p>
          <a:p>
            <a:r>
              <a:rPr lang="en-US" dirty="0" smtClean="0"/>
              <a:t>How:</a:t>
            </a:r>
          </a:p>
          <a:p>
            <a:endParaRPr lang="en-US" dirty="0" smtClean="0"/>
          </a:p>
          <a:p>
            <a:r>
              <a:rPr lang="en-US" dirty="0" smtClean="0"/>
              <a:t>May want to include alternate</a:t>
            </a:r>
            <a:r>
              <a:rPr lang="en-US" baseline="0" dirty="0" smtClean="0"/>
              <a:t> ways of defining / forming an array</a:t>
            </a:r>
          </a:p>
          <a:p>
            <a:r>
              <a:rPr lang="en-US" baseline="0" dirty="0" smtClean="0"/>
              <a:t>Something Cool: @(Get-Service).Count</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smtClean="0"/>
              <a:t>What: constants are a special kind of variable that cannot be changed. </a:t>
            </a:r>
          </a:p>
          <a:p>
            <a:r>
              <a:rPr lang="en-US" sz="1300" dirty="0" smtClean="0"/>
              <a:t>Why: Even though I do not use this often it would find purpose in a robust where you do not want something change like a </a:t>
            </a:r>
            <a:r>
              <a:rPr lang="en-US" sz="1300" dirty="0" err="1" smtClean="0"/>
              <a:t>sql</a:t>
            </a:r>
            <a:r>
              <a:rPr lang="en-US" sz="1300" dirty="0" smtClean="0"/>
              <a:t> connection string that will remain the same throughout the script.</a:t>
            </a:r>
          </a:p>
          <a:p>
            <a:endParaRPr lang="en-US" dirty="0" smtClean="0"/>
          </a:p>
          <a:p>
            <a:r>
              <a:rPr lang="en-US" dirty="0" smtClean="0"/>
              <a:t>Note :when setting</a:t>
            </a:r>
            <a:r>
              <a:rPr lang="en-US" baseline="0" dirty="0" smtClean="0"/>
              <a:t> the variable it does not use a  $ but when it is called it does like any other constant</a:t>
            </a:r>
          </a:p>
          <a:p>
            <a:endParaRPr lang="en-US" baseline="0" dirty="0" smtClean="0"/>
          </a:p>
          <a:p>
            <a:r>
              <a:rPr lang="en-US" baseline="0" dirty="0" smtClean="0"/>
              <a:t>How:</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a:t>
            </a:r>
            <a:r>
              <a:rPr lang="en-US" baseline="0" dirty="0" smtClean="0"/>
              <a:t>: Looping is the process to repeat a command and process large amounts of data</a:t>
            </a:r>
          </a:p>
          <a:p>
            <a:r>
              <a:rPr lang="en-US" baseline="0" dirty="0" smtClean="0"/>
              <a:t>Why: Think of having an array of computers that you would like to get data from such as finding it C: size and free space</a:t>
            </a:r>
          </a:p>
          <a:p>
            <a:r>
              <a:rPr lang="en-US" baseline="0" dirty="0" smtClean="0"/>
              <a:t>How: different types</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Notice</a:t>
            </a:r>
            <a:r>
              <a:rPr lang="en-US" baseline="0" dirty="0" smtClean="0"/>
              <a:t> the only difference is the placement of the while statement</a:t>
            </a:r>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66612">
              <a:defRPr/>
            </a:pPr>
            <a:r>
              <a:rPr lang="en-US" dirty="0" smtClean="0"/>
              <a:t>Do until is the opposite</a:t>
            </a:r>
            <a:r>
              <a:rPr lang="en-US" baseline="0" dirty="0" smtClean="0"/>
              <a:t> of the do while since it executes the code block until the condition is true</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Note:</a:t>
            </a:r>
            <a:r>
              <a:rPr lang="en-US" dirty="0" smtClean="0"/>
              <a:t> each of the three parameters are optional.</a:t>
            </a:r>
          </a:p>
          <a:p>
            <a:r>
              <a:rPr lang="en-US" b="1" dirty="0" smtClean="0"/>
              <a:t>initialization</a:t>
            </a:r>
            <a:r>
              <a:rPr lang="en-US" dirty="0" smtClean="0"/>
              <a:t> -  one or more commands, separated by commas, that run before the loop begins. Commonly used to create and initialize a variable with a starting value. This variable is the basis for the condition to be tested in the next portion of the </a:t>
            </a:r>
            <a:r>
              <a:rPr lang="en-US" b="1" dirty="0" smtClean="0"/>
              <a:t>for </a:t>
            </a:r>
            <a:r>
              <a:rPr lang="en-US" dirty="0" smtClean="0"/>
              <a:t>statement. </a:t>
            </a:r>
          </a:p>
          <a:p>
            <a:r>
              <a:rPr lang="en-US" b="1" dirty="0" smtClean="0"/>
              <a:t>Condition</a:t>
            </a:r>
            <a:r>
              <a:rPr lang="en-US" dirty="0" smtClean="0"/>
              <a:t> – Resolves to a Boolean </a:t>
            </a:r>
            <a:r>
              <a:rPr lang="en-US" b="1" dirty="0" smtClean="0"/>
              <a:t>True </a:t>
            </a:r>
            <a:r>
              <a:rPr lang="en-US" dirty="0" smtClean="0"/>
              <a:t>or </a:t>
            </a:r>
            <a:r>
              <a:rPr lang="en-US" b="1" dirty="0" smtClean="0"/>
              <a:t>False </a:t>
            </a:r>
            <a:r>
              <a:rPr lang="en-US" dirty="0" smtClean="0"/>
              <a:t>value. </a:t>
            </a:r>
            <a:r>
              <a:rPr lang="en-US" dirty="0" err="1" smtClean="0"/>
              <a:t>PowerShell</a:t>
            </a:r>
            <a:r>
              <a:rPr lang="en-US" dirty="0" smtClean="0"/>
              <a:t> evaluates the condition each time the loop runs. If the condition is </a:t>
            </a:r>
            <a:r>
              <a:rPr lang="en-US" b="1" dirty="0" smtClean="0"/>
              <a:t>True</a:t>
            </a:r>
            <a:r>
              <a:rPr lang="en-US" dirty="0" smtClean="0"/>
              <a:t> the code block is executed, then the condition is tested again. </a:t>
            </a:r>
          </a:p>
          <a:p>
            <a:r>
              <a:rPr lang="en-US" b="1" dirty="0" smtClean="0"/>
              <a:t>Repeat</a:t>
            </a:r>
            <a:r>
              <a:rPr lang="en-US" dirty="0" smtClean="0"/>
              <a:t> – one or more commands, separated by commas, that run each time the loop repeats. Commonly used to modify a variable that is tested inside the “condition” portion of the </a:t>
            </a:r>
            <a:r>
              <a:rPr lang="en-US" b="1" dirty="0" smtClean="0"/>
              <a:t>for </a:t>
            </a:r>
            <a:r>
              <a:rPr lang="en-US" dirty="0" smtClean="0"/>
              <a:t>statement.</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Probably my most used </a:t>
            </a:r>
            <a:endParaRPr lang="en-US" dirty="0" smtClean="0"/>
          </a:p>
          <a:p>
            <a:endParaRPr lang="en-US" dirty="0" smtClean="0"/>
          </a:p>
          <a:p>
            <a:pPr marL="0" lvl="1" defTabSz="966612"/>
            <a:r>
              <a:rPr lang="en-US" sz="1700" dirty="0" smtClean="0">
                <a:latin typeface="Consolas" pitchFamily="49" charset="0"/>
                <a:cs typeface="Consolas" pitchFamily="49" charset="0"/>
              </a:rPr>
              <a:t>Get-Content -Path C:\Test.txt | Get-Service | Format-Table Name, Status -</a:t>
            </a:r>
            <a:r>
              <a:rPr lang="en-US" sz="1700" dirty="0" err="1" smtClean="0">
                <a:latin typeface="Consolas" pitchFamily="49" charset="0"/>
                <a:cs typeface="Consolas" pitchFamily="49" charset="0"/>
              </a:rPr>
              <a:t>AutoSize</a:t>
            </a:r>
            <a:endParaRPr lang="en-US" sz="1700" dirty="0" smtClean="0">
              <a:latin typeface="Consolas" pitchFamily="49" charset="0"/>
              <a:cs typeface="Consolas" pitchFamily="49" charset="0"/>
            </a:endParaRPr>
          </a:p>
          <a:p>
            <a:endParaRPr lang="en-US" dirty="0" smtClean="0"/>
          </a:p>
          <a:p>
            <a:r>
              <a:rPr lang="en-US" dirty="0" smtClean="0"/>
              <a:t>$Servers</a:t>
            </a:r>
            <a:r>
              <a:rPr lang="en-US" baseline="0" dirty="0" smtClean="0"/>
              <a:t> = Get-Content –Path C:\Test.txt</a:t>
            </a:r>
          </a:p>
          <a:p>
            <a:r>
              <a:rPr lang="en-US" baseline="0" dirty="0" err="1" smtClean="0"/>
              <a:t>Foreach</a:t>
            </a:r>
            <a:r>
              <a:rPr lang="en-US" baseline="0" dirty="0" smtClean="0"/>
              <a:t> ($Server in $Servers) {</a:t>
            </a:r>
          </a:p>
          <a:p>
            <a:r>
              <a:rPr lang="en-US" baseline="0" dirty="0" smtClean="0"/>
              <a:t>    Write-Host $Server –</a:t>
            </a:r>
            <a:r>
              <a:rPr lang="en-US" baseline="0" dirty="0" err="1" smtClean="0"/>
              <a:t>foregroundcolor</a:t>
            </a:r>
            <a:r>
              <a:rPr lang="en-US" baseline="0" dirty="0" smtClean="0"/>
              <a:t> green</a:t>
            </a:r>
          </a:p>
          <a:p>
            <a:r>
              <a:rPr lang="en-US" baseline="0" dirty="0" smtClean="0"/>
              <a:t>}</a:t>
            </a:r>
            <a:endParaRPr lang="en-US" dirty="0" smtClean="0"/>
          </a:p>
          <a:p>
            <a:endParaRPr lang="en-US" dirty="0" smtClean="0"/>
          </a:p>
          <a:p>
            <a:r>
              <a:rPr lang="en-US" dirty="0" smtClean="0"/>
              <a:t>Possible</a:t>
            </a:r>
            <a:r>
              <a:rPr lang="en-US" baseline="0" dirty="0" smtClean="0"/>
              <a:t> show this with get-content with txt file with list of </a:t>
            </a:r>
          </a:p>
          <a:p>
            <a:r>
              <a:rPr lang="en-US" baseline="0" dirty="0" smtClean="0"/>
              <a:t>Server1</a:t>
            </a:r>
          </a:p>
          <a:p>
            <a:r>
              <a:rPr lang="en-US" baseline="0" dirty="0" smtClean="0"/>
              <a:t>Server2</a:t>
            </a:r>
          </a:p>
          <a:p>
            <a:r>
              <a:rPr lang="en-US" baseline="0" dirty="0" smtClean="0"/>
              <a:t>Server3</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69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If statement is a piece</a:t>
            </a:r>
            <a:r>
              <a:rPr lang="en-US" baseline="0" dirty="0" smtClean="0"/>
              <a:t> of code that will execute if a condition is true. If statements can be used with else if and else statements it there is multiple conditions to be evaluated against,</a:t>
            </a:r>
          </a:p>
          <a:p>
            <a:r>
              <a:rPr lang="en-US" baseline="0" dirty="0" smtClean="0"/>
              <a:t>          Switch statement is like the case statement in </a:t>
            </a:r>
            <a:r>
              <a:rPr lang="en-US" baseline="0" dirty="0" err="1" smtClean="0"/>
              <a:t>Vbscript</a:t>
            </a:r>
            <a:r>
              <a:rPr lang="en-US" baseline="0" dirty="0" smtClean="0"/>
              <a:t> which  a piece code that checks for a condition and executes a piece of code depending on which condition is met.</a:t>
            </a:r>
          </a:p>
          <a:p>
            <a:endParaRPr lang="en-US" baseline="0" dirty="0" smtClean="0"/>
          </a:p>
          <a:p>
            <a:r>
              <a:rPr lang="en-US" baseline="0" dirty="0" smtClean="0"/>
              <a:t>So what is the difference? Well an if statement will stop when a condition is met where as the switch statement will execute all that meet the condition. Also, an if statement can check for multiple compare operators such as equals, like, great than, </a:t>
            </a:r>
            <a:r>
              <a:rPr lang="en-US" baseline="0" dirty="0" err="1" smtClean="0"/>
              <a:t>ect</a:t>
            </a:r>
            <a:r>
              <a:rPr lang="en-US" baseline="0" dirty="0" smtClean="0"/>
              <a:t>.</a:t>
            </a:r>
          </a:p>
          <a:p>
            <a:endParaRPr lang="en-US" baseline="0" dirty="0" smtClean="0"/>
          </a:p>
          <a:p>
            <a:r>
              <a:rPr lang="en-US" baseline="0" dirty="0" err="1" smtClean="0"/>
              <a:t>How:Examples</a:t>
            </a:r>
            <a:r>
              <a:rPr lang="en-US" baseline="0" dirty="0" smtClean="0"/>
              <a:t> and ISE </a:t>
            </a:r>
            <a:endParaRPr lang="en-US" dirty="0" smtClean="0"/>
          </a:p>
          <a:p>
            <a:endParaRPr lang="en-US" dirty="0" smtClean="0"/>
          </a:p>
          <a:p>
            <a:r>
              <a:rPr lang="en-US" dirty="0" smtClean="0"/>
              <a:t>Switch statement</a:t>
            </a:r>
            <a:r>
              <a:rPr lang="en-US" baseline="0" dirty="0" smtClean="0"/>
              <a:t> same as Case statement in VBScript</a:t>
            </a:r>
          </a:p>
          <a:p>
            <a:r>
              <a:rPr lang="en-US" baseline="0" dirty="0" smtClean="0"/>
              <a:t>What is the difference between a Switch statement and If/Else statement</a:t>
            </a:r>
          </a:p>
          <a:p>
            <a:r>
              <a:rPr lang="en-US" baseline="0" dirty="0" smtClean="0"/>
              <a:t>Switch statement will execute multiple “true” statements whereas the If/Else statement will only execute the first “true” statement it evaluates against.  </a:t>
            </a:r>
          </a:p>
          <a:p>
            <a:r>
              <a:rPr lang="en-US" baseline="0" dirty="0" smtClean="0"/>
              <a:t>If/Else statement supports multiple comparison operators</a:t>
            </a:r>
          </a:p>
          <a:p>
            <a:endParaRPr lang="en-US" dirty="0" smtClean="0"/>
          </a:p>
          <a:p>
            <a:r>
              <a:rPr lang="en-US" dirty="0" smtClean="0"/>
              <a:t>switch (10)</a:t>
            </a:r>
          </a:p>
          <a:p>
            <a:r>
              <a:rPr lang="en-US" dirty="0" smtClean="0"/>
              <a:t>{</a:t>
            </a:r>
          </a:p>
          <a:p>
            <a:r>
              <a:rPr lang="en-US" dirty="0" smtClean="0"/>
              <a:t>  (1 + 9) {Write-Host "Congratulations, you applied addition correctly"}</a:t>
            </a:r>
          </a:p>
          <a:p>
            <a:r>
              <a:rPr lang="en-US" dirty="0" smtClean="0"/>
              <a:t>  (1 + 10) {Write-Host "This script block better not run"}</a:t>
            </a:r>
          </a:p>
          <a:p>
            <a:r>
              <a:rPr lang="en-US" dirty="0" smtClean="0"/>
              <a:t>  (11 – 1) {Write-Host "Congratulations, you found the difference correctly"}</a:t>
            </a:r>
          </a:p>
          <a:p>
            <a:r>
              <a:rPr lang="en-US" dirty="0" smtClean="0"/>
              <a:t>  (1 – 11) {Write-Host "This script block better not run"}</a:t>
            </a:r>
          </a:p>
          <a:p>
            <a:r>
              <a:rPr lang="en-US" dirty="0" smtClean="0"/>
              <a:t>}</a:t>
            </a:r>
          </a:p>
          <a:p>
            <a:endParaRPr lang="en-US" dirty="0" smtClean="0"/>
          </a:p>
          <a:p>
            <a:endParaRPr lang="en-US" dirty="0" smtClean="0"/>
          </a:p>
          <a:p>
            <a:r>
              <a:rPr lang="en-US" dirty="0" smtClean="0"/>
              <a:t>$name = 2 #creates a variable name and assigns 2 as the value</a:t>
            </a:r>
          </a:p>
          <a:p>
            <a:r>
              <a:rPr lang="en-US" dirty="0" smtClean="0"/>
              <a:t>  if ($name -</a:t>
            </a:r>
            <a:r>
              <a:rPr lang="en-US" dirty="0" err="1" smtClean="0"/>
              <a:t>eq</a:t>
            </a:r>
            <a:r>
              <a:rPr lang="en-US" dirty="0" smtClean="0"/>
              <a:t> 5) {Write-Host "Hello my name is Chad - I love </a:t>
            </a:r>
            <a:r>
              <a:rPr lang="en-US" dirty="0" err="1" smtClean="0"/>
              <a:t>powershell</a:t>
            </a:r>
            <a:r>
              <a:rPr lang="en-US" dirty="0" smtClean="0"/>
              <a:t>"}</a:t>
            </a:r>
          </a:p>
          <a:p>
            <a:r>
              <a:rPr lang="en-US" dirty="0" smtClean="0"/>
              <a:t>    </a:t>
            </a:r>
            <a:r>
              <a:rPr lang="en-US" dirty="0" err="1" smtClean="0"/>
              <a:t>elseif</a:t>
            </a:r>
            <a:r>
              <a:rPr lang="en-US" dirty="0" smtClean="0"/>
              <a:t> ($name -</a:t>
            </a:r>
            <a:r>
              <a:rPr lang="en-US" dirty="0" err="1" smtClean="0"/>
              <a:t>eq</a:t>
            </a:r>
            <a:r>
              <a:rPr lang="en-US" dirty="0" smtClean="0"/>
              <a:t> 4) {Write-Host "Hello, my name is Ryan!  This training is great!"}</a:t>
            </a:r>
          </a:p>
          <a:p>
            <a:r>
              <a:rPr lang="en-US" dirty="0" smtClean="0"/>
              <a:t>    </a:t>
            </a:r>
            <a:r>
              <a:rPr lang="en-US" dirty="0" err="1" smtClean="0"/>
              <a:t>elseif</a:t>
            </a:r>
            <a:r>
              <a:rPr lang="en-US" dirty="0" smtClean="0"/>
              <a:t> ($name -</a:t>
            </a:r>
            <a:r>
              <a:rPr lang="en-US" dirty="0" err="1" smtClean="0"/>
              <a:t>eq</a:t>
            </a:r>
            <a:r>
              <a:rPr lang="en-US" dirty="0" smtClean="0"/>
              <a:t> 2) {Write-Host "Hello, my name is Dustin! I hope you are enjoying this training!"}</a:t>
            </a:r>
          </a:p>
          <a:p>
            <a:r>
              <a:rPr lang="en-US" dirty="0" smtClean="0"/>
              <a:t>    </a:t>
            </a:r>
            <a:r>
              <a:rPr lang="en-US" dirty="0" err="1" smtClean="0"/>
              <a:t>elseif</a:t>
            </a:r>
            <a:r>
              <a:rPr lang="en-US" dirty="0" smtClean="0"/>
              <a:t> ($name -</a:t>
            </a:r>
            <a:r>
              <a:rPr lang="en-US" dirty="0" err="1" smtClean="0"/>
              <a:t>gt</a:t>
            </a:r>
            <a:r>
              <a:rPr lang="en-US" dirty="0" smtClean="0"/>
              <a:t> 1) {Write-Host "Hello, my name is Dave- you are doing great!"}</a:t>
            </a:r>
          </a:p>
          <a:p>
            <a:r>
              <a:rPr lang="en-US" dirty="0" smtClean="0"/>
              <a:t>  else {"I have no idea what my name is?"}</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defTabSz="966612">
              <a:defRPr/>
            </a:pPr>
            <a:r>
              <a:rPr lang="en-US" dirty="0" smtClean="0"/>
              <a:t>What: Self contained module that performs</a:t>
            </a:r>
            <a:r>
              <a:rPr lang="en-US" baseline="0" dirty="0" smtClean="0"/>
              <a:t> a task.  Think of them as mini-</a:t>
            </a:r>
            <a:r>
              <a:rPr lang="en-US" baseline="0" dirty="0" err="1" smtClean="0"/>
              <a:t>cmdlets</a:t>
            </a:r>
            <a:r>
              <a:rPr lang="en-US" baseline="0" dirty="0" smtClean="0"/>
              <a:t>. These must be defined before called typically at the top of the script since </a:t>
            </a:r>
            <a:r>
              <a:rPr lang="en-US" baseline="0" dirty="0" err="1" smtClean="0"/>
              <a:t>powershell</a:t>
            </a:r>
            <a:r>
              <a:rPr lang="en-US" baseline="0" dirty="0" smtClean="0"/>
              <a:t> runs top down.</a:t>
            </a:r>
          </a:p>
          <a:p>
            <a:pPr marL="0" lvl="1" defTabSz="966612">
              <a:defRPr/>
            </a:pPr>
            <a:r>
              <a:rPr lang="en-US" baseline="0" dirty="0" smtClean="0"/>
              <a:t>Why: Functions allow us to rerun the same task multiple times once defined</a:t>
            </a:r>
          </a:p>
          <a:p>
            <a:pPr marL="0" lvl="1" defTabSz="966612">
              <a:defRPr/>
            </a:pPr>
            <a:r>
              <a:rPr lang="en-US" baseline="0" dirty="0" smtClean="0"/>
              <a:t>Show examples</a:t>
            </a:r>
            <a:endParaRPr lang="en-US" dirty="0" smtClean="0"/>
          </a:p>
          <a:p>
            <a:pPr marL="0" lvl="1" defTabSz="966612">
              <a:defRPr/>
            </a:pPr>
            <a:endParaRPr lang="en-US" dirty="0" smtClean="0"/>
          </a:p>
          <a:p>
            <a:pPr marL="0" lvl="1" defTabSz="966612">
              <a:defRPr/>
            </a:pPr>
            <a:r>
              <a:rPr lang="en-US" dirty="0" smtClean="0"/>
              <a:t>Function sum([</a:t>
            </a:r>
            <a:r>
              <a:rPr lang="en-US" dirty="0" err="1" smtClean="0"/>
              <a:t>int</a:t>
            </a:r>
            <a:r>
              <a:rPr lang="en-US" dirty="0" smtClean="0"/>
              <a:t>]$</a:t>
            </a:r>
            <a:r>
              <a:rPr lang="en-US" dirty="0" err="1" smtClean="0"/>
              <a:t>firstNumber</a:t>
            </a:r>
            <a:r>
              <a:rPr lang="en-US" dirty="0" smtClean="0"/>
              <a:t>,[</a:t>
            </a:r>
            <a:r>
              <a:rPr lang="en-US" dirty="0" err="1" smtClean="0"/>
              <a:t>int</a:t>
            </a:r>
            <a:r>
              <a:rPr lang="en-US" dirty="0" smtClean="0"/>
              <a:t>]$</a:t>
            </a:r>
            <a:r>
              <a:rPr lang="en-US" dirty="0" err="1" smtClean="0"/>
              <a:t>secondnumber</a:t>
            </a:r>
            <a:r>
              <a:rPr lang="en-US" dirty="0" smtClean="0"/>
              <a:t>) #parameters</a:t>
            </a:r>
          </a:p>
          <a:p>
            <a:pPr marL="0" lvl="1" defTabSz="966612">
              <a:defRPr/>
            </a:pPr>
            <a:endParaRPr lang="en-US" dirty="0" smtClean="0"/>
          </a:p>
          <a:p>
            <a:pPr marL="0" lvl="1" defTabSz="966612">
              <a:defRPr/>
            </a:pPr>
            <a:r>
              <a:rPr lang="en-US" dirty="0" smtClean="0"/>
              <a:t> A function allows you to name a block of code. The code block can then be called (by its name) once or multiple times anywhere from within your script.</a:t>
            </a:r>
          </a:p>
          <a:p>
            <a:pPr marL="0" lvl="1" defTabSz="966612">
              <a:defRPr/>
            </a:pPr>
            <a:endParaRPr lang="en-US" dirty="0" smtClean="0"/>
          </a:p>
          <a:p>
            <a:pPr marL="0" lvl="1" defTabSz="966612">
              <a:defRPr/>
            </a:pPr>
            <a:r>
              <a:rPr lang="en-US" dirty="0" smtClean="0"/>
              <a:t>{</a:t>
            </a:r>
          </a:p>
          <a:p>
            <a:pPr marL="0" lvl="1" defTabSz="966612">
              <a:defRPr/>
            </a:pPr>
            <a:r>
              <a:rPr lang="en-US" dirty="0" smtClean="0"/>
              <a:t>    Write-Host "output:"</a:t>
            </a:r>
          </a:p>
          <a:p>
            <a:pPr marL="0" lvl="1" defTabSz="966612">
              <a:defRPr/>
            </a:pPr>
            <a:r>
              <a:rPr lang="en-US" dirty="0" smtClean="0"/>
              <a:t>    return $</a:t>
            </a:r>
            <a:r>
              <a:rPr lang="en-US" dirty="0" err="1" smtClean="0"/>
              <a:t>firstNumber</a:t>
            </a:r>
            <a:r>
              <a:rPr lang="en-US" dirty="0" smtClean="0"/>
              <a:t> + $</a:t>
            </a:r>
            <a:r>
              <a:rPr lang="en-US" dirty="0" err="1" smtClean="0"/>
              <a:t>secondnumber</a:t>
            </a:r>
            <a:endParaRPr lang="en-US" dirty="0" smtClean="0"/>
          </a:p>
          <a:p>
            <a:pPr marL="0" lvl="1" defTabSz="966612">
              <a:defRPr/>
            </a:pPr>
            <a:r>
              <a:rPr lang="en-US" dirty="0" smtClean="0"/>
              <a:t> }</a:t>
            </a:r>
          </a:p>
          <a:p>
            <a:pPr marL="0" lvl="1" defTabSz="966612">
              <a:defRPr/>
            </a:pPr>
            <a:r>
              <a:rPr lang="en-US" dirty="0" smtClean="0"/>
              <a:t> </a:t>
            </a:r>
          </a:p>
          <a:p>
            <a:pPr marL="0" lvl="1" defTabSz="966612">
              <a:defRPr/>
            </a:pPr>
            <a:endParaRPr lang="en-US" dirty="0" smtClean="0"/>
          </a:p>
          <a:p>
            <a:pPr marL="0" lvl="1" defTabSz="966612">
              <a:defRPr/>
            </a:pPr>
            <a:r>
              <a:rPr lang="en-US" dirty="0" smtClean="0"/>
              <a:t>Function Time {Get-Date}</a:t>
            </a:r>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a:t>
            </a:r>
            <a:r>
              <a:rPr lang="en-US" baseline="0" dirty="0" smtClean="0"/>
              <a:t> $</a:t>
            </a:r>
            <a:r>
              <a:rPr lang="en-US" baseline="0" dirty="0" err="1" smtClean="0"/>
              <a:t>Args</a:t>
            </a:r>
            <a:r>
              <a:rPr lang="en-US" baseline="0" dirty="0" smtClean="0"/>
              <a:t> or arguments are used as positional parameters and with these parameters a predefined script will generate results based on the parameters passed.</a:t>
            </a:r>
          </a:p>
          <a:p>
            <a:r>
              <a:rPr lang="en-US" baseline="0" dirty="0" smtClean="0"/>
              <a:t>          Whereas </a:t>
            </a:r>
            <a:r>
              <a:rPr lang="en-US" baseline="0" dirty="0" err="1" smtClean="0"/>
              <a:t>Param</a:t>
            </a:r>
            <a:r>
              <a:rPr lang="en-US" baseline="0" dirty="0" smtClean="0"/>
              <a:t>() is a named parameter that will is issue at beginning of script based on the supplied parameters.</a:t>
            </a:r>
          </a:p>
          <a:p>
            <a:r>
              <a:rPr lang="en-US" baseline="0" dirty="0" smtClean="0"/>
              <a:t>Why: These are very useful for entering variables to a script without hard coding them into it. For example you have a script that you want to find all the servers for a certain platform team that are deployed so you would have two parameters one for the platform support group and status for deployed but you do not care what the underlying code is but you may want to switch the platform support group from windows-legal-</a:t>
            </a:r>
            <a:r>
              <a:rPr lang="en-US" baseline="0" dirty="0" err="1" smtClean="0"/>
              <a:t>int</a:t>
            </a:r>
            <a:r>
              <a:rPr lang="en-US" baseline="0" dirty="0" smtClean="0"/>
              <a:t> to windows-tax-</a:t>
            </a:r>
            <a:r>
              <a:rPr lang="en-US" baseline="0" dirty="0" err="1" smtClean="0"/>
              <a:t>cust</a:t>
            </a:r>
            <a:r>
              <a:rPr lang="en-US" baseline="0" dirty="0" smtClean="0"/>
              <a:t>. So with this you would be able to that straight from the command prompt without touching the hard written code.</a:t>
            </a:r>
          </a:p>
          <a:p>
            <a:endParaRPr lang="en-US" baseline="0" dirty="0" smtClean="0"/>
          </a:p>
          <a:p>
            <a:r>
              <a:rPr lang="en-US" baseline="0" dirty="0" smtClean="0"/>
              <a:t>How: show example and ISE</a:t>
            </a:r>
            <a:endParaRPr lang="en-US" dirty="0" smtClean="0"/>
          </a:p>
          <a:p>
            <a:endParaRPr lang="en-US" dirty="0" smtClean="0"/>
          </a:p>
          <a:p>
            <a:r>
              <a:rPr lang="en-US" dirty="0" smtClean="0"/>
              <a:t>Suggestions</a:t>
            </a:r>
          </a:p>
          <a:p>
            <a:pPr marL="181240" indent="-181240">
              <a:buFontTx/>
              <a:buChar char="-"/>
            </a:pPr>
            <a:r>
              <a:rPr lang="en-US" baseline="0" dirty="0" smtClean="0"/>
              <a:t>Show example of how to call using </a:t>
            </a:r>
            <a:r>
              <a:rPr lang="en-US" baseline="0" dirty="0" err="1" smtClean="0"/>
              <a:t>args</a:t>
            </a:r>
            <a:r>
              <a:rPr lang="en-US" baseline="0" dirty="0" smtClean="0"/>
              <a:t> and </a:t>
            </a:r>
            <a:r>
              <a:rPr lang="en-US" baseline="0" dirty="0" err="1" smtClean="0"/>
              <a:t>params</a:t>
            </a:r>
            <a:r>
              <a:rPr lang="en-US" baseline="0" dirty="0" smtClean="0"/>
              <a:t> </a:t>
            </a:r>
          </a:p>
          <a:p>
            <a:pPr marL="181240" indent="-181240">
              <a:buFontTx/>
              <a:buChar char="-"/>
            </a:pPr>
            <a:r>
              <a:rPr lang="en-US" baseline="0" dirty="0" smtClean="0"/>
              <a:t>Document how to code </a:t>
            </a:r>
            <a:r>
              <a:rPr lang="en-US" baseline="0" dirty="0" err="1" smtClean="0"/>
              <a:t>args</a:t>
            </a:r>
            <a:r>
              <a:rPr lang="en-US" baseline="0" dirty="0" smtClean="0"/>
              <a:t> and </a:t>
            </a:r>
            <a:r>
              <a:rPr lang="en-US" baseline="0" dirty="0" err="1" smtClean="0"/>
              <a:t>params</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b="1" dirty="0" smtClean="0"/>
              <a:t>Here’s the solution script:</a:t>
            </a:r>
          </a:p>
          <a:p>
            <a:endParaRPr lang="en-US" sz="1300" dirty="0" smtClean="0"/>
          </a:p>
          <a:p>
            <a:r>
              <a:rPr lang="en-US" sz="1300" dirty="0" smtClean="0"/>
              <a:t>$</a:t>
            </a:r>
            <a:r>
              <a:rPr lang="en-US" sz="1300" dirty="0" err="1" smtClean="0"/>
              <a:t>var</a:t>
            </a:r>
            <a:r>
              <a:rPr lang="en-US" sz="1300" dirty="0" smtClean="0"/>
              <a:t> = "Hello World"</a:t>
            </a:r>
          </a:p>
          <a:p>
            <a:r>
              <a:rPr lang="en-US" sz="1300" dirty="0" smtClean="0"/>
              <a:t>$var2 = "I say, $</a:t>
            </a:r>
            <a:r>
              <a:rPr lang="en-US" sz="1300" dirty="0" err="1" smtClean="0"/>
              <a:t>var</a:t>
            </a:r>
            <a:r>
              <a:rPr lang="en-US" sz="1300" dirty="0" smtClean="0"/>
              <a:t>"</a:t>
            </a:r>
          </a:p>
          <a:p>
            <a:r>
              <a:rPr lang="en-US" sz="1300" dirty="0" smtClean="0"/>
              <a:t>$var2</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b="1" dirty="0" smtClean="0"/>
              <a:t>Here’s the solution script:</a:t>
            </a:r>
          </a:p>
          <a:p>
            <a:endParaRPr lang="en-US" sz="1300" dirty="0" smtClean="0"/>
          </a:p>
          <a:p>
            <a:r>
              <a:rPr lang="en-US" sz="1300" dirty="0" smtClean="0"/>
              <a:t>$</a:t>
            </a:r>
            <a:r>
              <a:rPr lang="en-US" sz="1300" dirty="0" err="1" smtClean="0"/>
              <a:t>arrColor</a:t>
            </a:r>
            <a:r>
              <a:rPr lang="en-US" sz="1300" dirty="0" smtClean="0"/>
              <a:t> = @("</a:t>
            </a:r>
            <a:r>
              <a:rPr lang="en-US" sz="1300" dirty="0" err="1" smtClean="0"/>
              <a:t>one","two","three</a:t>
            </a:r>
            <a:r>
              <a:rPr lang="en-US" sz="1300" dirty="0" smtClean="0"/>
              <a:t>")</a:t>
            </a:r>
          </a:p>
          <a:p>
            <a:r>
              <a:rPr lang="en-US" sz="1300" dirty="0" smtClean="0"/>
              <a:t>$</a:t>
            </a:r>
            <a:r>
              <a:rPr lang="en-US" sz="1300" dirty="0" err="1" smtClean="0"/>
              <a:t>arrColor</a:t>
            </a:r>
            <a:r>
              <a:rPr lang="en-US" sz="1300" dirty="0" smtClean="0"/>
              <a:t> | </a:t>
            </a:r>
            <a:r>
              <a:rPr lang="en-US" sz="1300" b="1" dirty="0" smtClean="0"/>
              <a:t>where { $_.Length -</a:t>
            </a:r>
            <a:r>
              <a:rPr lang="en-US" sz="1300" b="1" dirty="0" err="1" smtClean="0"/>
              <a:t>lt</a:t>
            </a:r>
            <a:r>
              <a:rPr lang="en-US" sz="1300" b="1" dirty="0" smtClean="0"/>
              <a:t> 4 } | Write-Host </a:t>
            </a:r>
            <a:r>
              <a:rPr lang="en-US" sz="1300" b="1" i="1" dirty="0" smtClean="0"/>
              <a:t>-</a:t>
            </a:r>
            <a:r>
              <a:rPr lang="en-US" sz="1300" b="1" i="1" dirty="0" err="1" smtClean="0"/>
              <a:t>foregroundcolor</a:t>
            </a:r>
            <a:r>
              <a:rPr lang="en-US" sz="1300" b="1" i="1" dirty="0" smtClean="0"/>
              <a:t> green</a:t>
            </a:r>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b="1" dirty="0" smtClean="0"/>
              <a:t>Here’s the solution script:</a:t>
            </a:r>
          </a:p>
          <a:p>
            <a:endParaRPr lang="en-US" sz="1300" dirty="0" smtClean="0"/>
          </a:p>
          <a:p>
            <a:r>
              <a:rPr lang="en-US" sz="1300" dirty="0" smtClean="0"/>
              <a:t>$events = Get‐</a:t>
            </a:r>
            <a:r>
              <a:rPr lang="en-US" sz="1300" dirty="0" err="1" smtClean="0"/>
              <a:t>EventLog</a:t>
            </a:r>
            <a:r>
              <a:rPr lang="en-US" sz="1300" dirty="0" smtClean="0"/>
              <a:t>  -</a:t>
            </a:r>
            <a:r>
              <a:rPr lang="en-US" sz="1300" dirty="0" err="1" smtClean="0"/>
              <a:t>Logname</a:t>
            </a:r>
            <a:r>
              <a:rPr lang="en-US" sz="1300" dirty="0" smtClean="0"/>
              <a:t> System ‐Newest 50</a:t>
            </a:r>
          </a:p>
          <a:p>
            <a:endParaRPr lang="en-US" sz="1300" dirty="0" smtClean="0"/>
          </a:p>
          <a:p>
            <a:r>
              <a:rPr lang="en-US" sz="1300" dirty="0" err="1" smtClean="0"/>
              <a:t>foreach</a:t>
            </a:r>
            <a:r>
              <a:rPr lang="en-US" sz="1300" dirty="0" smtClean="0"/>
              <a:t> ($event in $events) {</a:t>
            </a:r>
          </a:p>
          <a:p>
            <a:r>
              <a:rPr lang="en-US" sz="1300" dirty="0" smtClean="0"/>
              <a:t>switch ($</a:t>
            </a:r>
            <a:r>
              <a:rPr lang="en-US" sz="1300" dirty="0" err="1" smtClean="0"/>
              <a:t>event.category</a:t>
            </a:r>
            <a:r>
              <a:rPr lang="en-US" sz="1300" dirty="0" smtClean="0"/>
              <a:t>) {</a:t>
            </a:r>
          </a:p>
          <a:p>
            <a:r>
              <a:rPr lang="en-US" sz="1300" dirty="0" smtClean="0"/>
              <a:t>"(0)" { $color = "Green" }</a:t>
            </a:r>
          </a:p>
          <a:p>
            <a:r>
              <a:rPr lang="en-US" sz="1300" dirty="0" smtClean="0"/>
              <a:t>"(101)" { $color = "Yellow" }</a:t>
            </a:r>
          </a:p>
          <a:p>
            <a:r>
              <a:rPr lang="en-US" sz="1300" dirty="0" smtClean="0"/>
              <a:t>"(103)" { $color = "Red" }</a:t>
            </a:r>
          </a:p>
          <a:p>
            <a:r>
              <a:rPr lang="en-US" sz="1300" dirty="0" smtClean="0"/>
              <a:t>default { $color = "White" }</a:t>
            </a:r>
          </a:p>
          <a:p>
            <a:r>
              <a:rPr lang="en-US" sz="1300" dirty="0" smtClean="0"/>
              <a:t>}</a:t>
            </a:r>
          </a:p>
          <a:p>
            <a:r>
              <a:rPr lang="en-US" sz="1300" dirty="0" smtClean="0"/>
              <a:t>Write‐Host $</a:t>
            </a:r>
            <a:r>
              <a:rPr lang="en-US" sz="1300" dirty="0" err="1" smtClean="0"/>
              <a:t>event.timewritten</a:t>
            </a:r>
            <a:r>
              <a:rPr lang="en-US" sz="1300" dirty="0" smtClean="0"/>
              <a:t> ‐</a:t>
            </a:r>
            <a:r>
              <a:rPr lang="en-US" sz="1300" dirty="0" err="1" smtClean="0"/>
              <a:t>foregroundcolor</a:t>
            </a:r>
            <a:r>
              <a:rPr lang="en-US" sz="1300" dirty="0" smtClean="0"/>
              <a:t> $color</a:t>
            </a:r>
          </a:p>
          <a:p>
            <a:r>
              <a:rPr lang="en-US" sz="1300" dirty="0" smtClean="0"/>
              <a:t>}</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76</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Add conversation around scope</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79</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80</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a:t>
            </a:r>
            <a:r>
              <a:rPr lang="en-US" baseline="0" dirty="0" smtClean="0"/>
              <a:t> is middleware to access lower level operating systems code.</a:t>
            </a:r>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81</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84</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85</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86</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87</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88</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89</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90</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91</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92</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93</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94</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95</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96</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97</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98</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99</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http://technet.microsoft.com/en-us/scriptcenter/ee861518.aspx</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118</a:t>
            </a:fld>
            <a:endParaRPr lang="en-US"/>
          </a:p>
        </p:txBody>
      </p:sp>
    </p:spTree>
    <p:extLst>
      <p:ext uri="{BB962C8B-B14F-4D97-AF65-F5344CB8AC3E}">
        <p14:creationId xmlns="" xmlns:p14="http://schemas.microsoft.com/office/powerpoint/2010/main" val="14502652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895DFEE4-DA45-458B-93D2-D92960DDE927}" type="slidenum">
              <a:rPr lang="en-US" smtClean="0"/>
              <a:pPr>
                <a:defRPr/>
              </a:pPr>
              <a:t>126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p:cNvSpPr>
            <a:spLocks noChangeShapeType="1"/>
          </p:cNvSpPr>
          <p:nvPr/>
        </p:nvSpPr>
        <p:spPr bwMode="auto">
          <a:xfrm>
            <a:off x="355600" y="4321175"/>
            <a:ext cx="8410575" cy="0"/>
          </a:xfrm>
          <a:prstGeom prst="line">
            <a:avLst/>
          </a:prstGeom>
          <a:noFill/>
          <a:ln w="24130" cap="rnd">
            <a:solidFill>
              <a:schemeClr val="tx1"/>
            </a:solidFill>
            <a:prstDash val="sysDot"/>
            <a:round/>
            <a:headEnd/>
            <a:tailEnd/>
          </a:ln>
        </p:spPr>
        <p:txBody>
          <a:bodyPr/>
          <a:lstStyle/>
          <a:p>
            <a:pPr>
              <a:defRPr/>
            </a:pPr>
            <a:endParaRPr lang="en-US">
              <a:latin typeface="Arial" pitchFamily="34" charset="0"/>
              <a:ea typeface="ＭＳ Ｐゴシック" charset="-128"/>
            </a:endParaRPr>
          </a:p>
        </p:txBody>
      </p:sp>
      <p:pic>
        <p:nvPicPr>
          <p:cNvPr id="5" name="Picture 6" descr="tr_hrz_rgb_pos"/>
          <p:cNvPicPr>
            <a:picLocks noChangeAspect="1" noChangeArrowheads="1"/>
          </p:cNvPicPr>
          <p:nvPr/>
        </p:nvPicPr>
        <p:blipFill>
          <a:blip r:embed="rId2">
            <a:extLst>
              <a:ext uri="{28A0092B-C50C-407E-A947-70E740481C1C}">
                <a14:useLocalDpi xmlns="" xmlns:a14="http://schemas.microsoft.com/office/drawing/2010/main" val="0"/>
              </a:ext>
            </a:extLst>
          </a:blip>
          <a:srcRect b="20689"/>
          <a:stretch>
            <a:fillRect/>
          </a:stretch>
        </p:blipFill>
        <p:spPr bwMode="auto">
          <a:xfrm>
            <a:off x="6048375" y="5976938"/>
            <a:ext cx="2733675" cy="696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386" name="Rectangle 2"/>
          <p:cNvSpPr>
            <a:spLocks noGrp="1" noChangeArrowheads="1"/>
          </p:cNvSpPr>
          <p:nvPr>
            <p:ph type="ctrTitle"/>
          </p:nvPr>
        </p:nvSpPr>
        <p:spPr>
          <a:xfrm>
            <a:off x="361950" y="3448050"/>
            <a:ext cx="8382000" cy="819150"/>
          </a:xfrm>
        </p:spPr>
        <p:txBody>
          <a:bodyPr/>
          <a:lstStyle>
            <a:lvl1pPr>
              <a:defRPr sz="3200">
                <a:solidFill>
                  <a:srgbClr val="FF8000"/>
                </a:solidFill>
              </a:defRPr>
            </a:lvl1pPr>
          </a:lstStyle>
          <a:p>
            <a:r>
              <a:rPr lang="en-US"/>
              <a:t>Click to edit Master title style</a:t>
            </a:r>
          </a:p>
        </p:txBody>
      </p:sp>
      <p:sp>
        <p:nvSpPr>
          <p:cNvPr id="16387" name="Rectangle 3"/>
          <p:cNvSpPr>
            <a:spLocks noGrp="1" noChangeArrowheads="1"/>
          </p:cNvSpPr>
          <p:nvPr>
            <p:ph type="subTitle" idx="1"/>
          </p:nvPr>
        </p:nvSpPr>
        <p:spPr>
          <a:xfrm>
            <a:off x="361950" y="4435475"/>
            <a:ext cx="8382000" cy="1279525"/>
          </a:xfrm>
        </p:spPr>
        <p:txBody>
          <a:bodyPr rIns="0"/>
          <a:lstStyle>
            <a:lvl1pPr marL="0" indent="0">
              <a:lnSpc>
                <a:spcPct val="90000"/>
              </a:lnSpc>
              <a:spcBef>
                <a:spcPct val="0"/>
              </a:spcBef>
              <a:buFontTx/>
              <a:buNone/>
              <a:defRPr sz="1800">
                <a:solidFill>
                  <a:srgbClr val="4B4B4B"/>
                </a:solidFill>
              </a:defRPr>
            </a:lvl1pPr>
          </a:lstStyle>
          <a:p>
            <a:r>
              <a:rPr lang="en-US"/>
              <a:t>Click to edit Master subtitle style</a:t>
            </a:r>
          </a:p>
        </p:txBody>
      </p:sp>
    </p:spTree>
    <p:extLst>
      <p:ext uri="{BB962C8B-B14F-4D97-AF65-F5344CB8AC3E}">
        <p14:creationId xmlns="" xmlns:p14="http://schemas.microsoft.com/office/powerpoint/2010/main" val="32891629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2316CB9-F88E-48FF-8B5C-C0308D5D33BD}" type="slidenum">
              <a:rPr lang="en-US"/>
              <a:pPr>
                <a:defRPr/>
              </a:pPr>
              <a:t>‹#›</a:t>
            </a:fld>
            <a:endParaRPr lang="en-US"/>
          </a:p>
        </p:txBody>
      </p:sp>
    </p:spTree>
    <p:extLst>
      <p:ext uri="{BB962C8B-B14F-4D97-AF65-F5344CB8AC3E}">
        <p14:creationId xmlns="" xmlns:p14="http://schemas.microsoft.com/office/powerpoint/2010/main" val="22442709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315200" cy="381000"/>
          </a:xfrm>
        </p:spPr>
        <p:txBody>
          <a:bodyPr anchor="t"/>
          <a:lstStyle>
            <a:lvl1pPr algn="l">
              <a:defRPr sz="2800" b="1" cap="all"/>
            </a:lvl1pPr>
          </a:lstStyle>
          <a:p>
            <a:r>
              <a:rPr lang="en-US" dirty="0" smtClean="0"/>
              <a:t>Click to edit Master</a:t>
            </a:r>
            <a:endParaRPr 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4C14D49-D4C5-4BAA-8E10-09675044ECBB}" type="slidenum">
              <a:rPr lang="en-US"/>
              <a:pPr>
                <a:defRPr/>
              </a:pPr>
              <a:t>‹#›</a:t>
            </a:fld>
            <a:endParaRPr lang="en-US"/>
          </a:p>
        </p:txBody>
      </p:sp>
      <p:sp>
        <p:nvSpPr>
          <p:cNvPr id="7" name="Picture Placeholder 6"/>
          <p:cNvSpPr>
            <a:spLocks noGrp="1"/>
          </p:cNvSpPr>
          <p:nvPr>
            <p:ph type="pic" sz="quarter" idx="12"/>
          </p:nvPr>
        </p:nvSpPr>
        <p:spPr>
          <a:xfrm>
            <a:off x="914400" y="838200"/>
            <a:ext cx="7315200" cy="4953000"/>
          </a:xfrm>
        </p:spPr>
        <p:txBody>
          <a:bodyPr/>
          <a:lstStyle/>
          <a:p>
            <a:endParaRPr lang="en-US"/>
          </a:p>
        </p:txBody>
      </p:sp>
    </p:spTree>
    <p:extLst>
      <p:ext uri="{BB962C8B-B14F-4D97-AF65-F5344CB8AC3E}">
        <p14:creationId xmlns="" xmlns:p14="http://schemas.microsoft.com/office/powerpoint/2010/main" val="28651127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7575" y="1525588"/>
            <a:ext cx="3608388"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78363" y="1525588"/>
            <a:ext cx="3608387" cy="4570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4F4E1CF8-D304-4E91-919A-DE4B4A7F5DD5}" type="slidenum">
              <a:rPr lang="en-US"/>
              <a:pPr>
                <a:defRPr/>
              </a:pPr>
              <a:t>‹#›</a:t>
            </a:fld>
            <a:endParaRPr lang="en-US"/>
          </a:p>
        </p:txBody>
      </p:sp>
    </p:spTree>
    <p:extLst>
      <p:ext uri="{BB962C8B-B14F-4D97-AF65-F5344CB8AC3E}">
        <p14:creationId xmlns="" xmlns:p14="http://schemas.microsoft.com/office/powerpoint/2010/main" val="59677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5822E234-1C8D-453B-B240-4019F904CB00}" type="slidenum">
              <a:rPr lang="en-US"/>
              <a:pPr>
                <a:defRPr/>
              </a:pPr>
              <a:t>‹#›</a:t>
            </a:fld>
            <a:endParaRPr lang="en-US"/>
          </a:p>
        </p:txBody>
      </p:sp>
    </p:spTree>
    <p:extLst>
      <p:ext uri="{BB962C8B-B14F-4D97-AF65-F5344CB8AC3E}">
        <p14:creationId xmlns="" xmlns:p14="http://schemas.microsoft.com/office/powerpoint/2010/main" val="1757913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367EB2E3-8027-41EF-BC7B-76B64AD54728}" type="slidenum">
              <a:rPr lang="en-US"/>
              <a:pPr>
                <a:defRPr/>
              </a:pPr>
              <a:t>‹#›</a:t>
            </a:fld>
            <a:endParaRPr lang="en-US"/>
          </a:p>
        </p:txBody>
      </p:sp>
    </p:spTree>
    <p:extLst>
      <p:ext uri="{BB962C8B-B14F-4D97-AF65-F5344CB8AC3E}">
        <p14:creationId xmlns="" xmlns:p14="http://schemas.microsoft.com/office/powerpoint/2010/main" val="27184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5552D14D-4BFA-43B1-B25B-627D19BC90F6}" type="slidenum">
              <a:rPr lang="en-US"/>
              <a:pPr>
                <a:defRPr/>
              </a:pPr>
              <a:t>‹#›</a:t>
            </a:fld>
            <a:endParaRPr lang="en-US"/>
          </a:p>
        </p:txBody>
      </p:sp>
    </p:spTree>
    <p:extLst>
      <p:ext uri="{BB962C8B-B14F-4D97-AF65-F5344CB8AC3E}">
        <p14:creationId xmlns="" xmlns:p14="http://schemas.microsoft.com/office/powerpoint/2010/main" val="303617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EBFD95C9-9418-453C-AE03-FEEA953136D5}" type="slidenum">
              <a:rPr lang="en-US"/>
              <a:pPr>
                <a:defRPr/>
              </a:pPr>
              <a:t>‹#›</a:t>
            </a:fld>
            <a:endParaRPr lang="en-US"/>
          </a:p>
        </p:txBody>
      </p:sp>
    </p:spTree>
    <p:extLst>
      <p:ext uri="{BB962C8B-B14F-4D97-AF65-F5344CB8AC3E}">
        <p14:creationId xmlns="" xmlns:p14="http://schemas.microsoft.com/office/powerpoint/2010/main" val="3909528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72FD14E9-240D-46D9-AF2F-6778859C279B}" type="slidenum">
              <a:rPr lang="en-US"/>
              <a:pPr>
                <a:defRPr/>
              </a:pPr>
              <a:t>‹#›</a:t>
            </a:fld>
            <a:endParaRPr lang="en-US"/>
          </a:p>
        </p:txBody>
      </p:sp>
    </p:spTree>
    <p:extLst>
      <p:ext uri="{BB962C8B-B14F-4D97-AF65-F5344CB8AC3E}">
        <p14:creationId xmlns="" xmlns:p14="http://schemas.microsoft.com/office/powerpoint/2010/main" val="882515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0AEA8D48-0292-4900-9633-8B885173077C}" type="slidenum">
              <a:rPr lang="en-US"/>
              <a:pPr>
                <a:defRPr/>
              </a:pPr>
              <a:t>‹#›</a:t>
            </a:fld>
            <a:endParaRPr lang="en-US"/>
          </a:p>
        </p:txBody>
      </p:sp>
    </p:spTree>
    <p:extLst>
      <p:ext uri="{BB962C8B-B14F-4D97-AF65-F5344CB8AC3E}">
        <p14:creationId xmlns="" xmlns:p14="http://schemas.microsoft.com/office/powerpoint/2010/main" val="86032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5250" y="506413"/>
            <a:ext cx="1841500" cy="55895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7575" y="506413"/>
            <a:ext cx="5375275" cy="55895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07EAA53-270A-4008-AC0A-524FE24E3215}" type="slidenum">
              <a:rPr lang="en-US"/>
              <a:pPr>
                <a:defRPr/>
              </a:pPr>
              <a:t>‹#›</a:t>
            </a:fld>
            <a:endParaRPr lang="en-US"/>
          </a:p>
        </p:txBody>
      </p:sp>
    </p:spTree>
    <p:extLst>
      <p:ext uri="{BB962C8B-B14F-4D97-AF65-F5344CB8AC3E}">
        <p14:creationId xmlns="" xmlns:p14="http://schemas.microsoft.com/office/powerpoint/2010/main" val="3015991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336550" y="1530350"/>
            <a:ext cx="2162175" cy="457200"/>
          </a:xfrm>
          <a:prstGeom prst="rect">
            <a:avLst/>
          </a:prstGeom>
          <a:noFill/>
          <a:ln>
            <a:noFill/>
          </a:ln>
          <a:extLst/>
        </p:spPr>
        <p:txBody>
          <a:bodyPr>
            <a:spAutoFit/>
          </a:bodyPr>
          <a:lstStyle>
            <a:lvl1pPr marL="228600" indent="-2286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Clr>
                <a:schemeClr val="tx2"/>
              </a:buClr>
              <a:buFontTx/>
              <a:buChar char="•"/>
              <a:defRPr/>
            </a:pPr>
            <a:endParaRPr lang="en-US" smtClean="0"/>
          </a:p>
        </p:txBody>
      </p:sp>
      <p:pic>
        <p:nvPicPr>
          <p:cNvPr id="1027" name="Picture 3" descr="TR_SlideLogo_BW600"/>
          <p:cNvPicPr>
            <a:picLocks noChangeAspect="1" noChangeArrowheads="1"/>
          </p:cNvPicPr>
          <p:nvPr/>
        </p:nvPicPr>
        <p:blipFill>
          <a:blip r:embed="rId13">
            <a:extLst>
              <a:ext uri="{28A0092B-C50C-407E-A947-70E740481C1C}">
                <a14:useLocalDpi xmlns="" xmlns:a14="http://schemas.microsoft.com/office/drawing/2010/main" val="0"/>
              </a:ext>
            </a:extLst>
          </a:blip>
          <a:srcRect/>
          <a:stretch>
            <a:fillRect/>
          </a:stretch>
        </p:blipFill>
        <p:spPr bwMode="auto">
          <a:xfrm>
            <a:off x="371475" y="6323013"/>
            <a:ext cx="1652588" cy="536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364" name="Rectangle 4"/>
          <p:cNvSpPr>
            <a:spLocks noGrp="1" noChangeArrowheads="1"/>
          </p:cNvSpPr>
          <p:nvPr>
            <p:ph type="ftr" sz="quarter" idx="3"/>
          </p:nvPr>
        </p:nvSpPr>
        <p:spPr bwMode="auto">
          <a:xfrm>
            <a:off x="3124200" y="6394450"/>
            <a:ext cx="5172075" cy="231775"/>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lvl1pPr algn="r">
              <a:defRPr sz="900">
                <a:solidFill>
                  <a:schemeClr val="bg1"/>
                </a:solidFill>
                <a:latin typeface="Arial" pitchFamily="-108" charset="0"/>
                <a:ea typeface="ＭＳ Ｐゴシック" pitchFamily="-108" charset="-128"/>
                <a:cs typeface="ＭＳ Ｐゴシック" pitchFamily="-108" charset="-128"/>
              </a:defRPr>
            </a:lvl1pPr>
          </a:lstStyle>
          <a:p>
            <a:pPr>
              <a:defRPr/>
            </a:pPr>
            <a:endParaRPr lang="en-US"/>
          </a:p>
        </p:txBody>
      </p:sp>
      <p:sp>
        <p:nvSpPr>
          <p:cNvPr id="15365" name="Rectangle 5"/>
          <p:cNvSpPr>
            <a:spLocks noGrp="1" noChangeArrowheads="1"/>
          </p:cNvSpPr>
          <p:nvPr>
            <p:ph type="sldNum" sz="quarter" idx="4"/>
          </p:nvPr>
        </p:nvSpPr>
        <p:spPr bwMode="auto">
          <a:xfrm>
            <a:off x="8424863" y="6394450"/>
            <a:ext cx="457200" cy="231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latin typeface="Arial" pitchFamily="34" charset="0"/>
                <a:ea typeface="ＭＳ Ｐゴシック" charset="-128"/>
              </a:defRPr>
            </a:lvl1pPr>
          </a:lstStyle>
          <a:p>
            <a:pPr>
              <a:defRPr/>
            </a:pPr>
            <a:fld id="{36F9BB9A-8777-4C1A-84D0-7CA4691030B9}" type="slidenum">
              <a:rPr lang="en-US"/>
              <a:pPr>
                <a:defRPr/>
              </a:pPr>
              <a:t>‹#›</a:t>
            </a:fld>
            <a:endParaRPr lang="en-US"/>
          </a:p>
        </p:txBody>
      </p:sp>
      <p:sp>
        <p:nvSpPr>
          <p:cNvPr id="1030" name="Rectangle 6"/>
          <p:cNvSpPr>
            <a:spLocks noGrp="1" noChangeArrowheads="1"/>
          </p:cNvSpPr>
          <p:nvPr>
            <p:ph type="title"/>
          </p:nvPr>
        </p:nvSpPr>
        <p:spPr bwMode="auto">
          <a:xfrm>
            <a:off x="917575" y="333375"/>
            <a:ext cx="7369175"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dirty="0" smtClean="0"/>
              <a:t>Click to edit Master title style</a:t>
            </a:r>
          </a:p>
        </p:txBody>
      </p:sp>
      <p:sp>
        <p:nvSpPr>
          <p:cNvPr id="1031" name="Rectangle 7"/>
          <p:cNvSpPr>
            <a:spLocks noGrp="1" noChangeArrowheads="1"/>
          </p:cNvSpPr>
          <p:nvPr>
            <p:ph type="body" idx="1"/>
          </p:nvPr>
        </p:nvSpPr>
        <p:spPr bwMode="auto">
          <a:xfrm>
            <a:off x="917575" y="838200"/>
            <a:ext cx="7369175" cy="5257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18288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pic>
        <p:nvPicPr>
          <p:cNvPr id="1032" name="Picture 8" descr="slideMaster_Logo600"/>
          <p:cNvPicPr>
            <a:picLocks noChangeAspect="1" noChangeArrowheads="1"/>
          </p:cNvPicPr>
          <p:nvPr/>
        </p:nvPicPr>
        <p:blipFill>
          <a:blip r:embed="rId14">
            <a:extLst>
              <a:ext uri="{28A0092B-C50C-407E-A947-70E740481C1C}">
                <a14:useLocalDpi xmlns="" xmlns:a14="http://schemas.microsoft.com/office/drawing/2010/main" val="0"/>
              </a:ext>
            </a:extLst>
          </a:blip>
          <a:srcRect/>
          <a:stretch>
            <a:fillRect/>
          </a:stretch>
        </p:blipFill>
        <p:spPr bwMode="hidden">
          <a:xfrm>
            <a:off x="371475" y="6323013"/>
            <a:ext cx="1644650" cy="528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33" name="Line 9"/>
          <p:cNvSpPr>
            <a:spLocks noChangeShapeType="1"/>
          </p:cNvSpPr>
          <p:nvPr/>
        </p:nvSpPr>
        <p:spPr bwMode="auto">
          <a:xfrm>
            <a:off x="917575" y="762000"/>
            <a:ext cx="7369175" cy="0"/>
          </a:xfrm>
          <a:prstGeom prst="line">
            <a:avLst/>
          </a:prstGeom>
          <a:noFill/>
          <a:ln w="24130" cap="rnd">
            <a:solidFill>
              <a:schemeClr val="tx1"/>
            </a:solidFill>
            <a:prstDash val="sysDot"/>
            <a:round/>
            <a:headEnd/>
            <a:tailEnd/>
          </a:ln>
        </p:spPr>
        <p:txBody>
          <a:bodyPr/>
          <a:lstStyle/>
          <a:p>
            <a:pPr>
              <a:defRPr/>
            </a:pPr>
            <a:endParaRPr lang="en-US">
              <a:latin typeface="Arial" pitchFamily="34" charset="0"/>
              <a:ea typeface="ＭＳ Ｐゴシック" charset="-128"/>
            </a:endParaRPr>
          </a:p>
        </p:txBody>
      </p:sp>
    </p:spTree>
  </p:cSld>
  <p:clrMap bg1="lt1" tx1="dk1" bg2="lt2" tx2="dk2" accent1="accent1" accent2="accent2" accent3="accent3" accent4="accent4" accent5="accent5" accent6="accent6" hlink="hlink" folHlink="folHlink"/>
  <p:sldLayoutIdLst>
    <p:sldLayoutId id="2147484068"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par>
    </p:tnLst>
  </p:timing>
  <p:txStyles>
    <p:titleStyle>
      <a:lvl1pPr algn="l" rtl="0" eaLnBrk="0" fontAlgn="base" hangingPunct="0">
        <a:lnSpc>
          <a:spcPct val="90000"/>
        </a:lnSpc>
        <a:spcBef>
          <a:spcPct val="0"/>
        </a:spcBef>
        <a:spcAft>
          <a:spcPct val="0"/>
        </a:spcAft>
        <a:defRPr sz="2800">
          <a:solidFill>
            <a:schemeClr val="tx2"/>
          </a:solidFill>
          <a:latin typeface="+mj-lt"/>
          <a:ea typeface="ＭＳ Ｐゴシック" pitchFamily="-106" charset="-128"/>
          <a:cs typeface="ＭＳ Ｐゴシック" charset="-128"/>
        </a:defRPr>
      </a:lvl1pPr>
      <a:lvl2pPr algn="l" rtl="0" eaLnBrk="0" fontAlgn="base" hangingPunct="0">
        <a:lnSpc>
          <a:spcPct val="90000"/>
        </a:lnSpc>
        <a:spcBef>
          <a:spcPct val="0"/>
        </a:spcBef>
        <a:spcAft>
          <a:spcPct val="0"/>
        </a:spcAft>
        <a:defRPr sz="2800">
          <a:solidFill>
            <a:schemeClr val="tx2"/>
          </a:solidFill>
          <a:latin typeface="Arial" pitchFamily="-106" charset="0"/>
          <a:ea typeface="ＭＳ Ｐゴシック" pitchFamily="-106" charset="-128"/>
          <a:cs typeface="ＭＳ Ｐゴシック" charset="-128"/>
        </a:defRPr>
      </a:lvl2pPr>
      <a:lvl3pPr algn="l" rtl="0" eaLnBrk="0" fontAlgn="base" hangingPunct="0">
        <a:lnSpc>
          <a:spcPct val="90000"/>
        </a:lnSpc>
        <a:spcBef>
          <a:spcPct val="0"/>
        </a:spcBef>
        <a:spcAft>
          <a:spcPct val="0"/>
        </a:spcAft>
        <a:defRPr sz="2800">
          <a:solidFill>
            <a:schemeClr val="tx2"/>
          </a:solidFill>
          <a:latin typeface="Arial" pitchFamily="-106" charset="0"/>
          <a:ea typeface="ＭＳ Ｐゴシック" pitchFamily="-106" charset="-128"/>
          <a:cs typeface="ＭＳ Ｐゴシック" charset="-128"/>
        </a:defRPr>
      </a:lvl3pPr>
      <a:lvl4pPr algn="l" rtl="0" eaLnBrk="0" fontAlgn="base" hangingPunct="0">
        <a:lnSpc>
          <a:spcPct val="90000"/>
        </a:lnSpc>
        <a:spcBef>
          <a:spcPct val="0"/>
        </a:spcBef>
        <a:spcAft>
          <a:spcPct val="0"/>
        </a:spcAft>
        <a:defRPr sz="2800">
          <a:solidFill>
            <a:schemeClr val="tx2"/>
          </a:solidFill>
          <a:latin typeface="Arial" pitchFamily="-106" charset="0"/>
          <a:ea typeface="ＭＳ Ｐゴシック" pitchFamily="-106" charset="-128"/>
          <a:cs typeface="ＭＳ Ｐゴシック" charset="-128"/>
        </a:defRPr>
      </a:lvl4pPr>
      <a:lvl5pPr algn="l" rtl="0" eaLnBrk="0" fontAlgn="base" hangingPunct="0">
        <a:lnSpc>
          <a:spcPct val="90000"/>
        </a:lnSpc>
        <a:spcBef>
          <a:spcPct val="0"/>
        </a:spcBef>
        <a:spcAft>
          <a:spcPct val="0"/>
        </a:spcAft>
        <a:defRPr sz="2800">
          <a:solidFill>
            <a:schemeClr val="tx2"/>
          </a:solidFill>
          <a:latin typeface="Arial" pitchFamily="-106" charset="0"/>
          <a:ea typeface="ＭＳ Ｐゴシック" pitchFamily="-106" charset="-128"/>
          <a:cs typeface="ＭＳ Ｐゴシック" charset="-128"/>
        </a:defRPr>
      </a:lvl5pPr>
      <a:lvl6pPr marL="457200" algn="l" rtl="0" fontAlgn="base">
        <a:lnSpc>
          <a:spcPct val="90000"/>
        </a:lnSpc>
        <a:spcBef>
          <a:spcPct val="0"/>
        </a:spcBef>
        <a:spcAft>
          <a:spcPct val="0"/>
        </a:spcAft>
        <a:defRPr sz="2800">
          <a:solidFill>
            <a:schemeClr val="tx2"/>
          </a:solidFill>
          <a:latin typeface="Arial" pitchFamily="-106" charset="0"/>
        </a:defRPr>
      </a:lvl6pPr>
      <a:lvl7pPr marL="914400" algn="l" rtl="0" fontAlgn="base">
        <a:lnSpc>
          <a:spcPct val="90000"/>
        </a:lnSpc>
        <a:spcBef>
          <a:spcPct val="0"/>
        </a:spcBef>
        <a:spcAft>
          <a:spcPct val="0"/>
        </a:spcAft>
        <a:defRPr sz="2800">
          <a:solidFill>
            <a:schemeClr val="tx2"/>
          </a:solidFill>
          <a:latin typeface="Arial" pitchFamily="-106" charset="0"/>
        </a:defRPr>
      </a:lvl7pPr>
      <a:lvl8pPr marL="1371600" algn="l" rtl="0" fontAlgn="base">
        <a:lnSpc>
          <a:spcPct val="90000"/>
        </a:lnSpc>
        <a:spcBef>
          <a:spcPct val="0"/>
        </a:spcBef>
        <a:spcAft>
          <a:spcPct val="0"/>
        </a:spcAft>
        <a:defRPr sz="2800">
          <a:solidFill>
            <a:schemeClr val="tx2"/>
          </a:solidFill>
          <a:latin typeface="Arial" pitchFamily="-106" charset="0"/>
        </a:defRPr>
      </a:lvl8pPr>
      <a:lvl9pPr marL="1828800" algn="l" rtl="0" fontAlgn="base">
        <a:lnSpc>
          <a:spcPct val="90000"/>
        </a:lnSpc>
        <a:spcBef>
          <a:spcPct val="0"/>
        </a:spcBef>
        <a:spcAft>
          <a:spcPct val="0"/>
        </a:spcAft>
        <a:defRPr sz="2800">
          <a:solidFill>
            <a:schemeClr val="tx2"/>
          </a:solidFill>
          <a:latin typeface="Arial" pitchFamily="-106" charset="0"/>
        </a:defRPr>
      </a:lvl9pPr>
    </p:titleStyle>
    <p:bodyStyle>
      <a:lvl1pPr marL="228600" indent="-228600" algn="l" rtl="0" eaLnBrk="0" fontAlgn="base" hangingPunct="0">
        <a:spcBef>
          <a:spcPct val="50000"/>
        </a:spcBef>
        <a:spcAft>
          <a:spcPct val="0"/>
        </a:spcAft>
        <a:buClr>
          <a:schemeClr val="tx2"/>
        </a:buClr>
        <a:buChar char="•"/>
        <a:defRPr sz="2400">
          <a:solidFill>
            <a:schemeClr val="tx1"/>
          </a:solidFill>
          <a:latin typeface="+mn-lt"/>
          <a:ea typeface="ＭＳ Ｐゴシック" pitchFamily="-106" charset="-128"/>
          <a:cs typeface="ＭＳ Ｐゴシック" charset="-128"/>
        </a:defRPr>
      </a:lvl1pPr>
      <a:lvl2pPr marL="628650" indent="-285750" algn="l" rtl="0" eaLnBrk="0" fontAlgn="base" hangingPunct="0">
        <a:spcBef>
          <a:spcPct val="30000"/>
        </a:spcBef>
        <a:spcAft>
          <a:spcPct val="0"/>
        </a:spcAft>
        <a:buClr>
          <a:schemeClr val="tx2"/>
        </a:buClr>
        <a:buFont typeface="Arial" charset="0"/>
        <a:buChar char="–"/>
        <a:defRPr sz="2000">
          <a:solidFill>
            <a:schemeClr val="tx1"/>
          </a:solidFill>
          <a:latin typeface="+mn-lt"/>
          <a:ea typeface="ＭＳ Ｐゴシック" pitchFamily="-106" charset="-128"/>
          <a:cs typeface="ＭＳ Ｐゴシック" charset="0"/>
        </a:defRPr>
      </a:lvl2pPr>
      <a:lvl3pPr marL="914400" indent="-171450" algn="l" rtl="0" eaLnBrk="0" fontAlgn="base" hangingPunct="0">
        <a:spcBef>
          <a:spcPct val="25000"/>
        </a:spcBef>
        <a:spcAft>
          <a:spcPct val="0"/>
        </a:spcAft>
        <a:buClr>
          <a:schemeClr val="tx2"/>
        </a:buClr>
        <a:buChar char="•"/>
        <a:defRPr sz="2400">
          <a:solidFill>
            <a:schemeClr val="tx1"/>
          </a:solidFill>
          <a:latin typeface="+mn-lt"/>
          <a:ea typeface="ＭＳ Ｐゴシック" pitchFamily="-106" charset="-128"/>
          <a:cs typeface="ＭＳ Ｐゴシック" charset="0"/>
        </a:defRPr>
      </a:lvl3pPr>
      <a:lvl4pPr marL="1257300" indent="-228600" algn="l" rtl="0" eaLnBrk="0" fontAlgn="base" hangingPunct="0">
        <a:spcBef>
          <a:spcPct val="20000"/>
        </a:spcBef>
        <a:spcAft>
          <a:spcPct val="0"/>
        </a:spcAft>
        <a:buClr>
          <a:schemeClr val="tx2"/>
        </a:buClr>
        <a:buFont typeface="Arial" charset="0"/>
        <a:buChar char="–"/>
        <a:defRPr sz="1600">
          <a:solidFill>
            <a:schemeClr val="tx1"/>
          </a:solidFill>
          <a:latin typeface="+mn-lt"/>
          <a:ea typeface="ＭＳ Ｐゴシック" pitchFamily="-106" charset="-128"/>
          <a:cs typeface="ＭＳ Ｐゴシック" charset="0"/>
        </a:defRPr>
      </a:lvl4pPr>
      <a:lvl5pPr marL="1485900" indent="-114300" algn="l" rtl="0" eaLnBrk="0" fontAlgn="base" hangingPunct="0">
        <a:spcBef>
          <a:spcPct val="20000"/>
        </a:spcBef>
        <a:spcAft>
          <a:spcPct val="0"/>
        </a:spcAft>
        <a:buClr>
          <a:schemeClr val="tx2"/>
        </a:buClr>
        <a:buChar char="•"/>
        <a:defRPr sz="1400">
          <a:solidFill>
            <a:schemeClr val="tx1"/>
          </a:solidFill>
          <a:latin typeface="+mn-lt"/>
          <a:ea typeface="ＭＳ Ｐゴシック" pitchFamily="-106" charset="-128"/>
          <a:cs typeface="ＭＳ Ｐゴシック" charset="0"/>
        </a:defRPr>
      </a:lvl5pPr>
      <a:lvl6pPr marL="19431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6pPr>
      <a:lvl7pPr marL="24003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7pPr>
      <a:lvl8pPr marL="28575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8pPr>
      <a:lvl9pPr marL="33147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7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8" Type="http://schemas.openxmlformats.org/officeDocument/2006/relationships/hyperlink" Target="http://www.specopssoft.com/products/specops-command" TargetMode="External"/><Relationship Id="rId3" Type="http://schemas.openxmlformats.org/officeDocument/2006/relationships/hyperlink" Target="http://www.quest.com/powergui-freeware/" TargetMode="External"/><Relationship Id="rId7" Type="http://schemas.openxmlformats.org/officeDocument/2006/relationships/hyperlink" Target="http://www.sdmsoftware.com/freeware.php"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hyperlink" Target="http://www.codeplex.com/PowerShellCX" TargetMode="External"/><Relationship Id="rId5" Type="http://schemas.openxmlformats.org/officeDocument/2006/relationships/hyperlink" Target="http://www.softwarefx.com/sfxSqlProducts/powergadgets/" TargetMode="External"/><Relationship Id="rId4" Type="http://schemas.openxmlformats.org/officeDocument/2006/relationships/hyperlink" Target="http://www.nsoftware.com/powershell" TargetMode="External"/></Relationships>
</file>

<file path=ppt/slides/_rels/slide119.xml.rels><?xml version="1.0" encoding="UTF-8" standalone="yes"?>
<Relationships xmlns="http://schemas.openxmlformats.org/package/2006/relationships"><Relationship Id="rId3" Type="http://schemas.openxmlformats.org/officeDocument/2006/relationships/hyperlink" Target="https://blogs.technet.com/chitpro-de/archive/2007/05/10/english-version-of-windows-powershell-course-book-available-for-download.aspx" TargetMode="External"/><Relationship Id="rId2" Type="http://schemas.openxmlformats.org/officeDocument/2006/relationships/hyperlink" Target="http://shop.oreilly.com/product/9780596801519.do" TargetMode="External"/><Relationship Id="rId1" Type="http://schemas.openxmlformats.org/officeDocument/2006/relationships/slideLayout" Target="../slideLayouts/slideLayout2.xml"/><Relationship Id="rId6" Type="http://schemas.openxmlformats.org/officeDocument/2006/relationships/hyperlink" Target="http://www.sapienpress.com/powershell2.asp" TargetMode="External"/><Relationship Id="rId5" Type="http://schemas.openxmlformats.org/officeDocument/2006/relationships/hyperlink" Target="http://bit.ly/edwilsonpowershellstepbystep" TargetMode="External"/><Relationship Id="rId4" Type="http://schemas.openxmlformats.org/officeDocument/2006/relationships/hyperlink" Target="http://www.manning.com/payette/" TargetMode="External"/></Relationships>
</file>

<file path=ppt/slides/_rels/slide120.xml.rels><?xml version="1.0" encoding="UTF-8" standalone="yes"?>
<Relationships xmlns="http://schemas.openxmlformats.org/package/2006/relationships"><Relationship Id="rId8" Type="http://schemas.openxmlformats.org/officeDocument/2006/relationships/hyperlink" Target="http://blogs.msdn.com/powershell/" TargetMode="External"/><Relationship Id="rId3" Type="http://schemas.openxmlformats.org/officeDocument/2006/relationships/hyperlink" Target="http://keithhill.spaces.live.com/" TargetMode="External"/><Relationship Id="rId7" Type="http://schemas.openxmlformats.org/officeDocument/2006/relationships/hyperlink" Target="http://tfl09.blogspot.com/" TargetMode="External"/><Relationship Id="rId2" Type="http://schemas.openxmlformats.org/officeDocument/2006/relationships/hyperlink" Target="http://www.codeplex.com/Project/ProjectDirectory.aspx?TagName=powershell" TargetMode="External"/><Relationship Id="rId1" Type="http://schemas.openxmlformats.org/officeDocument/2006/relationships/slideLayout" Target="../slideLayouts/slideLayout2.xml"/><Relationship Id="rId6" Type="http://schemas.openxmlformats.org/officeDocument/2006/relationships/hyperlink" Target="http://www.powershell.com/" TargetMode="External"/><Relationship Id="rId5" Type="http://schemas.openxmlformats.org/officeDocument/2006/relationships/hyperlink" Target="http://www.leeholmes.com/blog/" TargetMode="External"/><Relationship Id="rId4" Type="http://schemas.openxmlformats.org/officeDocument/2006/relationships/hyperlink" Target="http://powershellcommunity.org/" TargetMode="External"/><Relationship Id="rId9" Type="http://schemas.openxmlformats.org/officeDocument/2006/relationships/hyperlink" Target="http://technet.microsoft.com/library/bb978526.aspx"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dirty="0" smtClean="0">
                <a:ea typeface="ＭＳ Ｐゴシック" pitchFamily="34" charset="-128"/>
              </a:rPr>
              <a:t>MICROSOFT POWERSHELL TRAINING</a:t>
            </a:r>
          </a:p>
        </p:txBody>
      </p:sp>
      <p:sp>
        <p:nvSpPr>
          <p:cNvPr id="3075" name="Rectangle 3"/>
          <p:cNvSpPr>
            <a:spLocks noGrp="1" noChangeArrowheads="1"/>
          </p:cNvSpPr>
          <p:nvPr>
            <p:ph type="subTitle" idx="1"/>
          </p:nvPr>
        </p:nvSpPr>
        <p:spPr>
          <a:xfrm>
            <a:off x="361950" y="4454525"/>
            <a:ext cx="8382000" cy="1279525"/>
          </a:xfrm>
        </p:spPr>
        <p:txBody>
          <a:bodyPr/>
          <a:lstStyle/>
          <a:p>
            <a:pPr eaLnBrk="1" hangingPunct="1"/>
            <a:r>
              <a:rPr lang="en-US" dirty="0" smtClean="0">
                <a:ea typeface="ＭＳ Ｐゴシック" pitchFamily="34" charset="-128"/>
              </a:rPr>
              <a:t>Ryan Schlagel / Technical Lead</a:t>
            </a:r>
          </a:p>
          <a:p>
            <a:pPr eaLnBrk="1" hangingPunct="1"/>
            <a:r>
              <a:rPr lang="en-US" dirty="0" smtClean="0">
                <a:ea typeface="ＭＳ Ｐゴシック" pitchFamily="34" charset="-128"/>
              </a:rPr>
              <a:t>Wendy Peterson / Senior Systems Engineer</a:t>
            </a:r>
          </a:p>
          <a:p>
            <a:pPr eaLnBrk="1" hangingPunct="1"/>
            <a:r>
              <a:rPr lang="en-US" dirty="0" smtClean="0">
                <a:ea typeface="ＭＳ Ｐゴシック" pitchFamily="34" charset="-128"/>
              </a:rPr>
              <a:t>Dustin Giles / Systems Engineer</a:t>
            </a:r>
          </a:p>
          <a:p>
            <a:pPr eaLnBrk="1" hangingPunct="1"/>
            <a:endParaRPr lang="en-US" dirty="0">
              <a:ea typeface="ＭＳ Ｐゴシック" pitchFamily="34" charset="-128"/>
            </a:endParaRPr>
          </a:p>
          <a:p>
            <a:pPr eaLnBrk="1" hangingPunct="1"/>
            <a:r>
              <a:rPr lang="en-US" dirty="0" smtClean="0">
                <a:ea typeface="ＭＳ Ｐゴシック" pitchFamily="34" charset="-128"/>
              </a:rPr>
              <a:t>June 3, 2013</a:t>
            </a:r>
          </a:p>
        </p:txBody>
      </p:sp>
      <p:pic>
        <p:nvPicPr>
          <p:cNvPr id="3076" name="Picture 3" descr="\\Csmarketingservices\strategy$\Creative_Services_Jobs\1002157_BRAND3xSquare\Art\RTR3D31Y_Cover.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342900" y="376238"/>
            <a:ext cx="8458200" cy="3108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How did we get here?</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 xmlns:p14="http://schemas.microsoft.com/office/powerpoint/2010/main" val="39501763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a:t>
            </a:r>
            <a:endParaRPr lang="en-US" dirty="0"/>
          </a:p>
        </p:txBody>
      </p:sp>
      <p:graphicFrame>
        <p:nvGraphicFramePr>
          <p:cNvPr id="23" name="Content Placeholder 22"/>
          <p:cNvGraphicFramePr>
            <a:graphicFrameLocks noGrp="1"/>
          </p:cNvGraphicFramePr>
          <p:nvPr>
            <p:ph idx="1"/>
            <p:extLst>
              <p:ext uri="{D42A27DB-BD31-4B8C-83A1-F6EECF244321}">
                <p14:modId xmlns="" xmlns:p14="http://schemas.microsoft.com/office/powerpoint/2010/main" val="3750603626"/>
              </p:ext>
            </p:extLst>
          </p:nvPr>
        </p:nvGraphicFramePr>
        <p:xfrm>
          <a:off x="917575" y="838200"/>
          <a:ext cx="7369175"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20660512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Established</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4173461795"/>
              </p:ext>
            </p:extLst>
          </p:nvPr>
        </p:nvGraphicFramePr>
        <p:xfrm>
          <a:off x="917575" y="838200"/>
          <a:ext cx="7369175"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40869883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3701940492"/>
              </p:ext>
            </p:extLst>
          </p:nvPr>
        </p:nvGraphicFramePr>
        <p:xfrm>
          <a:off x="917575" y="914400"/>
          <a:ext cx="7369175" cy="4570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8243574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Processes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1661110836"/>
              </p:ext>
            </p:extLst>
          </p:nvPr>
        </p:nvGraphicFramePr>
        <p:xfrm>
          <a:off x="914400" y="915988"/>
          <a:ext cx="7369175" cy="4570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1939435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3222831046"/>
              </p:ext>
            </p:extLst>
          </p:nvPr>
        </p:nvGraphicFramePr>
        <p:xfrm>
          <a:off x="914400" y="838200"/>
          <a:ext cx="7369175" cy="4570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3176063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smtClean="0">
                <a:ea typeface="ＭＳ Ｐゴシック" pitchFamily="34" charset="-128"/>
              </a:rPr>
              <a:t>Infrastructure Updates</a:t>
            </a:r>
          </a:p>
        </p:txBody>
      </p:sp>
      <p:graphicFrame>
        <p:nvGraphicFramePr>
          <p:cNvPr id="2" name="Table 1"/>
          <p:cNvGraphicFramePr>
            <a:graphicFrameLocks noGrp="1"/>
          </p:cNvGraphicFramePr>
          <p:nvPr>
            <p:extLst>
              <p:ext uri="{D42A27DB-BD31-4B8C-83A1-F6EECF244321}">
                <p14:modId xmlns="" xmlns:p14="http://schemas.microsoft.com/office/powerpoint/2010/main" val="94721359"/>
              </p:ext>
            </p:extLst>
          </p:nvPr>
        </p:nvGraphicFramePr>
        <p:xfrm>
          <a:off x="914400" y="1066800"/>
          <a:ext cx="7391400" cy="1325880"/>
        </p:xfrm>
        <a:graphic>
          <a:graphicData uri="http://schemas.openxmlformats.org/drawingml/2006/table">
            <a:tbl>
              <a:tblPr firstRow="1" bandRow="1">
                <a:tableStyleId>{5C22544A-7EE6-4342-B048-85BDC9FD1C3A}</a:tableStyleId>
              </a:tblPr>
              <a:tblGrid>
                <a:gridCol w="3695700"/>
                <a:gridCol w="3695700"/>
              </a:tblGrid>
              <a:tr h="441960">
                <a:tc>
                  <a:txBody>
                    <a:bodyPr/>
                    <a:lstStyle/>
                    <a:p>
                      <a:r>
                        <a:rPr lang="en-US" sz="1700" b="0" dirty="0" smtClean="0"/>
                        <a:t>Components</a:t>
                      </a:r>
                      <a:endParaRPr lang="en-US" sz="1700" b="0" dirty="0"/>
                    </a:p>
                  </a:txBody>
                  <a:tcPr/>
                </a:tc>
                <a:tc>
                  <a:txBody>
                    <a:bodyPr/>
                    <a:lstStyle/>
                    <a:p>
                      <a:r>
                        <a:rPr lang="en-US" sz="1700" b="0" dirty="0" smtClean="0"/>
                        <a:t>Affected Assets</a:t>
                      </a:r>
                      <a:endParaRPr lang="en-US" sz="1700" b="0" dirty="0"/>
                    </a:p>
                  </a:txBody>
                  <a:tcPr/>
                </a:tc>
              </a:tr>
              <a:tr h="441960">
                <a:tc>
                  <a:txBody>
                    <a:bodyPr/>
                    <a:lstStyle/>
                    <a:p>
                      <a:r>
                        <a:rPr lang="en-US" sz="1700" dirty="0" smtClean="0"/>
                        <a:t>Upgrade / Configure WinRM</a:t>
                      </a:r>
                      <a:endParaRPr lang="en-US" sz="1700" dirty="0"/>
                    </a:p>
                  </a:txBody>
                  <a:tcPr/>
                </a:tc>
                <a:tc>
                  <a:txBody>
                    <a:bodyPr/>
                    <a:lstStyle/>
                    <a:p>
                      <a:r>
                        <a:rPr lang="en-US" sz="1700" dirty="0" smtClean="0">
                          <a:solidFill>
                            <a:schemeClr val="tx1"/>
                          </a:solidFill>
                        </a:rPr>
                        <a:t>2,239 Assets</a:t>
                      </a:r>
                      <a:endParaRPr lang="en-US" sz="1700" dirty="0">
                        <a:solidFill>
                          <a:schemeClr val="tx1"/>
                        </a:solidFill>
                      </a:endParaRPr>
                    </a:p>
                  </a:txBody>
                  <a:tcPr/>
                </a:tc>
              </a:tr>
              <a:tr h="441960">
                <a:tc>
                  <a:txBody>
                    <a:bodyPr/>
                    <a:lstStyle/>
                    <a:p>
                      <a:r>
                        <a:rPr lang="en-US" sz="1700" dirty="0" smtClean="0"/>
                        <a:t>Install / Upgrade PowerShell 2.0</a:t>
                      </a:r>
                      <a:endParaRPr lang="en-US" sz="1700" dirty="0"/>
                    </a:p>
                  </a:txBody>
                  <a:tcPr/>
                </a:tc>
                <a:tc>
                  <a:txBody>
                    <a:bodyPr/>
                    <a:lstStyle/>
                    <a:p>
                      <a:r>
                        <a:rPr lang="en-US" sz="1700" dirty="0" smtClean="0"/>
                        <a:t>3,394 Assets</a:t>
                      </a:r>
                      <a:endParaRPr lang="en-US" sz="1700" dirty="0"/>
                    </a:p>
                  </a:txBody>
                  <a:tcPr/>
                </a:tc>
              </a:tr>
            </a:tbl>
          </a:graphicData>
        </a:graphic>
      </p:graphicFrame>
    </p:spTree>
    <p:extLst>
      <p:ext uri="{BB962C8B-B14F-4D97-AF65-F5344CB8AC3E}">
        <p14:creationId xmlns="" xmlns:p14="http://schemas.microsoft.com/office/powerpoint/2010/main" val="7202036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a:t>
            </a:r>
            <a:endParaRPr lang="en-US" dirty="0"/>
          </a:p>
        </p:txBody>
      </p:sp>
      <p:graphicFrame>
        <p:nvGraphicFramePr>
          <p:cNvPr id="5" name="Content Placeholder 4"/>
          <p:cNvGraphicFramePr>
            <a:graphicFrameLocks noGrp="1"/>
          </p:cNvGraphicFramePr>
          <p:nvPr>
            <p:ph idx="1"/>
            <p:extLst>
              <p:ext uri="{D42A27DB-BD31-4B8C-83A1-F6EECF244321}">
                <p14:modId xmlns="" xmlns:p14="http://schemas.microsoft.com/office/powerpoint/2010/main" val="4027467459"/>
              </p:ext>
            </p:extLst>
          </p:nvPr>
        </p:nvGraphicFramePr>
        <p:xfrm>
          <a:off x="917575" y="838200"/>
          <a:ext cx="7369175" cy="258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1143000" y="3429000"/>
            <a:ext cx="7391400" cy="1600438"/>
          </a:xfrm>
          <a:prstGeom prst="rect">
            <a:avLst/>
          </a:prstGeom>
          <a:noFill/>
        </p:spPr>
        <p:txBody>
          <a:bodyPr wrap="square" numCol="2" rtlCol="0">
            <a:spAutoFit/>
          </a:bodyPr>
          <a:lstStyle/>
          <a:p>
            <a:r>
              <a:rPr lang="en-US" sz="1200" dirty="0" smtClean="0"/>
              <a:t>Module 01: Introductions</a:t>
            </a:r>
          </a:p>
          <a:p>
            <a:r>
              <a:rPr lang="en-US" sz="1200" dirty="0" smtClean="0"/>
              <a:t>Module 02: Fundamentals</a:t>
            </a:r>
          </a:p>
          <a:p>
            <a:r>
              <a:rPr lang="en-US" sz="1200" dirty="0" smtClean="0"/>
              <a:t>Module 03: Pipeline</a:t>
            </a:r>
          </a:p>
          <a:p>
            <a:r>
              <a:rPr lang="en-US" sz="1200" dirty="0" smtClean="0"/>
              <a:t>Module 04: Scripting</a:t>
            </a:r>
          </a:p>
          <a:p>
            <a:r>
              <a:rPr lang="en-US" sz="1200" dirty="0" smtClean="0"/>
              <a:t>Module 05: Security</a:t>
            </a:r>
          </a:p>
          <a:p>
            <a:r>
              <a:rPr lang="en-US" sz="1200" dirty="0" smtClean="0"/>
              <a:t>Module 06: Object Models</a:t>
            </a:r>
          </a:p>
          <a:p>
            <a:r>
              <a:rPr lang="en-US" sz="1200" dirty="0" smtClean="0"/>
              <a:t>Module 07: PowerShell </a:t>
            </a:r>
            <a:r>
              <a:rPr lang="en-US" sz="1200" dirty="0" err="1" smtClean="0"/>
              <a:t>Remoting</a:t>
            </a:r>
            <a:endParaRPr lang="en-US" sz="1200" dirty="0" smtClean="0"/>
          </a:p>
          <a:p>
            <a:r>
              <a:rPr lang="en-US" sz="1200" dirty="0" smtClean="0"/>
              <a:t>Module 08: Error Checking and Debugging</a:t>
            </a:r>
          </a:p>
          <a:p>
            <a:r>
              <a:rPr lang="en-US" sz="1200" dirty="0" smtClean="0"/>
              <a:t>Module 09: Active Directory / SQL</a:t>
            </a:r>
          </a:p>
          <a:p>
            <a:r>
              <a:rPr lang="en-US" sz="1200" dirty="0" smtClean="0"/>
              <a:t>Module 10: Resources</a:t>
            </a:r>
          </a:p>
          <a:p>
            <a:r>
              <a:rPr lang="en-US" sz="1200" dirty="0" smtClean="0"/>
              <a:t>Module 11: Scripting Editor</a:t>
            </a:r>
          </a:p>
          <a:p>
            <a:r>
              <a:rPr lang="en-US" sz="1200" dirty="0" smtClean="0"/>
              <a:t>Module 12: Source Repository</a:t>
            </a:r>
          </a:p>
          <a:p>
            <a:r>
              <a:rPr lang="en-US" sz="1200" dirty="0" smtClean="0"/>
              <a:t>Module 13: Template Use</a:t>
            </a:r>
          </a:p>
        </p:txBody>
      </p:sp>
    </p:spTree>
    <p:extLst>
      <p:ext uri="{BB962C8B-B14F-4D97-AF65-F5344CB8AC3E}">
        <p14:creationId xmlns="" xmlns:p14="http://schemas.microsoft.com/office/powerpoint/2010/main" val="4022942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smtClean="0">
                <a:ea typeface="ＭＳ Ｐゴシック" pitchFamily="34" charset="-128"/>
              </a:rPr>
              <a:t>Business Objective / Deliverables</a:t>
            </a:r>
          </a:p>
        </p:txBody>
      </p:sp>
      <p:grpSp>
        <p:nvGrpSpPr>
          <p:cNvPr id="12" name="Group 11"/>
          <p:cNvGrpSpPr/>
          <p:nvPr/>
        </p:nvGrpSpPr>
        <p:grpSpPr>
          <a:xfrm>
            <a:off x="2438400" y="1530540"/>
            <a:ext cx="4172150" cy="3962400"/>
            <a:chOff x="3200200" y="1746060"/>
            <a:chExt cx="2972199" cy="3057459"/>
          </a:xfrm>
        </p:grpSpPr>
        <p:sp>
          <p:nvSpPr>
            <p:cNvPr id="14" name="Freeform 13"/>
            <p:cNvSpPr/>
            <p:nvPr/>
          </p:nvSpPr>
          <p:spPr>
            <a:xfrm>
              <a:off x="3200200" y="1746060"/>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Standards</a:t>
              </a:r>
              <a:endParaRPr lang="en-US" sz="1600" kern="1200" dirty="0"/>
            </a:p>
          </p:txBody>
        </p:sp>
        <p:sp>
          <p:nvSpPr>
            <p:cNvPr id="15" name="Freeform 14"/>
            <p:cNvSpPr/>
            <p:nvPr/>
          </p:nvSpPr>
          <p:spPr>
            <a:xfrm>
              <a:off x="4805871" y="1746060"/>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Processes</a:t>
              </a:r>
              <a:endParaRPr lang="en-US" sz="1600" kern="1200" dirty="0"/>
            </a:p>
          </p:txBody>
        </p:sp>
        <p:sp>
          <p:nvSpPr>
            <p:cNvPr id="21" name="Freeform 20"/>
            <p:cNvSpPr/>
            <p:nvPr/>
          </p:nvSpPr>
          <p:spPr>
            <a:xfrm>
              <a:off x="3200200" y="2804410"/>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Training</a:t>
              </a:r>
              <a:endParaRPr lang="en-US" sz="1600" kern="1200" dirty="0"/>
            </a:p>
          </p:txBody>
        </p:sp>
        <p:sp>
          <p:nvSpPr>
            <p:cNvPr id="22" name="Freeform 21"/>
            <p:cNvSpPr/>
            <p:nvPr/>
          </p:nvSpPr>
          <p:spPr>
            <a:xfrm>
              <a:off x="3200200" y="3862762"/>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Better Tools</a:t>
              </a:r>
              <a:endParaRPr lang="en-US" sz="1600" kern="1200" dirty="0"/>
            </a:p>
          </p:txBody>
        </p:sp>
        <p:sp>
          <p:nvSpPr>
            <p:cNvPr id="23" name="Freeform 22"/>
            <p:cNvSpPr/>
            <p:nvPr/>
          </p:nvSpPr>
          <p:spPr>
            <a:xfrm>
              <a:off x="4805871" y="2811759"/>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Centralized Management</a:t>
              </a:r>
              <a:endParaRPr lang="en-US" sz="1600" kern="1200" dirty="0"/>
            </a:p>
          </p:txBody>
        </p:sp>
        <p:sp>
          <p:nvSpPr>
            <p:cNvPr id="24" name="Freeform 23"/>
            <p:cNvSpPr/>
            <p:nvPr/>
          </p:nvSpPr>
          <p:spPr>
            <a:xfrm>
              <a:off x="4805871" y="3855413"/>
              <a:ext cx="1366528" cy="940757"/>
            </a:xfrm>
            <a:custGeom>
              <a:avLst/>
              <a:gdLst>
                <a:gd name="connsiteX0" fmla="*/ 0 w 1366528"/>
                <a:gd name="connsiteY0" fmla="*/ 227759 h 1366528"/>
                <a:gd name="connsiteX1" fmla="*/ 227759 w 1366528"/>
                <a:gd name="connsiteY1" fmla="*/ 0 h 1366528"/>
                <a:gd name="connsiteX2" fmla="*/ 1138769 w 1366528"/>
                <a:gd name="connsiteY2" fmla="*/ 0 h 1366528"/>
                <a:gd name="connsiteX3" fmla="*/ 1366528 w 1366528"/>
                <a:gd name="connsiteY3" fmla="*/ 227759 h 1366528"/>
                <a:gd name="connsiteX4" fmla="*/ 1366528 w 1366528"/>
                <a:gd name="connsiteY4" fmla="*/ 1138769 h 1366528"/>
                <a:gd name="connsiteX5" fmla="*/ 1138769 w 1366528"/>
                <a:gd name="connsiteY5" fmla="*/ 1366528 h 1366528"/>
                <a:gd name="connsiteX6" fmla="*/ 227759 w 1366528"/>
                <a:gd name="connsiteY6" fmla="*/ 1366528 h 1366528"/>
                <a:gd name="connsiteX7" fmla="*/ 0 w 1366528"/>
                <a:gd name="connsiteY7" fmla="*/ 1138769 h 1366528"/>
                <a:gd name="connsiteX8" fmla="*/ 0 w 1366528"/>
                <a:gd name="connsiteY8" fmla="*/ 227759 h 136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528" h="1366528">
                  <a:moveTo>
                    <a:pt x="0" y="227759"/>
                  </a:moveTo>
                  <a:cubicBezTo>
                    <a:pt x="0" y="101971"/>
                    <a:pt x="101971" y="0"/>
                    <a:pt x="227759" y="0"/>
                  </a:cubicBezTo>
                  <a:lnTo>
                    <a:pt x="1138769" y="0"/>
                  </a:lnTo>
                  <a:cubicBezTo>
                    <a:pt x="1264557" y="0"/>
                    <a:pt x="1366528" y="101971"/>
                    <a:pt x="1366528" y="227759"/>
                  </a:cubicBezTo>
                  <a:lnTo>
                    <a:pt x="1366528" y="1138769"/>
                  </a:lnTo>
                  <a:cubicBezTo>
                    <a:pt x="1366528" y="1264557"/>
                    <a:pt x="1264557" y="1366528"/>
                    <a:pt x="1138769" y="1366528"/>
                  </a:cubicBezTo>
                  <a:lnTo>
                    <a:pt x="227759" y="1366528"/>
                  </a:lnTo>
                  <a:cubicBezTo>
                    <a:pt x="101971" y="1366528"/>
                    <a:pt x="0" y="1264557"/>
                    <a:pt x="0" y="1138769"/>
                  </a:cubicBezTo>
                  <a:lnTo>
                    <a:pt x="0" y="227759"/>
                  </a:lnTo>
                  <a:close/>
                </a:path>
              </a:pathLst>
            </a:custGeom>
          </p:spPr>
          <p:style>
            <a:lnRef idx="3">
              <a:schemeClr val="lt1"/>
            </a:lnRef>
            <a:fillRef idx="1">
              <a:schemeClr val="accent1"/>
            </a:fillRef>
            <a:effectRef idx="1">
              <a:schemeClr val="accent1"/>
            </a:effectRef>
            <a:fontRef idx="minor">
              <a:schemeClr val="lt1"/>
            </a:fontRef>
          </p:style>
          <p:txBody>
            <a:bodyPr spcFirstLastPara="0" vert="horz" wrap="square" lIns="127668" tIns="127668" rIns="127668" bIns="127668" numCol="1" spcCol="1270" anchor="ctr" anchorCtr="0">
              <a:noAutofit/>
            </a:bodyPr>
            <a:lstStyle/>
            <a:p>
              <a:pPr lvl="0" algn="ctr" defTabSz="711200" rtl="0">
                <a:lnSpc>
                  <a:spcPct val="90000"/>
                </a:lnSpc>
                <a:spcBef>
                  <a:spcPct val="0"/>
                </a:spcBef>
                <a:spcAft>
                  <a:spcPct val="35000"/>
                </a:spcAft>
              </a:pPr>
              <a:r>
                <a:rPr lang="en-US" sz="1600" kern="1200" dirty="0" smtClean="0"/>
                <a:t>Knowledge Sharing</a:t>
              </a:r>
              <a:endParaRPr lang="en-US" sz="1600" kern="1200" dirty="0"/>
            </a:p>
          </p:txBody>
        </p:sp>
      </p:grpSp>
      <p:sp>
        <p:nvSpPr>
          <p:cNvPr id="18" name="Right Arrow 17"/>
          <p:cNvSpPr/>
          <p:nvPr/>
        </p:nvSpPr>
        <p:spPr>
          <a:xfrm>
            <a:off x="2362200" y="1066800"/>
            <a:ext cx="4419600" cy="463740"/>
          </a:xfrm>
          <a:prstGeom prst="rightArrow">
            <a:avLst/>
          </a:prstGeom>
          <a:gradFill flip="none" rotWithShape="1">
            <a:gsLst>
              <a:gs pos="0">
                <a:srgbClr val="9BAAB3"/>
              </a:gs>
              <a:gs pos="99583">
                <a:schemeClr val="bg1"/>
              </a:gs>
            </a:gsLst>
            <a:lin ang="10800000" scaled="1"/>
            <a:tileRect/>
          </a:gradFill>
          <a:ln>
            <a:noFill/>
          </a:ln>
          <a:effectLst>
            <a:outerShdw blurRad="50800" dist="762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smtClean="0">
                <a:solidFill>
                  <a:schemeClr val="tx1">
                    <a:lumMod val="50000"/>
                  </a:schemeClr>
                </a:solidFill>
              </a:rPr>
              <a:t>Experience / Advancement</a:t>
            </a:r>
            <a:endParaRPr lang="en-US" sz="1100" b="1" dirty="0">
              <a:solidFill>
                <a:schemeClr val="tx1">
                  <a:lumMod val="50000"/>
                </a:schemeClr>
              </a:solidFill>
            </a:endParaRPr>
          </a:p>
        </p:txBody>
      </p:sp>
      <p:sp>
        <p:nvSpPr>
          <p:cNvPr id="20" name="Right Arrow 19"/>
          <p:cNvSpPr/>
          <p:nvPr/>
        </p:nvSpPr>
        <p:spPr>
          <a:xfrm rot="16200000">
            <a:off x="-45947" y="3024287"/>
            <a:ext cx="4206695" cy="457202"/>
          </a:xfrm>
          <a:prstGeom prst="rightArrow">
            <a:avLst/>
          </a:prstGeom>
          <a:gradFill flip="none" rotWithShape="1">
            <a:gsLst>
              <a:gs pos="0">
                <a:srgbClr val="9BAAB3"/>
              </a:gs>
              <a:gs pos="99583">
                <a:schemeClr val="bg1"/>
              </a:gs>
            </a:gsLst>
            <a:lin ang="10800000" scaled="1"/>
            <a:tileRect/>
          </a:gradFill>
          <a:ln>
            <a:noFill/>
          </a:ln>
          <a:effectLst>
            <a:outerShdw blurRad="50800" dist="762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smtClean="0">
                <a:solidFill>
                  <a:schemeClr val="tx1">
                    <a:lumMod val="50000"/>
                  </a:schemeClr>
                </a:solidFill>
              </a:rPr>
              <a:t>Efficiency</a:t>
            </a:r>
            <a:endParaRPr lang="en-US" sz="1100" b="1" dirty="0">
              <a:solidFill>
                <a:schemeClr val="tx1">
                  <a:lumMod val="50000"/>
                </a:schemeClr>
              </a:solidFill>
            </a:endParaRPr>
          </a:p>
        </p:txBody>
      </p:sp>
    </p:spTree>
    <p:extLst>
      <p:ext uri="{BB962C8B-B14F-4D97-AF65-F5344CB8AC3E}">
        <p14:creationId xmlns="" xmlns:p14="http://schemas.microsoft.com/office/powerpoint/2010/main" val="42552841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Sampling of Scripts Written So Far…</a:t>
            </a:r>
            <a:endParaRPr lang="en-US" dirty="0"/>
          </a:p>
        </p:txBody>
      </p:sp>
      <p:sp>
        <p:nvSpPr>
          <p:cNvPr id="3" name="Content Placeholder 2"/>
          <p:cNvSpPr>
            <a:spLocks noGrp="1"/>
          </p:cNvSpPr>
          <p:nvPr>
            <p:ph idx="1"/>
          </p:nvPr>
        </p:nvSpPr>
        <p:spPr>
          <a:xfrm>
            <a:off x="917575" y="990600"/>
            <a:ext cx="7312025" cy="4570412"/>
          </a:xfrm>
          <a:solidFill>
            <a:schemeClr val="bg1"/>
          </a:solidFill>
        </p:spPr>
        <p:txBody>
          <a:bodyPr numCol="3"/>
          <a:lstStyle/>
          <a:p>
            <a:r>
              <a:rPr lang="en-US" sz="1050" dirty="0" smtClean="0"/>
              <a:t>Setting Disk Timeout </a:t>
            </a:r>
          </a:p>
          <a:p>
            <a:r>
              <a:rPr lang="en-US" sz="1050" dirty="0" smtClean="0"/>
              <a:t>MS12-020 Rollout</a:t>
            </a:r>
          </a:p>
          <a:p>
            <a:r>
              <a:rPr lang="en-US" sz="1050" dirty="0" smtClean="0"/>
              <a:t>MS11-100 Rollout</a:t>
            </a:r>
          </a:p>
          <a:p>
            <a:r>
              <a:rPr lang="en-US" sz="1050" dirty="0" smtClean="0"/>
              <a:t>Patch Audit</a:t>
            </a:r>
          </a:p>
          <a:p>
            <a:r>
              <a:rPr lang="en-US" sz="1050" dirty="0" smtClean="0"/>
              <a:t>WinRM Audits</a:t>
            </a:r>
          </a:p>
          <a:p>
            <a:r>
              <a:rPr lang="en-US" sz="1050" dirty="0" smtClean="0"/>
              <a:t>Cobalt </a:t>
            </a:r>
            <a:r>
              <a:rPr lang="en-US" sz="1050" dirty="0" err="1" smtClean="0"/>
              <a:t>NodeAgent</a:t>
            </a:r>
            <a:r>
              <a:rPr lang="en-US" sz="1050" dirty="0" smtClean="0"/>
              <a:t> Deployment</a:t>
            </a:r>
          </a:p>
          <a:p>
            <a:r>
              <a:rPr lang="en-US" sz="1050" dirty="0" smtClean="0"/>
              <a:t>IIS Deployment</a:t>
            </a:r>
          </a:p>
          <a:p>
            <a:r>
              <a:rPr lang="en-US" sz="1050" dirty="0" smtClean="0"/>
              <a:t>IIS Advanced Logging Deployment</a:t>
            </a:r>
          </a:p>
          <a:p>
            <a:r>
              <a:rPr lang="en-US" sz="1050" dirty="0" smtClean="0"/>
              <a:t>SMTP Deployment</a:t>
            </a:r>
          </a:p>
          <a:p>
            <a:r>
              <a:rPr lang="en-US" sz="1050" dirty="0" smtClean="0"/>
              <a:t>FTP Deployment</a:t>
            </a:r>
          </a:p>
          <a:p>
            <a:r>
              <a:rPr lang="en-US" sz="1050" dirty="0" smtClean="0"/>
              <a:t>NTP Settings</a:t>
            </a:r>
          </a:p>
          <a:p>
            <a:r>
              <a:rPr lang="en-US" sz="1050" dirty="0" smtClean="0"/>
              <a:t>HubbardOne Build Scripts</a:t>
            </a:r>
          </a:p>
          <a:p>
            <a:r>
              <a:rPr lang="en-US" sz="1050" dirty="0" smtClean="0"/>
              <a:t>.NET Installation</a:t>
            </a:r>
          </a:p>
          <a:p>
            <a:r>
              <a:rPr lang="en-US" sz="1050" dirty="0" smtClean="0"/>
              <a:t>Configure IIS Global MIME Settings</a:t>
            </a:r>
          </a:p>
          <a:p>
            <a:r>
              <a:rPr lang="en-US" sz="1050" dirty="0" smtClean="0"/>
              <a:t>Install and Configure MSMQ</a:t>
            </a:r>
          </a:p>
          <a:p>
            <a:r>
              <a:rPr lang="en-US" sz="1050" dirty="0" smtClean="0"/>
              <a:t>Configure ASP.NET Security</a:t>
            </a:r>
          </a:p>
          <a:p>
            <a:r>
              <a:rPr lang="en-US" sz="1050" dirty="0" smtClean="0"/>
              <a:t>Create IIS Application Pools</a:t>
            </a:r>
          </a:p>
          <a:p>
            <a:r>
              <a:rPr lang="en-US" sz="1050" dirty="0" smtClean="0"/>
              <a:t>Continuous Maintenance</a:t>
            </a:r>
          </a:p>
          <a:p>
            <a:r>
              <a:rPr lang="en-US" sz="1050" dirty="0" smtClean="0"/>
              <a:t>Web Service for Service Manager</a:t>
            </a:r>
          </a:p>
          <a:p>
            <a:r>
              <a:rPr lang="en-US" sz="1050" dirty="0" smtClean="0"/>
              <a:t>Configure ASP.NET Trusts</a:t>
            </a:r>
          </a:p>
          <a:p>
            <a:r>
              <a:rPr lang="en-US" sz="1050" dirty="0" smtClean="0"/>
              <a:t>Create New Company For Litigation Hosting (Active Directory)</a:t>
            </a:r>
          </a:p>
          <a:p>
            <a:r>
              <a:rPr lang="en-US" sz="1050" dirty="0" smtClean="0"/>
              <a:t>Quantify Active Users for Litigation Hosting</a:t>
            </a:r>
          </a:p>
          <a:p>
            <a:r>
              <a:rPr lang="en-US" sz="1050" dirty="0" smtClean="0"/>
              <a:t>Set Folder Permissions</a:t>
            </a:r>
          </a:p>
          <a:p>
            <a:r>
              <a:rPr lang="en-US" sz="1050" dirty="0" smtClean="0"/>
              <a:t>Asset Decommission Process</a:t>
            </a:r>
          </a:p>
          <a:p>
            <a:r>
              <a:rPr lang="en-US" sz="1050" dirty="0" smtClean="0"/>
              <a:t>Configure NTFS Permissions</a:t>
            </a:r>
          </a:p>
          <a:p>
            <a:r>
              <a:rPr lang="en-US" sz="1050" dirty="0" smtClean="0"/>
              <a:t>Enable/Disable RDP</a:t>
            </a:r>
          </a:p>
          <a:p>
            <a:r>
              <a:rPr lang="en-US" sz="1050" dirty="0" smtClean="0"/>
              <a:t>Installing MSXML6</a:t>
            </a:r>
          </a:p>
          <a:p>
            <a:r>
              <a:rPr lang="en-US" sz="1050" dirty="0" smtClean="0"/>
              <a:t>Install Microsoft SOAP 3</a:t>
            </a:r>
          </a:p>
          <a:p>
            <a:r>
              <a:rPr lang="en-US" sz="1050" dirty="0" smtClean="0"/>
              <a:t>Update Boot.ini</a:t>
            </a:r>
          </a:p>
          <a:p>
            <a:r>
              <a:rPr lang="en-US" sz="1050" dirty="0" smtClean="0"/>
              <a:t>Updating Default IIS Log Location</a:t>
            </a:r>
          </a:p>
          <a:p>
            <a:r>
              <a:rPr lang="en-US" sz="1050" dirty="0" smtClean="0"/>
              <a:t>IIS Advanced Logging Zip and Delete Tool</a:t>
            </a:r>
          </a:p>
          <a:p>
            <a:r>
              <a:rPr lang="en-US" sz="1050" dirty="0" smtClean="0"/>
              <a:t>Update DNS Configuration</a:t>
            </a:r>
          </a:p>
          <a:p>
            <a:r>
              <a:rPr lang="en-US" sz="1050" dirty="0" smtClean="0"/>
              <a:t>Update WINS Configuration</a:t>
            </a:r>
          </a:p>
          <a:p>
            <a:r>
              <a:rPr lang="en-US" sz="1050" dirty="0" smtClean="0"/>
              <a:t>Configure </a:t>
            </a:r>
            <a:r>
              <a:rPr lang="en-US" sz="1050" dirty="0" err="1" smtClean="0"/>
              <a:t>TimeZone</a:t>
            </a:r>
            <a:endParaRPr lang="en-US" sz="1050" dirty="0" smtClean="0"/>
          </a:p>
          <a:p>
            <a:r>
              <a:rPr lang="en-US" sz="1050" dirty="0" smtClean="0"/>
              <a:t>Asset Lookup Utility</a:t>
            </a:r>
          </a:p>
          <a:p>
            <a:r>
              <a:rPr lang="en-US" sz="1050" dirty="0" smtClean="0"/>
              <a:t>Microsoft Audit</a:t>
            </a:r>
          </a:p>
          <a:p>
            <a:r>
              <a:rPr lang="en-US" sz="1050" dirty="0" smtClean="0"/>
              <a:t>Avamar Deployment</a:t>
            </a:r>
          </a:p>
          <a:p>
            <a:r>
              <a:rPr lang="en-US" sz="1050" dirty="0" smtClean="0"/>
              <a:t>Source IP Deployment</a:t>
            </a:r>
          </a:p>
          <a:p>
            <a:r>
              <a:rPr lang="en-US" sz="1050" dirty="0" smtClean="0"/>
              <a:t>Source IP Auditing</a:t>
            </a:r>
          </a:p>
          <a:p>
            <a:r>
              <a:rPr lang="en-US" sz="1050" dirty="0" smtClean="0"/>
              <a:t>Converting Patch Profile ID’s to Validate Date/Time</a:t>
            </a:r>
          </a:p>
          <a:p>
            <a:r>
              <a:rPr lang="en-US" sz="1050" dirty="0" smtClean="0"/>
              <a:t>TEM Patching Projection Tool</a:t>
            </a:r>
          </a:p>
          <a:p>
            <a:r>
              <a:rPr lang="en-US" sz="1050" dirty="0" smtClean="0"/>
              <a:t>Audit for 1024 Certificate Keys</a:t>
            </a:r>
          </a:p>
          <a:p>
            <a:r>
              <a:rPr lang="en-US" sz="1050" dirty="0" smtClean="0"/>
              <a:t>Resetting Local Administration Passwords</a:t>
            </a:r>
          </a:p>
          <a:p>
            <a:r>
              <a:rPr lang="en-US" sz="1050" dirty="0" smtClean="0"/>
              <a:t>Project Faraday Data Gathering</a:t>
            </a:r>
          </a:p>
          <a:p>
            <a:r>
              <a:rPr lang="en-US" sz="1050" dirty="0" smtClean="0"/>
              <a:t>Litigation Hosting - User Creation Using CSV</a:t>
            </a:r>
          </a:p>
          <a:p>
            <a:r>
              <a:rPr lang="en-US" sz="1050" dirty="0" smtClean="0"/>
              <a:t>VMWare Tool Audits</a:t>
            </a:r>
          </a:p>
          <a:p>
            <a:r>
              <a:rPr lang="en-US" sz="1050" dirty="0" smtClean="0"/>
              <a:t>Scan for SQL Versions</a:t>
            </a:r>
          </a:p>
          <a:p>
            <a:r>
              <a:rPr lang="en-US" sz="1050" dirty="0" smtClean="0"/>
              <a:t>SMS Retirement Scripts</a:t>
            </a:r>
          </a:p>
          <a:p>
            <a:r>
              <a:rPr lang="en-US" sz="1050" dirty="0" smtClean="0"/>
              <a:t>HP Enclosure Utility</a:t>
            </a:r>
          </a:p>
          <a:p>
            <a:r>
              <a:rPr lang="en-US" sz="1050" dirty="0" smtClean="0"/>
              <a:t>Avamar DPA Lookup Utility</a:t>
            </a:r>
          </a:p>
          <a:p>
            <a:r>
              <a:rPr lang="en-US" sz="1050" dirty="0" smtClean="0"/>
              <a:t>Locating an elevated service account</a:t>
            </a:r>
          </a:p>
          <a:p>
            <a:r>
              <a:rPr lang="en-US" sz="1050" dirty="0" smtClean="0"/>
              <a:t>TEM Data Collection</a:t>
            </a:r>
          </a:p>
        </p:txBody>
      </p:sp>
    </p:spTree>
    <p:extLst>
      <p:ext uri="{BB962C8B-B14F-4D97-AF65-F5344CB8AC3E}">
        <p14:creationId xmlns="" xmlns:p14="http://schemas.microsoft.com/office/powerpoint/2010/main" val="18868076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Training</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 xmlns:p14="http://schemas.microsoft.com/office/powerpoint/2010/main" val="37777547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Expectations / Goals</a:t>
            </a:r>
            <a:endParaRPr lang="en-US" dirty="0"/>
          </a:p>
        </p:txBody>
      </p:sp>
      <p:sp>
        <p:nvSpPr>
          <p:cNvPr id="4" name="Content Placeholder 3"/>
          <p:cNvSpPr>
            <a:spLocks noGrp="1"/>
          </p:cNvSpPr>
          <p:nvPr>
            <p:ph idx="1"/>
          </p:nvPr>
        </p:nvSpPr>
        <p:spPr/>
        <p:txBody>
          <a:bodyPr/>
          <a:lstStyle/>
          <a:p>
            <a:pPr marL="457200" indent="-457200">
              <a:buFont typeface="+mj-lt"/>
              <a:buAutoNum type="arabicPeriod"/>
            </a:pPr>
            <a:r>
              <a:rPr lang="en-US" sz="2000" dirty="0" smtClean="0"/>
              <a:t>Format - 30 min lecture / 30 min lab</a:t>
            </a:r>
          </a:p>
          <a:p>
            <a:pPr marL="457200" indent="-457200">
              <a:buFont typeface="+mj-lt"/>
              <a:buAutoNum type="arabicPeriod"/>
            </a:pPr>
            <a:r>
              <a:rPr lang="en-US" sz="2000" dirty="0"/>
              <a:t>This presentation is NOT meant to be a comprehensive/complete tour of the PowerShell language. </a:t>
            </a:r>
          </a:p>
          <a:p>
            <a:pPr marL="457200" indent="-457200">
              <a:buFont typeface="+mj-lt"/>
              <a:buAutoNum type="arabicPeriod"/>
            </a:pPr>
            <a:r>
              <a:rPr lang="en-US" sz="2000" dirty="0" smtClean="0"/>
              <a:t>Provide the groundwork / basic fundamentals allowing an engineer PowerShell independence</a:t>
            </a:r>
          </a:p>
          <a:p>
            <a:pPr marL="457200" indent="-457200">
              <a:buFont typeface="+mj-lt"/>
              <a:buAutoNum type="arabicPeriod"/>
            </a:pPr>
            <a:r>
              <a:rPr lang="en-US" sz="2000" dirty="0" smtClean="0"/>
              <a:t>Best Practices</a:t>
            </a:r>
          </a:p>
          <a:p>
            <a:pPr marL="457200" indent="-457200">
              <a:buFont typeface="+mj-lt"/>
              <a:buAutoNum type="arabicPeriod"/>
            </a:pPr>
            <a:r>
              <a:rPr lang="en-US" sz="2000" dirty="0" smtClean="0"/>
              <a:t>Discuss Standards / Processes</a:t>
            </a:r>
          </a:p>
          <a:p>
            <a:pPr marL="457200" indent="-457200">
              <a:buFont typeface="+mj-lt"/>
              <a:buAutoNum type="arabicPeriod"/>
            </a:pPr>
            <a:r>
              <a:rPr lang="en-US" sz="2000" dirty="0" smtClean="0"/>
              <a:t>Educate on new toolsets</a:t>
            </a:r>
          </a:p>
          <a:p>
            <a:pPr marL="457200" indent="-457200">
              <a:buFont typeface="+mj-lt"/>
              <a:buAutoNum type="arabicPeriod"/>
            </a:pPr>
            <a:r>
              <a:rPr lang="en-US" sz="2000" dirty="0" smtClean="0"/>
              <a:t>Going to use chat</a:t>
            </a:r>
          </a:p>
          <a:p>
            <a:pPr marL="457200" indent="-457200">
              <a:buFont typeface="+mj-lt"/>
              <a:buAutoNum type="arabicPeriod"/>
            </a:pPr>
            <a:r>
              <a:rPr lang="en-US" sz="2000" dirty="0" smtClean="0"/>
              <a:t>We are engineers</a:t>
            </a:r>
          </a:p>
          <a:p>
            <a:endParaRPr lang="en-US" dirty="0"/>
          </a:p>
        </p:txBody>
      </p:sp>
    </p:spTree>
    <p:extLst>
      <p:ext uri="{BB962C8B-B14F-4D97-AF65-F5344CB8AC3E}">
        <p14:creationId xmlns="" xmlns:p14="http://schemas.microsoft.com/office/powerpoint/2010/main" val="19235488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 Introduction</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1504448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Invest in Scripting?</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Automation</a:t>
            </a:r>
          </a:p>
          <a:p>
            <a:pPr lvl="1"/>
            <a:r>
              <a:rPr lang="en-US" dirty="0" smtClean="0"/>
              <a:t>Automate repetitive (boring) tasks</a:t>
            </a:r>
          </a:p>
          <a:p>
            <a:pPr marL="457200" indent="-457200">
              <a:buFont typeface="+mj-lt"/>
              <a:buAutoNum type="arabicPeriod"/>
            </a:pPr>
            <a:r>
              <a:rPr lang="en-US" dirty="0" smtClean="0"/>
              <a:t>Only Human</a:t>
            </a:r>
          </a:p>
          <a:p>
            <a:pPr lvl="1"/>
            <a:r>
              <a:rPr lang="en-US" dirty="0" smtClean="0"/>
              <a:t>Consistency</a:t>
            </a:r>
          </a:p>
          <a:p>
            <a:pPr lvl="1"/>
            <a:r>
              <a:rPr lang="en-US" dirty="0" smtClean="0"/>
              <a:t>Machines work all night / Humans get tired</a:t>
            </a:r>
          </a:p>
          <a:p>
            <a:pPr marL="742950" lvl="2" indent="0">
              <a:buNone/>
            </a:pPr>
            <a:r>
              <a:rPr lang="en-US" sz="1600" i="1" dirty="0" smtClean="0"/>
              <a:t>	“Never send a human to do a machine’s job” – Agent Smith</a:t>
            </a:r>
          </a:p>
          <a:p>
            <a:pPr marL="457200" indent="-457200">
              <a:buFont typeface="+mj-lt"/>
              <a:buAutoNum type="arabicPeriod"/>
            </a:pPr>
            <a:r>
              <a:rPr lang="en-US" dirty="0" smtClean="0"/>
              <a:t>Speed</a:t>
            </a:r>
          </a:p>
          <a:p>
            <a:pPr lvl="1"/>
            <a:r>
              <a:rPr lang="en-US" dirty="0" smtClean="0"/>
              <a:t>Computers are always faster!</a:t>
            </a:r>
          </a:p>
          <a:p>
            <a:pPr marL="457200" indent="-457200">
              <a:buFont typeface="+mj-lt"/>
              <a:buAutoNum type="arabicPeriod"/>
            </a:pPr>
            <a:r>
              <a:rPr lang="en-US" dirty="0" smtClean="0"/>
              <a:t>Provides Lasting Value</a:t>
            </a:r>
          </a:p>
          <a:p>
            <a:pPr lvl="1"/>
            <a:r>
              <a:rPr lang="en-US" dirty="0" smtClean="0"/>
              <a:t>Scripts can be re-used</a:t>
            </a:r>
          </a:p>
          <a:p>
            <a:pPr marL="0" indent="0">
              <a:buNone/>
            </a:pPr>
            <a:endParaRPr lang="en-US" dirty="0" smtClean="0"/>
          </a:p>
        </p:txBody>
      </p:sp>
    </p:spTree>
    <p:extLst>
      <p:ext uri="{BB962C8B-B14F-4D97-AF65-F5344CB8AC3E}">
        <p14:creationId xmlns="" xmlns:p14="http://schemas.microsoft.com/office/powerpoint/2010/main" val="26086738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Old vs. New</a:t>
            </a:r>
            <a:endParaRPr lang="en-US" dirty="0"/>
          </a:p>
        </p:txBody>
      </p:sp>
      <p:sp>
        <p:nvSpPr>
          <p:cNvPr id="3" name="Content Placeholder 2"/>
          <p:cNvSpPr>
            <a:spLocks noGrp="1"/>
          </p:cNvSpPr>
          <p:nvPr>
            <p:ph idx="1"/>
          </p:nvPr>
        </p:nvSpPr>
        <p:spPr/>
        <p:txBody>
          <a:bodyPr/>
          <a:lstStyle/>
          <a:p>
            <a:r>
              <a:rPr lang="en-US" dirty="0" smtClean="0"/>
              <a:t>Revolutionary Language</a:t>
            </a:r>
          </a:p>
          <a:p>
            <a:pPr lvl="1"/>
            <a:r>
              <a:rPr lang="en-US" dirty="0" smtClean="0"/>
              <a:t>GUI</a:t>
            </a:r>
          </a:p>
          <a:p>
            <a:pPr lvl="1"/>
            <a:r>
              <a:rPr lang="en-US" dirty="0" smtClean="0"/>
              <a:t>Scripting</a:t>
            </a:r>
          </a:p>
          <a:p>
            <a:pPr lvl="1"/>
            <a:r>
              <a:rPr lang="en-US" dirty="0" smtClean="0"/>
              <a:t>Interactive Command Shell</a:t>
            </a:r>
          </a:p>
          <a:p>
            <a:pPr lvl="1"/>
            <a:endParaRPr lang="en-US" dirty="0" smtClean="0"/>
          </a:p>
          <a:p>
            <a:endParaRPr lang="en-US" dirty="0"/>
          </a:p>
        </p:txBody>
      </p:sp>
      <p:graphicFrame>
        <p:nvGraphicFramePr>
          <p:cNvPr id="4" name="Table 3"/>
          <p:cNvGraphicFramePr>
            <a:graphicFrameLocks noGrp="1"/>
          </p:cNvGraphicFramePr>
          <p:nvPr>
            <p:extLst>
              <p:ext uri="{D42A27DB-BD31-4B8C-83A1-F6EECF244321}">
                <p14:modId xmlns="" xmlns:p14="http://schemas.microsoft.com/office/powerpoint/2010/main" val="3138606236"/>
              </p:ext>
            </p:extLst>
          </p:nvPr>
        </p:nvGraphicFramePr>
        <p:xfrm>
          <a:off x="1524000" y="3048000"/>
          <a:ext cx="6096000" cy="1940560"/>
        </p:xfrm>
        <a:graphic>
          <a:graphicData uri="http://schemas.openxmlformats.org/drawingml/2006/table">
            <a:tbl>
              <a:tblPr firstRow="1" bandRow="1">
                <a:tableStyleId>{9D7B26C5-4107-4FEC-AEDC-1716B250A1EF}</a:tableStyleId>
              </a:tblPr>
              <a:tblGrid>
                <a:gridCol w="2032000"/>
                <a:gridCol w="2032000"/>
                <a:gridCol w="2032000"/>
              </a:tblGrid>
              <a:tr h="370840">
                <a:tc>
                  <a:txBody>
                    <a:bodyPr/>
                    <a:lstStyle/>
                    <a:p>
                      <a:endParaRPr lang="en-US" sz="1200" dirty="0"/>
                    </a:p>
                  </a:txBody>
                  <a:tcPr/>
                </a:tc>
                <a:tc>
                  <a:txBody>
                    <a:bodyPr/>
                    <a:lstStyle/>
                    <a:p>
                      <a:r>
                        <a:rPr lang="en-US" sz="1200" dirty="0" smtClean="0"/>
                        <a:t>Before</a:t>
                      </a:r>
                      <a:endParaRPr lang="en-US" sz="1200" dirty="0"/>
                    </a:p>
                  </a:txBody>
                  <a:tcPr/>
                </a:tc>
                <a:tc>
                  <a:txBody>
                    <a:bodyPr/>
                    <a:lstStyle/>
                    <a:p>
                      <a:r>
                        <a:rPr lang="en-US" sz="1200" dirty="0" smtClean="0"/>
                        <a:t>Now</a:t>
                      </a:r>
                      <a:endParaRPr lang="en-US" sz="1200" dirty="0"/>
                    </a:p>
                  </a:txBody>
                  <a:tcPr/>
                </a:tc>
              </a:tr>
              <a:tr h="370840">
                <a:tc>
                  <a:txBody>
                    <a:bodyPr/>
                    <a:lstStyle/>
                    <a:p>
                      <a:r>
                        <a:rPr lang="en-US" sz="1200" dirty="0" smtClean="0"/>
                        <a:t>GUI</a:t>
                      </a:r>
                      <a:endParaRPr lang="en-US" sz="1200" dirty="0"/>
                    </a:p>
                  </a:txBody>
                  <a:tcPr/>
                </a:tc>
                <a:tc>
                  <a:txBody>
                    <a:bodyPr/>
                    <a:lstStyle/>
                    <a:p>
                      <a:r>
                        <a:rPr lang="en-US" sz="1200" dirty="0" smtClean="0"/>
                        <a:t>MMC</a:t>
                      </a:r>
                      <a:endParaRPr lang="en-US" sz="1200" dirty="0"/>
                    </a:p>
                  </a:txBody>
                  <a:tcPr/>
                </a:tc>
                <a:tc>
                  <a:txBody>
                    <a:bodyPr/>
                    <a:lstStyle/>
                    <a:p>
                      <a:r>
                        <a:rPr lang="en-US" sz="1200" dirty="0" smtClean="0"/>
                        <a:t>GUIs built on top of PowerShell</a:t>
                      </a:r>
                      <a:endParaRPr lang="en-US" sz="1200" dirty="0"/>
                    </a:p>
                  </a:txBody>
                  <a:tcPr/>
                </a:tc>
              </a:tr>
              <a:tr h="370840">
                <a:tc>
                  <a:txBody>
                    <a:bodyPr/>
                    <a:lstStyle/>
                    <a:p>
                      <a:r>
                        <a:rPr lang="en-US" sz="1200" dirty="0" smtClean="0"/>
                        <a:t>Interactive Shell</a:t>
                      </a:r>
                      <a:endParaRPr lang="en-US" sz="1200" dirty="0"/>
                    </a:p>
                  </a:txBody>
                  <a:tcPr/>
                </a:tc>
                <a:tc>
                  <a:txBody>
                    <a:bodyPr/>
                    <a:lstStyle/>
                    <a:p>
                      <a:r>
                        <a:rPr lang="en-US" sz="1200" dirty="0" smtClean="0"/>
                        <a:t>CMD</a:t>
                      </a:r>
                      <a:endParaRPr lang="en-US" sz="1200" dirty="0"/>
                    </a:p>
                  </a:txBody>
                  <a:tcPr/>
                </a:tc>
                <a:tc>
                  <a:txBody>
                    <a:bodyPr/>
                    <a:lstStyle/>
                    <a:p>
                      <a:r>
                        <a:rPr lang="en-US" sz="1200" dirty="0" smtClean="0"/>
                        <a:t>PowerShell</a:t>
                      </a:r>
                      <a:endParaRPr lang="en-US" sz="1200" dirty="0"/>
                    </a:p>
                  </a:txBody>
                  <a:tcPr/>
                </a:tc>
              </a:tr>
              <a:tr h="370840">
                <a:tc>
                  <a:txBody>
                    <a:bodyPr/>
                    <a:lstStyle/>
                    <a:p>
                      <a:r>
                        <a:rPr lang="en-US" sz="1200" dirty="0" smtClean="0"/>
                        <a:t>Scripting</a:t>
                      </a:r>
                      <a:endParaRPr lang="en-US" sz="1200" dirty="0"/>
                    </a:p>
                  </a:txBody>
                  <a:tcPr/>
                </a:tc>
                <a:tc>
                  <a:txBody>
                    <a:bodyPr/>
                    <a:lstStyle/>
                    <a:p>
                      <a:r>
                        <a:rPr lang="en-US" sz="1200" dirty="0" smtClean="0"/>
                        <a:t>BAT in CMD</a:t>
                      </a:r>
                      <a:endParaRPr lang="en-US" sz="1200" dirty="0"/>
                    </a:p>
                  </a:txBody>
                  <a:tcPr/>
                </a:tc>
                <a:tc>
                  <a:txBody>
                    <a:bodyPr/>
                    <a:lstStyle/>
                    <a:p>
                      <a:r>
                        <a:rPr lang="en-US" sz="1200" dirty="0" smtClean="0"/>
                        <a:t>PowerShell</a:t>
                      </a:r>
                      <a:endParaRPr lang="en-US" sz="1200" dirty="0"/>
                    </a:p>
                  </a:txBody>
                  <a:tcPr/>
                </a:tc>
              </a:tr>
              <a:tr h="370840">
                <a:tc>
                  <a:txBody>
                    <a:bodyPr/>
                    <a:lstStyle/>
                    <a:p>
                      <a:r>
                        <a:rPr lang="en-US" sz="1200" dirty="0" smtClean="0"/>
                        <a:t>COM Scripting</a:t>
                      </a:r>
                      <a:endParaRPr lang="en-US" sz="1200" dirty="0"/>
                    </a:p>
                  </a:txBody>
                  <a:tcPr/>
                </a:tc>
                <a:tc>
                  <a:txBody>
                    <a:bodyPr/>
                    <a:lstStyle/>
                    <a:p>
                      <a:r>
                        <a:rPr lang="en-US" sz="1200" dirty="0" smtClean="0"/>
                        <a:t>WMI (VBScript / Jscript)</a:t>
                      </a:r>
                      <a:endParaRPr lang="en-US" sz="1200" dirty="0"/>
                    </a:p>
                  </a:txBody>
                  <a:tcPr/>
                </a:tc>
                <a:tc>
                  <a:txBody>
                    <a:bodyPr/>
                    <a:lstStyle/>
                    <a:p>
                      <a:r>
                        <a:rPr lang="en-US" sz="1200" dirty="0" smtClean="0"/>
                        <a:t>PowerShell</a:t>
                      </a:r>
                      <a:endParaRPr lang="en-US" sz="1200" dirty="0"/>
                    </a:p>
                  </a:txBody>
                  <a:tcPr/>
                </a:tc>
              </a:tr>
            </a:tbl>
          </a:graphicData>
        </a:graphic>
      </p:graphicFrame>
    </p:spTree>
    <p:extLst>
      <p:ext uri="{BB962C8B-B14F-4D97-AF65-F5344CB8AC3E}">
        <p14:creationId xmlns="" xmlns:p14="http://schemas.microsoft.com/office/powerpoint/2010/main" val="26143597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it?</a:t>
            </a:r>
            <a:endParaRPr lang="en-US" dirty="0"/>
          </a:p>
        </p:txBody>
      </p:sp>
      <p:sp>
        <p:nvSpPr>
          <p:cNvPr id="3" name="Content Placeholder 2"/>
          <p:cNvSpPr>
            <a:spLocks noGrp="1"/>
          </p:cNvSpPr>
          <p:nvPr>
            <p:ph idx="1"/>
          </p:nvPr>
        </p:nvSpPr>
        <p:spPr/>
        <p:txBody>
          <a:bodyPr/>
          <a:lstStyle/>
          <a:p>
            <a:r>
              <a:rPr lang="en-US" sz="1800" dirty="0" smtClean="0"/>
              <a:t>Definition - PowerShell, formerly known as Monad, is both a powerful interactive shell and a programming language / scripting language from Microsoft. </a:t>
            </a:r>
          </a:p>
          <a:p>
            <a:r>
              <a:rPr lang="en-US" sz="1800" dirty="0" smtClean="0"/>
              <a:t>Versions</a:t>
            </a:r>
          </a:p>
          <a:p>
            <a:pPr lvl="1"/>
            <a:r>
              <a:rPr lang="en-US" sz="1800" dirty="0" smtClean="0"/>
              <a:t>PowerShell v1</a:t>
            </a:r>
          </a:p>
          <a:p>
            <a:pPr lvl="2"/>
            <a:r>
              <a:rPr lang="en-US" sz="1800" dirty="0" smtClean="0"/>
              <a:t>Released in November, 2006</a:t>
            </a:r>
          </a:p>
          <a:p>
            <a:pPr lvl="1"/>
            <a:r>
              <a:rPr lang="en-US" sz="1800" dirty="0" smtClean="0"/>
              <a:t>PowerShell v2</a:t>
            </a:r>
          </a:p>
          <a:p>
            <a:pPr lvl="2"/>
            <a:r>
              <a:rPr lang="en-US" sz="1800" dirty="0" smtClean="0"/>
              <a:t>Released in 2009</a:t>
            </a:r>
          </a:p>
          <a:p>
            <a:pPr lvl="2"/>
            <a:r>
              <a:rPr lang="en-US" sz="1800" dirty="0" smtClean="0"/>
              <a:t>Significantly More Features</a:t>
            </a:r>
          </a:p>
          <a:p>
            <a:pPr lvl="1"/>
            <a:r>
              <a:rPr lang="en-US" sz="1800" dirty="0" smtClean="0"/>
              <a:t>PowerShell v3</a:t>
            </a:r>
          </a:p>
          <a:p>
            <a:pPr lvl="2"/>
            <a:r>
              <a:rPr lang="en-US" sz="1800" dirty="0" smtClean="0"/>
              <a:t>Released September 12, 2012</a:t>
            </a:r>
          </a:p>
          <a:p>
            <a:pPr lvl="2"/>
            <a:r>
              <a:rPr lang="en-US" sz="1800" dirty="0" smtClean="0"/>
              <a:t>Significantly more cmdlets and features</a:t>
            </a:r>
          </a:p>
          <a:p>
            <a:endParaRPr lang="en-US" sz="1400" dirty="0" smtClean="0"/>
          </a:p>
        </p:txBody>
      </p:sp>
    </p:spTree>
    <p:extLst>
      <p:ext uri="{BB962C8B-B14F-4D97-AF65-F5344CB8AC3E}">
        <p14:creationId xmlns="" xmlns:p14="http://schemas.microsoft.com/office/powerpoint/2010/main" val="20193661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a:t>
            </a:r>
            <a:endParaRPr lang="en-US" dirty="0"/>
          </a:p>
        </p:txBody>
      </p:sp>
      <p:graphicFrame>
        <p:nvGraphicFramePr>
          <p:cNvPr id="5" name="Content Placeholder 4"/>
          <p:cNvGraphicFramePr>
            <a:graphicFrameLocks noGrp="1"/>
          </p:cNvGraphicFramePr>
          <p:nvPr>
            <p:ph idx="1"/>
            <p:extLst>
              <p:ext uri="{D42A27DB-BD31-4B8C-83A1-F6EECF244321}">
                <p14:modId xmlns="" xmlns:p14="http://schemas.microsoft.com/office/powerpoint/2010/main" val="3320749498"/>
              </p:ext>
            </p:extLst>
          </p:nvPr>
        </p:nvGraphicFramePr>
        <p:xfrm>
          <a:off x="917575" y="838200"/>
          <a:ext cx="7369175"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4523202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pic>
        <p:nvPicPr>
          <p:cNvPr id="2050" name="Picture 2" descr="http://i1.social.s-msft.com/profile/u/avatar.jpg?displayname=jeffrey%20snover%20windows%20server&amp;size=extralarge&amp;version=78e4dd91-1a7e-438e-a451-8333353a14c7"/>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192619" y="914401"/>
            <a:ext cx="1371599"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4" name="TextBox 3"/>
          <p:cNvSpPr txBox="1"/>
          <p:nvPr/>
        </p:nvSpPr>
        <p:spPr>
          <a:xfrm>
            <a:off x="2667000" y="921488"/>
            <a:ext cx="5867400" cy="861774"/>
          </a:xfrm>
          <a:prstGeom prst="rect">
            <a:avLst/>
          </a:prstGeom>
          <a:noFill/>
        </p:spPr>
        <p:txBody>
          <a:bodyPr wrap="square" rtlCol="0">
            <a:spAutoFit/>
          </a:bodyPr>
          <a:lstStyle/>
          <a:p>
            <a:r>
              <a:rPr lang="en-US" b="1" dirty="0" smtClean="0"/>
              <a:t>Jeffrey </a:t>
            </a:r>
            <a:r>
              <a:rPr lang="en-US" b="1" dirty="0" err="1" smtClean="0"/>
              <a:t>Snover</a:t>
            </a:r>
            <a:endParaRPr lang="en-US" b="1" dirty="0" smtClean="0"/>
          </a:p>
          <a:p>
            <a:r>
              <a:rPr lang="en-US" sz="1600" dirty="0" smtClean="0"/>
              <a:t>Architect</a:t>
            </a:r>
          </a:p>
          <a:p>
            <a:r>
              <a:rPr lang="en-US" sz="1600" dirty="0" smtClean="0"/>
              <a:t>Microsoft Corporation</a:t>
            </a:r>
            <a:endParaRPr lang="en-US" sz="1600" dirty="0"/>
          </a:p>
        </p:txBody>
      </p:sp>
      <p:pic>
        <p:nvPicPr>
          <p:cNvPr id="2053" name="Picture 5"/>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171354" y="2514600"/>
            <a:ext cx="1392864" cy="13928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2667000" y="2514600"/>
            <a:ext cx="5867400" cy="861774"/>
          </a:xfrm>
          <a:prstGeom prst="rect">
            <a:avLst/>
          </a:prstGeom>
          <a:noFill/>
        </p:spPr>
        <p:txBody>
          <a:bodyPr wrap="square" rtlCol="0">
            <a:spAutoFit/>
          </a:bodyPr>
          <a:lstStyle/>
          <a:p>
            <a:r>
              <a:rPr lang="en-US" b="1" dirty="0" smtClean="0"/>
              <a:t>Bruce Payette</a:t>
            </a:r>
          </a:p>
          <a:p>
            <a:r>
              <a:rPr lang="en-US" sz="1600" dirty="0" smtClean="0"/>
              <a:t>Principal Software Design Engineer</a:t>
            </a:r>
          </a:p>
          <a:p>
            <a:r>
              <a:rPr lang="en-US" sz="1600" dirty="0" smtClean="0"/>
              <a:t>Microsoft Corporation</a:t>
            </a:r>
            <a:endParaRPr lang="en-US" sz="1600" dirty="0"/>
          </a:p>
        </p:txBody>
      </p:sp>
      <p:pic>
        <p:nvPicPr>
          <p:cNvPr id="1026" name="Picture 2"/>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1173568" y="4062413"/>
            <a:ext cx="1390649" cy="14227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729909" y="4062413"/>
            <a:ext cx="5741581" cy="861774"/>
          </a:xfrm>
          <a:prstGeom prst="rect">
            <a:avLst/>
          </a:prstGeom>
          <a:noFill/>
        </p:spPr>
        <p:txBody>
          <a:bodyPr wrap="square" rtlCol="0">
            <a:spAutoFit/>
          </a:bodyPr>
          <a:lstStyle/>
          <a:p>
            <a:r>
              <a:rPr lang="en-US" b="1" dirty="0" smtClean="0"/>
              <a:t>Jim </a:t>
            </a:r>
            <a:r>
              <a:rPr lang="en-US" b="1" dirty="0" err="1"/>
              <a:t>Truher</a:t>
            </a:r>
            <a:endParaRPr lang="en-US" b="1" dirty="0"/>
          </a:p>
          <a:p>
            <a:r>
              <a:rPr lang="en-US" sz="1600" dirty="0" smtClean="0"/>
              <a:t>Program Manager</a:t>
            </a:r>
          </a:p>
          <a:p>
            <a:r>
              <a:rPr lang="en-US" sz="1600" dirty="0" smtClean="0"/>
              <a:t>Microsoft Corporation</a:t>
            </a:r>
            <a:endParaRPr lang="en-US" sz="1600" dirty="0"/>
          </a:p>
        </p:txBody>
      </p:sp>
    </p:spTree>
    <p:extLst>
      <p:ext uri="{BB962C8B-B14F-4D97-AF65-F5344CB8AC3E}">
        <p14:creationId xmlns="" xmlns:p14="http://schemas.microsoft.com/office/powerpoint/2010/main" val="1103662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Introduction To </a:t>
            </a:r>
            <a:r>
              <a:rPr lang="en-US" dirty="0" err="1" smtClean="0"/>
              <a:t>Powershell</a:t>
            </a:r>
            <a:endParaRPr lang="en-US" dirty="0"/>
          </a:p>
        </p:txBody>
      </p:sp>
      <p:pic>
        <p:nvPicPr>
          <p:cNvPr id="1026" name="Picture 2"/>
          <p:cNvPicPr>
            <a:picLocks noChangeAspect="1" noChangeArrowheads="1"/>
          </p:cNvPicPr>
          <p:nvPr/>
        </p:nvPicPr>
        <p:blipFill rotWithShape="1">
          <a:blip r:embed="rId3">
            <a:extLst>
              <a:ext uri="{28A0092B-C50C-407E-A947-70E740481C1C}">
                <a14:useLocalDpi xmlns="" xmlns:a14="http://schemas.microsoft.com/office/drawing/2010/main" val="0"/>
              </a:ext>
            </a:extLst>
          </a:blip>
          <a:srcRect r="14273"/>
          <a:stretch/>
        </p:blipFill>
        <p:spPr bwMode="auto">
          <a:xfrm>
            <a:off x="685800" y="1066800"/>
            <a:ext cx="7690513" cy="4591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962695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I Identify PowerShell Code? </a:t>
            </a:r>
            <a:endParaRPr lang="en-US" dirty="0"/>
          </a:p>
        </p:txBody>
      </p:sp>
      <p:sp>
        <p:nvSpPr>
          <p:cNvPr id="3" name="Content Placeholder 2"/>
          <p:cNvSpPr>
            <a:spLocks noGrp="1"/>
          </p:cNvSpPr>
          <p:nvPr>
            <p:ph idx="1"/>
          </p:nvPr>
        </p:nvSpPr>
        <p:spPr/>
        <p:txBody>
          <a:bodyPr/>
          <a:lstStyle/>
          <a:p>
            <a:r>
              <a:rPr lang="en-US" dirty="0" smtClean="0"/>
              <a:t>File Extensions</a:t>
            </a:r>
          </a:p>
          <a:p>
            <a:pPr lvl="1"/>
            <a:r>
              <a:rPr lang="en-US" dirty="0" smtClean="0"/>
              <a:t>PS1 – Windows PowerShell shell script</a:t>
            </a:r>
          </a:p>
          <a:p>
            <a:pPr lvl="1"/>
            <a:r>
              <a:rPr lang="en-US" dirty="0" smtClean="0"/>
              <a:t>PS1XML – Windows PowerShell format and type definitions</a:t>
            </a:r>
          </a:p>
          <a:p>
            <a:pPr lvl="1"/>
            <a:r>
              <a:rPr lang="en-US" dirty="0" smtClean="0"/>
              <a:t>PSC1 – Windows PowerShell Console File</a:t>
            </a:r>
          </a:p>
          <a:p>
            <a:pPr lvl="1"/>
            <a:r>
              <a:rPr lang="en-US" dirty="0" smtClean="0"/>
              <a:t>PSD1 – Windows PowerShell data file (v2 only)</a:t>
            </a:r>
          </a:p>
          <a:p>
            <a:pPr lvl="1"/>
            <a:r>
              <a:rPr lang="en-US" dirty="0" smtClean="0"/>
              <a:t>PSM1 – Windows PowerShell module file (v2 only)</a:t>
            </a:r>
            <a:endParaRPr lang="en-US" dirty="0"/>
          </a:p>
        </p:txBody>
      </p:sp>
    </p:spTree>
    <p:extLst>
      <p:ext uri="{BB962C8B-B14F-4D97-AF65-F5344CB8AC3E}">
        <p14:creationId xmlns="" xmlns:p14="http://schemas.microsoft.com/office/powerpoint/2010/main" val="3833087804"/>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Application Support / Integrations</a:t>
            </a:r>
            <a:endParaRPr lang="en-US" dirty="0"/>
          </a:p>
        </p:txBody>
      </p:sp>
      <p:sp>
        <p:nvSpPr>
          <p:cNvPr id="5" name="Content Placeholder 4"/>
          <p:cNvSpPr>
            <a:spLocks noGrp="1"/>
          </p:cNvSpPr>
          <p:nvPr>
            <p:ph idx="1"/>
          </p:nvPr>
        </p:nvSpPr>
        <p:spPr/>
        <p:txBody>
          <a:bodyPr/>
          <a:lstStyle/>
          <a:p>
            <a:r>
              <a:rPr lang="en-US" sz="2000" dirty="0" smtClean="0"/>
              <a:t>External software vendors develop PowerShell Snap-In</a:t>
            </a:r>
            <a:r>
              <a:rPr lang="en-US" sz="2000" dirty="0"/>
              <a:t> </a:t>
            </a:r>
            <a:r>
              <a:rPr lang="en-US" sz="2000" dirty="0" smtClean="0"/>
              <a:t>/ Modules</a:t>
            </a:r>
          </a:p>
          <a:p>
            <a:pPr marL="0" indent="0">
              <a:buNone/>
            </a:pPr>
            <a:endParaRPr lang="en-US" sz="2000" dirty="0"/>
          </a:p>
        </p:txBody>
      </p:sp>
      <p:graphicFrame>
        <p:nvGraphicFramePr>
          <p:cNvPr id="6" name="Table 5"/>
          <p:cNvGraphicFramePr>
            <a:graphicFrameLocks noGrp="1"/>
          </p:cNvGraphicFramePr>
          <p:nvPr>
            <p:extLst>
              <p:ext uri="{D42A27DB-BD31-4B8C-83A1-F6EECF244321}">
                <p14:modId xmlns="" xmlns:p14="http://schemas.microsoft.com/office/powerpoint/2010/main" val="2633109162"/>
              </p:ext>
            </p:extLst>
          </p:nvPr>
        </p:nvGraphicFramePr>
        <p:xfrm>
          <a:off x="1524000" y="1579880"/>
          <a:ext cx="4919980" cy="4450080"/>
        </p:xfrm>
        <a:graphic>
          <a:graphicData uri="http://schemas.openxmlformats.org/drawingml/2006/table">
            <a:tbl>
              <a:tblPr firstRow="1" bandRow="1">
                <a:tableStyleId>{9D7B26C5-4107-4FEC-AEDC-1716B250A1EF}</a:tableStyleId>
              </a:tblPr>
              <a:tblGrid>
                <a:gridCol w="3319780"/>
                <a:gridCol w="1600200"/>
              </a:tblGrid>
              <a:tr h="370840">
                <a:tc>
                  <a:txBody>
                    <a:bodyPr/>
                    <a:lstStyle/>
                    <a:p>
                      <a:r>
                        <a:rPr lang="en-US" sz="1200" dirty="0" smtClean="0"/>
                        <a:t>Application</a:t>
                      </a:r>
                      <a:endParaRPr lang="en-US" sz="1200" dirty="0"/>
                    </a:p>
                  </a:txBody>
                  <a:tcPr/>
                </a:tc>
                <a:tc>
                  <a:txBody>
                    <a:bodyPr/>
                    <a:lstStyle/>
                    <a:p>
                      <a:pPr algn="ctr"/>
                      <a:r>
                        <a:rPr lang="en-US" sz="1200" dirty="0" smtClean="0"/>
                        <a:t>Cmdlets</a:t>
                      </a:r>
                      <a:endParaRPr lang="en-US" sz="1200" dirty="0"/>
                    </a:p>
                  </a:txBody>
                  <a:tcPr/>
                </a:tc>
              </a:tr>
              <a:tr h="370840">
                <a:tc>
                  <a:txBody>
                    <a:bodyPr/>
                    <a:lstStyle/>
                    <a:p>
                      <a:r>
                        <a:rPr lang="en-US" sz="1200" dirty="0" smtClean="0"/>
                        <a:t>Microsoft Exchange Server 2010</a:t>
                      </a:r>
                      <a:endParaRPr lang="en-US" sz="1200" dirty="0"/>
                    </a:p>
                  </a:txBody>
                  <a:tcPr/>
                </a:tc>
                <a:tc>
                  <a:txBody>
                    <a:bodyPr/>
                    <a:lstStyle/>
                    <a:p>
                      <a:pPr algn="ctr"/>
                      <a:r>
                        <a:rPr lang="en-US" sz="1200" dirty="0" smtClean="0"/>
                        <a:t>402</a:t>
                      </a:r>
                      <a:endParaRPr lang="en-US" sz="1200" dirty="0"/>
                    </a:p>
                  </a:txBody>
                  <a:tcPr/>
                </a:tc>
              </a:tr>
              <a:tr h="370840">
                <a:tc>
                  <a:txBody>
                    <a:bodyPr/>
                    <a:lstStyle/>
                    <a:p>
                      <a:r>
                        <a:rPr lang="en-US" sz="1200" dirty="0" smtClean="0"/>
                        <a:t>Microsoft Windows Server 2008</a:t>
                      </a:r>
                      <a:r>
                        <a:rPr lang="en-US" sz="1200" baseline="0" dirty="0" smtClean="0"/>
                        <a:t> R2</a:t>
                      </a:r>
                      <a:endParaRPr lang="en-US" sz="1200" dirty="0"/>
                    </a:p>
                  </a:txBody>
                  <a:tcPr/>
                </a:tc>
                <a:tc>
                  <a:txBody>
                    <a:bodyPr/>
                    <a:lstStyle/>
                    <a:p>
                      <a:pPr algn="ctr"/>
                      <a:r>
                        <a:rPr lang="en-US" sz="1200" dirty="0" smtClean="0"/>
                        <a:t>410</a:t>
                      </a:r>
                      <a:endParaRPr lang="en-US" sz="1200" dirty="0"/>
                    </a:p>
                  </a:txBody>
                  <a:tcPr/>
                </a:tc>
              </a:tr>
              <a:tr h="370840">
                <a:tc>
                  <a:txBody>
                    <a:bodyPr/>
                    <a:lstStyle/>
                    <a:p>
                      <a:r>
                        <a:rPr lang="en-US" sz="1200" dirty="0" smtClean="0"/>
                        <a:t>Microsoft Windows Server 2012</a:t>
                      </a:r>
                      <a:endParaRPr lang="en-US" sz="1200" dirty="0"/>
                    </a:p>
                  </a:txBody>
                  <a:tcPr/>
                </a:tc>
                <a:tc>
                  <a:txBody>
                    <a:bodyPr/>
                    <a:lstStyle/>
                    <a:p>
                      <a:pPr algn="ctr"/>
                      <a:r>
                        <a:rPr lang="en-US" sz="1200" dirty="0" smtClean="0"/>
                        <a:t>1160</a:t>
                      </a:r>
                      <a:endParaRPr lang="en-US" sz="1200" dirty="0"/>
                    </a:p>
                  </a:txBody>
                  <a:tcPr/>
                </a:tc>
              </a:tr>
              <a:tr h="370840">
                <a:tc>
                  <a:txBody>
                    <a:bodyPr/>
                    <a:lstStyle/>
                    <a:p>
                      <a:r>
                        <a:rPr lang="en-US" sz="1200" dirty="0" smtClean="0"/>
                        <a:t>Microsoft SQL Server 2008</a:t>
                      </a:r>
                      <a:endParaRPr lang="en-US" sz="1200" dirty="0"/>
                    </a:p>
                  </a:txBody>
                  <a:tcPr/>
                </a:tc>
                <a:tc>
                  <a:txBody>
                    <a:bodyPr/>
                    <a:lstStyle/>
                    <a:p>
                      <a:pPr algn="ctr"/>
                      <a:endParaRPr lang="en-US" sz="1200" dirty="0"/>
                    </a:p>
                  </a:txBody>
                  <a:tcPr/>
                </a:tc>
              </a:tr>
              <a:tr h="370840">
                <a:tc>
                  <a:txBody>
                    <a:bodyPr/>
                    <a:lstStyle/>
                    <a:p>
                      <a:r>
                        <a:rPr lang="en-US" sz="1200" dirty="0" smtClean="0"/>
                        <a:t>Microsoft SQL Server 2012</a:t>
                      </a:r>
                      <a:endParaRPr lang="en-US" sz="1200" dirty="0"/>
                    </a:p>
                  </a:txBody>
                  <a:tcPr/>
                </a:tc>
                <a:tc>
                  <a:txBody>
                    <a:bodyPr/>
                    <a:lstStyle/>
                    <a:p>
                      <a:pPr algn="ctr"/>
                      <a:endParaRPr lang="en-US" sz="1200" dirty="0"/>
                    </a:p>
                  </a:txBody>
                  <a:tcPr/>
                </a:tc>
              </a:tr>
              <a:tr h="370840">
                <a:tc>
                  <a:txBody>
                    <a:bodyPr/>
                    <a:lstStyle/>
                    <a:p>
                      <a:r>
                        <a:rPr lang="en-US" sz="1200" dirty="0" smtClean="0"/>
                        <a:t>Microsoft System Center Operations Manager</a:t>
                      </a:r>
                      <a:endParaRPr lang="en-US" sz="1200" dirty="0"/>
                    </a:p>
                  </a:txBody>
                  <a:tcPr/>
                </a:tc>
                <a:tc>
                  <a:txBody>
                    <a:bodyPr/>
                    <a:lstStyle/>
                    <a:p>
                      <a:pPr algn="ctr"/>
                      <a:r>
                        <a:rPr lang="en-US" sz="1200" dirty="0" smtClean="0"/>
                        <a:t>74</a:t>
                      </a:r>
                      <a:endParaRPr lang="en-US" sz="1200" dirty="0"/>
                    </a:p>
                  </a:txBody>
                  <a:tcPr/>
                </a:tc>
              </a:tr>
              <a:tr h="370840">
                <a:tc>
                  <a:txBody>
                    <a:bodyPr/>
                    <a:lstStyle/>
                    <a:p>
                      <a:r>
                        <a:rPr lang="en-US" sz="1200" dirty="0" smtClean="0"/>
                        <a:t>VMWare </a:t>
                      </a:r>
                      <a:r>
                        <a:rPr lang="en-US" sz="1200" dirty="0" err="1" smtClean="0"/>
                        <a:t>vSphere</a:t>
                      </a:r>
                      <a:r>
                        <a:rPr lang="en-US" sz="1200" baseline="0" dirty="0" smtClean="0"/>
                        <a:t> </a:t>
                      </a:r>
                      <a:r>
                        <a:rPr lang="en-US" sz="1200" baseline="0" dirty="0" err="1" smtClean="0"/>
                        <a:t>PowerCLI</a:t>
                      </a:r>
                      <a:endParaRPr lang="en-US" sz="1200" dirty="0"/>
                    </a:p>
                  </a:txBody>
                  <a:tcPr/>
                </a:tc>
                <a:tc>
                  <a:txBody>
                    <a:bodyPr/>
                    <a:lstStyle/>
                    <a:p>
                      <a:pPr algn="ctr"/>
                      <a:r>
                        <a:rPr lang="en-US" sz="1200" dirty="0" smtClean="0"/>
                        <a:t>370</a:t>
                      </a:r>
                      <a:endParaRPr lang="en-US" sz="1200" dirty="0"/>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Microsoft Internet</a:t>
                      </a:r>
                      <a:r>
                        <a:rPr lang="en-US" sz="1200" baseline="0" dirty="0" smtClean="0"/>
                        <a:t> Information Services </a:t>
                      </a:r>
                      <a:r>
                        <a:rPr lang="en-US" sz="1200" dirty="0" smtClean="0"/>
                        <a:t>7.0</a:t>
                      </a:r>
                    </a:p>
                  </a:txBody>
                  <a:tcPr/>
                </a:tc>
                <a:tc>
                  <a:txBody>
                    <a:bodyPr/>
                    <a:lstStyle/>
                    <a:p>
                      <a:pPr algn="ctr"/>
                      <a:r>
                        <a:rPr lang="en-US" sz="1200" dirty="0" smtClean="0"/>
                        <a:t>54</a:t>
                      </a:r>
                      <a:endParaRPr lang="en-US" sz="1200" dirty="0"/>
                    </a:p>
                  </a:txBody>
                  <a:tcPr/>
                </a:tc>
              </a:tr>
              <a:tr h="370840">
                <a:tc>
                  <a:txBody>
                    <a:bodyPr/>
                    <a:lstStyle/>
                    <a:p>
                      <a:r>
                        <a:rPr lang="en-US" sz="1200" dirty="0" smtClean="0"/>
                        <a:t>Microsoft Internet</a:t>
                      </a:r>
                      <a:r>
                        <a:rPr lang="en-US" sz="1200" baseline="0" dirty="0" smtClean="0"/>
                        <a:t> Information Services </a:t>
                      </a:r>
                      <a:r>
                        <a:rPr lang="en-US" sz="1200" dirty="0" smtClean="0"/>
                        <a:t>7.5</a:t>
                      </a:r>
                      <a:endParaRPr lang="en-US" sz="1200" dirty="0"/>
                    </a:p>
                  </a:txBody>
                  <a:tcPr/>
                </a:tc>
                <a:tc>
                  <a:txBody>
                    <a:bodyPr/>
                    <a:lstStyle/>
                    <a:p>
                      <a:pPr algn="ctr"/>
                      <a:r>
                        <a:rPr lang="en-US" sz="1200" dirty="0" smtClean="0"/>
                        <a:t>74</a:t>
                      </a:r>
                      <a:endParaRPr lang="en-US" sz="1200" dirty="0"/>
                    </a:p>
                  </a:txBody>
                  <a:tcPr/>
                </a:tc>
              </a:tr>
              <a:tr h="370840">
                <a:tc>
                  <a:txBody>
                    <a:bodyPr/>
                    <a:lstStyle/>
                    <a:p>
                      <a:r>
                        <a:rPr lang="en-US" sz="1200" dirty="0" smtClean="0"/>
                        <a:t>Microsoft Internet</a:t>
                      </a:r>
                      <a:r>
                        <a:rPr lang="en-US" sz="1200" baseline="0" dirty="0" smtClean="0"/>
                        <a:t> Information Services 8.0</a:t>
                      </a:r>
                      <a:endParaRPr lang="en-US" sz="1200" dirty="0"/>
                    </a:p>
                  </a:txBody>
                  <a:tcPr/>
                </a:tc>
                <a:tc>
                  <a:txBody>
                    <a:bodyPr/>
                    <a:lstStyle/>
                    <a:p>
                      <a:pPr algn="ctr"/>
                      <a:r>
                        <a:rPr lang="en-US" sz="1200" dirty="0" smtClean="0"/>
                        <a:t>79</a:t>
                      </a:r>
                      <a:endParaRPr lang="en-US" sz="1200" dirty="0"/>
                    </a:p>
                  </a:txBody>
                  <a:tcPr/>
                </a:tc>
              </a:tr>
              <a:tr h="370840">
                <a:tc>
                  <a:txBody>
                    <a:bodyPr/>
                    <a:lstStyle/>
                    <a:p>
                      <a:r>
                        <a:rPr lang="en-US" sz="1200" dirty="0" smtClean="0"/>
                        <a:t>NetApp Data ONTAP PowerShell</a:t>
                      </a:r>
                      <a:r>
                        <a:rPr lang="en-US" sz="1200" baseline="0" dirty="0" smtClean="0"/>
                        <a:t> Toolkit</a:t>
                      </a:r>
                      <a:endParaRPr lang="en-US" sz="1200" dirty="0"/>
                    </a:p>
                  </a:txBody>
                  <a:tcPr/>
                </a:tc>
                <a:tc>
                  <a:txBody>
                    <a:bodyPr/>
                    <a:lstStyle/>
                    <a:p>
                      <a:pPr algn="ctr"/>
                      <a:r>
                        <a:rPr lang="en-US" sz="1200" dirty="0" smtClean="0"/>
                        <a:t>1158</a:t>
                      </a:r>
                      <a:endParaRPr lang="en-US" sz="1200" dirty="0"/>
                    </a:p>
                  </a:txBody>
                  <a:tcPr/>
                </a:tc>
              </a:tr>
            </a:tbl>
          </a:graphicData>
        </a:graphic>
      </p:graphicFrame>
    </p:spTree>
    <p:extLst>
      <p:ext uri="{BB962C8B-B14F-4D97-AF65-F5344CB8AC3E}">
        <p14:creationId xmlns="" xmlns:p14="http://schemas.microsoft.com/office/powerpoint/2010/main" val="34576555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2: Fundamentals</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9786948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Requirements For WMF 2.0</a:t>
            </a:r>
            <a:endParaRPr lang="en-US" dirty="0"/>
          </a:p>
        </p:txBody>
      </p:sp>
      <p:sp>
        <p:nvSpPr>
          <p:cNvPr id="3" name="Content Placeholder 2"/>
          <p:cNvSpPr>
            <a:spLocks noGrp="1"/>
          </p:cNvSpPr>
          <p:nvPr>
            <p:ph idx="1"/>
          </p:nvPr>
        </p:nvSpPr>
        <p:spPr/>
        <p:txBody>
          <a:bodyPr/>
          <a:lstStyle/>
          <a:p>
            <a:pPr fontAlgn="ctr"/>
            <a:r>
              <a:rPr lang="en-US" dirty="0" smtClean="0"/>
              <a:t>Windows Management Framework 2.0</a:t>
            </a:r>
          </a:p>
          <a:p>
            <a:pPr lvl="1" fontAlgn="ctr"/>
            <a:r>
              <a:rPr lang="en-US" dirty="0" smtClean="0"/>
              <a:t>Components</a:t>
            </a:r>
          </a:p>
          <a:p>
            <a:pPr lvl="2" fontAlgn="ctr"/>
            <a:r>
              <a:rPr lang="en-US" sz="2000" dirty="0" smtClean="0"/>
              <a:t>PowerShell 2.0</a:t>
            </a:r>
          </a:p>
          <a:p>
            <a:pPr lvl="3" fontAlgn="ctr"/>
            <a:r>
              <a:rPr lang="en-US" sz="1200" dirty="0"/>
              <a:t>Windows Server 2008 with Service Pack </a:t>
            </a:r>
            <a:r>
              <a:rPr lang="en-US" sz="1200" dirty="0" smtClean="0"/>
              <a:t>1 / Service Pack 2</a:t>
            </a:r>
            <a:endParaRPr lang="en-US" sz="1200" dirty="0"/>
          </a:p>
          <a:p>
            <a:pPr lvl="3" fontAlgn="ctr"/>
            <a:r>
              <a:rPr lang="en-US" sz="1200" dirty="0" smtClean="0"/>
              <a:t>Windows </a:t>
            </a:r>
            <a:r>
              <a:rPr lang="en-US" sz="1200" dirty="0"/>
              <a:t>Server 2003 with Service Pack 2</a:t>
            </a:r>
          </a:p>
          <a:p>
            <a:pPr lvl="3" fontAlgn="ctr"/>
            <a:r>
              <a:rPr lang="en-US" sz="1200" dirty="0"/>
              <a:t>Windows Vista with Service Pack </a:t>
            </a:r>
            <a:r>
              <a:rPr lang="en-US" sz="1200" dirty="0" smtClean="0"/>
              <a:t>1 / Service Pack 2</a:t>
            </a:r>
            <a:endParaRPr lang="en-US" sz="1200" dirty="0"/>
          </a:p>
          <a:p>
            <a:pPr lvl="3" fontAlgn="ctr"/>
            <a:r>
              <a:rPr lang="en-US" sz="1200" dirty="0" smtClean="0"/>
              <a:t>Windows </a:t>
            </a:r>
            <a:r>
              <a:rPr lang="en-US" sz="1200" dirty="0"/>
              <a:t>XP with Service Pack </a:t>
            </a:r>
            <a:r>
              <a:rPr lang="en-US" sz="1200" dirty="0" smtClean="0"/>
              <a:t>3</a:t>
            </a:r>
          </a:p>
          <a:p>
            <a:pPr lvl="3" fontAlgn="ctr"/>
            <a:r>
              <a:rPr lang="en-US" sz="1200" dirty="0" smtClean="0"/>
              <a:t>Windows Server 2008 R2</a:t>
            </a:r>
          </a:p>
          <a:p>
            <a:pPr lvl="3" fontAlgn="ctr"/>
            <a:r>
              <a:rPr lang="en-US" sz="1200" dirty="0" smtClean="0"/>
              <a:t>Windows 7</a:t>
            </a:r>
          </a:p>
          <a:p>
            <a:pPr lvl="2" fontAlgn="ctr"/>
            <a:r>
              <a:rPr lang="en-US" sz="2000" dirty="0" smtClean="0"/>
              <a:t>WinRM 2.0</a:t>
            </a:r>
          </a:p>
          <a:p>
            <a:pPr lvl="3" fontAlgn="ctr"/>
            <a:r>
              <a:rPr lang="en-US" sz="1200" dirty="0"/>
              <a:t>Windows Server 2008 with Service Pack 1 / Service Pack 2</a:t>
            </a:r>
          </a:p>
          <a:p>
            <a:pPr lvl="3" fontAlgn="ctr"/>
            <a:r>
              <a:rPr lang="en-US" sz="1200" dirty="0"/>
              <a:t>Windows Server 2003 with Service Pack 2</a:t>
            </a:r>
          </a:p>
          <a:p>
            <a:pPr lvl="3" fontAlgn="ctr"/>
            <a:r>
              <a:rPr lang="en-US" sz="1200" dirty="0"/>
              <a:t>Windows Vista with Service Pack 1 / Service Pack 2</a:t>
            </a:r>
          </a:p>
          <a:p>
            <a:pPr lvl="3" fontAlgn="ctr"/>
            <a:r>
              <a:rPr lang="en-US" sz="1200" dirty="0"/>
              <a:t>Windows XP with Service Pack 3</a:t>
            </a:r>
          </a:p>
          <a:p>
            <a:pPr lvl="3" fontAlgn="ctr"/>
            <a:r>
              <a:rPr lang="en-US" sz="1200" dirty="0"/>
              <a:t>Windows Server 2008 R2</a:t>
            </a:r>
          </a:p>
          <a:p>
            <a:pPr lvl="3" fontAlgn="ctr"/>
            <a:r>
              <a:rPr lang="en-US" sz="1200" dirty="0"/>
              <a:t>Windows 7</a:t>
            </a:r>
            <a:endParaRPr lang="en-US" sz="1200" dirty="0" smtClean="0"/>
          </a:p>
          <a:p>
            <a:pPr lvl="2" fontAlgn="ctr"/>
            <a:r>
              <a:rPr lang="en-US" sz="2000" dirty="0" smtClean="0"/>
              <a:t>BITS 4.0</a:t>
            </a:r>
          </a:p>
          <a:p>
            <a:pPr lvl="3" fontAlgn="ctr"/>
            <a:r>
              <a:rPr lang="en-US" sz="1200" dirty="0"/>
              <a:t>Windows Server 2008 with Service Pack 1</a:t>
            </a:r>
          </a:p>
          <a:p>
            <a:pPr lvl="3" fontAlgn="ctr"/>
            <a:r>
              <a:rPr lang="en-US" sz="1200" dirty="0"/>
              <a:t>Windows Server 2008 with Service Pack 2</a:t>
            </a:r>
          </a:p>
          <a:p>
            <a:pPr lvl="3" fontAlgn="ctr"/>
            <a:r>
              <a:rPr lang="en-US" sz="1200" dirty="0"/>
              <a:t>Windows Vista with Service Pack 2</a:t>
            </a:r>
          </a:p>
          <a:p>
            <a:pPr lvl="3" fontAlgn="ctr"/>
            <a:r>
              <a:rPr lang="en-US" sz="1200" dirty="0"/>
              <a:t>Windows Vista with Service Pack 1</a:t>
            </a:r>
            <a:endParaRPr lang="en-US" sz="12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Requirements</a:t>
            </a:r>
            <a:endParaRPr lang="en-US" dirty="0"/>
          </a:p>
        </p:txBody>
      </p:sp>
      <p:sp>
        <p:nvSpPr>
          <p:cNvPr id="3" name="Content Placeholder 2"/>
          <p:cNvSpPr>
            <a:spLocks noGrp="1"/>
          </p:cNvSpPr>
          <p:nvPr>
            <p:ph idx="1"/>
          </p:nvPr>
        </p:nvSpPr>
        <p:spPr/>
        <p:txBody>
          <a:bodyPr/>
          <a:lstStyle/>
          <a:p>
            <a:r>
              <a:rPr lang="en-US" dirty="0" smtClean="0"/>
              <a:t>Windows PowerShell 2.0 Compilation</a:t>
            </a:r>
          </a:p>
          <a:p>
            <a:pPr lvl="1"/>
            <a:r>
              <a:rPr lang="en-US" dirty="0" smtClean="0"/>
              <a:t>Requires version 2.0 Common Language Runtime (CLR)</a:t>
            </a:r>
          </a:p>
          <a:p>
            <a:pPr lvl="1"/>
            <a:r>
              <a:rPr lang="en-US" dirty="0" smtClean="0"/>
              <a:t>Cmdlets require CLR 2.0</a:t>
            </a:r>
          </a:p>
          <a:p>
            <a:pPr lvl="2"/>
            <a:r>
              <a:rPr lang="en-US" sz="2000" dirty="0" smtClean="0"/>
              <a:t>Microsoft .NET Framework 2.0, 3.0, 3.5 SP1</a:t>
            </a:r>
          </a:p>
          <a:p>
            <a:pPr lvl="1"/>
            <a:endParaRPr lang="en-US" dirty="0"/>
          </a:p>
        </p:txBody>
      </p:sp>
    </p:spTree>
    <p:extLst>
      <p:ext uri="{BB962C8B-B14F-4D97-AF65-F5344CB8AC3E}">
        <p14:creationId xmlns="" xmlns:p14="http://schemas.microsoft.com/office/powerpoint/2010/main" val="8842587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PowerShell Applications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565537845"/>
              </p:ext>
            </p:extLst>
          </p:nvPr>
        </p:nvGraphicFramePr>
        <p:xfrm>
          <a:off x="917575" y="838200"/>
          <a:ext cx="7369175"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smtClean="0"/>
              <a:t>mdlets</a:t>
            </a:r>
            <a:endParaRPr lang="en-US" dirty="0"/>
          </a:p>
        </p:txBody>
      </p:sp>
      <p:sp>
        <p:nvSpPr>
          <p:cNvPr id="3" name="Content Placeholder 2"/>
          <p:cNvSpPr>
            <a:spLocks noGrp="1"/>
          </p:cNvSpPr>
          <p:nvPr>
            <p:ph idx="1"/>
          </p:nvPr>
        </p:nvSpPr>
        <p:spPr>
          <a:xfrm>
            <a:off x="917575" y="838200"/>
            <a:ext cx="7369175" cy="1371600"/>
          </a:xfrm>
        </p:spPr>
        <p:txBody>
          <a:bodyPr/>
          <a:lstStyle/>
          <a:p>
            <a:pPr marL="228600" lvl="1" indent="-228600">
              <a:spcBef>
                <a:spcPct val="50000"/>
              </a:spcBef>
              <a:buFontTx/>
              <a:buChar char="•"/>
            </a:pPr>
            <a:r>
              <a:rPr lang="en-US" dirty="0" smtClean="0"/>
              <a:t>Cmdlets</a:t>
            </a:r>
          </a:p>
          <a:p>
            <a:pPr marL="514350" lvl="2" indent="-228600">
              <a:spcBef>
                <a:spcPct val="50000"/>
              </a:spcBef>
            </a:pPr>
            <a:r>
              <a:rPr lang="en-US" sz="1800" dirty="0" smtClean="0"/>
              <a:t>Definition: Lightweight command that performs an action and typically returns an object.</a:t>
            </a:r>
          </a:p>
          <a:p>
            <a:pPr marL="514350" lvl="2" indent="-228600">
              <a:spcBef>
                <a:spcPct val="50000"/>
              </a:spcBef>
            </a:pPr>
            <a:r>
              <a:rPr lang="en-US" sz="1800" dirty="0" smtClean="0"/>
              <a:t>Verb-Noun</a:t>
            </a:r>
          </a:p>
          <a:p>
            <a:pPr marL="857250" lvl="3">
              <a:spcBef>
                <a:spcPct val="50000"/>
              </a:spcBef>
            </a:pPr>
            <a:r>
              <a:rPr lang="en-US" sz="1400" dirty="0" smtClean="0"/>
              <a:t>The verb part of the name identifies the action and the noun part identifies the entity on which the action is performed.</a:t>
            </a:r>
          </a:p>
          <a:p>
            <a:pPr marL="857250" lvl="3">
              <a:spcBef>
                <a:spcPct val="50000"/>
              </a:spcBef>
            </a:pPr>
            <a:r>
              <a:rPr lang="en-US" sz="1400" dirty="0" smtClean="0"/>
              <a:t>Example: </a:t>
            </a:r>
          </a:p>
          <a:p>
            <a:pPr marL="1085850" lvl="4">
              <a:spcBef>
                <a:spcPct val="50000"/>
              </a:spcBef>
            </a:pPr>
            <a:r>
              <a:rPr lang="en-US" sz="1200" dirty="0" smtClean="0"/>
              <a:t>Get-Process</a:t>
            </a:r>
            <a:endParaRPr lang="en-US" dirty="0"/>
          </a:p>
          <a:p>
            <a:pPr marL="342900" lvl="2" indent="0">
              <a:spcBef>
                <a:spcPct val="50000"/>
              </a:spcBef>
              <a:buNone/>
            </a:pPr>
            <a:endParaRPr lang="en-US" dirty="0"/>
          </a:p>
          <a:p>
            <a:pPr marL="342900" lvl="2" indent="0">
              <a:spcBef>
                <a:spcPct val="50000"/>
              </a:spcBef>
              <a:buNone/>
            </a:pPr>
            <a:endParaRPr lang="en-US" dirty="0"/>
          </a:p>
        </p:txBody>
      </p:sp>
      <p:graphicFrame>
        <p:nvGraphicFramePr>
          <p:cNvPr id="5" name="Table 4"/>
          <p:cNvGraphicFramePr>
            <a:graphicFrameLocks noGrp="1"/>
          </p:cNvGraphicFramePr>
          <p:nvPr>
            <p:extLst>
              <p:ext uri="{D42A27DB-BD31-4B8C-83A1-F6EECF244321}">
                <p14:modId xmlns="" xmlns:p14="http://schemas.microsoft.com/office/powerpoint/2010/main" val="3977788563"/>
              </p:ext>
            </p:extLst>
          </p:nvPr>
        </p:nvGraphicFramePr>
        <p:xfrm>
          <a:off x="1143000" y="3657600"/>
          <a:ext cx="7239000" cy="2382520"/>
        </p:xfrm>
        <a:graphic>
          <a:graphicData uri="http://schemas.openxmlformats.org/drawingml/2006/table">
            <a:tbl>
              <a:tblPr firstRow="1" bandRow="1">
                <a:tableStyleId>{9D7B26C5-4107-4FEC-AEDC-1716B250A1EF}</a:tableStyleId>
              </a:tblPr>
              <a:tblGrid>
                <a:gridCol w="2133600"/>
                <a:gridCol w="5105400"/>
              </a:tblGrid>
              <a:tr h="370840">
                <a:tc>
                  <a:txBody>
                    <a:bodyPr/>
                    <a:lstStyle/>
                    <a:p>
                      <a:r>
                        <a:rPr lang="en-US" sz="1200" dirty="0" smtClean="0"/>
                        <a:t>Common Verbs</a:t>
                      </a:r>
                      <a:endParaRPr lang="en-US" sz="1200" dirty="0"/>
                    </a:p>
                  </a:txBody>
                  <a:tcPr/>
                </a:tc>
                <a:tc>
                  <a:txBody>
                    <a:bodyPr/>
                    <a:lstStyle/>
                    <a:p>
                      <a:r>
                        <a:rPr lang="en-US" sz="1200" dirty="0" smtClean="0"/>
                        <a:t>Description</a:t>
                      </a:r>
                      <a:endParaRPr lang="en-US" sz="1200" dirty="0"/>
                    </a:p>
                  </a:txBody>
                  <a:tcPr/>
                </a:tc>
              </a:tr>
              <a:tr h="370840">
                <a:tc>
                  <a:txBody>
                    <a:bodyPr/>
                    <a:lstStyle/>
                    <a:p>
                      <a:r>
                        <a:rPr lang="en-US" sz="1200" b="1" dirty="0" smtClean="0"/>
                        <a:t>New</a:t>
                      </a:r>
                      <a:r>
                        <a:rPr lang="en-US" sz="1200" dirty="0" smtClean="0"/>
                        <a:t> vs. </a:t>
                      </a:r>
                      <a:r>
                        <a:rPr lang="en-US" sz="1200" b="1" dirty="0" smtClean="0"/>
                        <a:t>Set</a:t>
                      </a:r>
                      <a:endParaRPr lang="en-US" sz="1200" b="1" dirty="0"/>
                    </a:p>
                  </a:txBody>
                  <a:tcPr/>
                </a:tc>
                <a:tc>
                  <a:txBody>
                    <a:bodyPr/>
                    <a:lstStyle/>
                    <a:p>
                      <a:r>
                        <a:rPr lang="en-US" sz="1200" dirty="0" smtClean="0"/>
                        <a:t>The </a:t>
                      </a:r>
                      <a:r>
                        <a:rPr lang="en-US" sz="1200" b="1" dirty="0" smtClean="0"/>
                        <a:t>New</a:t>
                      </a:r>
                      <a:r>
                        <a:rPr lang="en-US" sz="1200" dirty="0" smtClean="0"/>
                        <a:t> verb</a:t>
                      </a:r>
                      <a:r>
                        <a:rPr lang="en-US" sz="1200" baseline="0" dirty="0" smtClean="0"/>
                        <a:t> is used to create a new resource. The </a:t>
                      </a:r>
                      <a:r>
                        <a:rPr lang="en-US" sz="1200" b="1" baseline="0" dirty="0" smtClean="0"/>
                        <a:t>Set</a:t>
                      </a:r>
                      <a:r>
                        <a:rPr lang="en-US" sz="1200" baseline="0" dirty="0" smtClean="0"/>
                        <a:t> verb is used to modify an existing resource. (e.g. New-Variable / Set-Variable)</a:t>
                      </a:r>
                      <a:endParaRPr lang="en-US" sz="1200" b="1" dirty="0"/>
                    </a:p>
                  </a:txBody>
                  <a:tcPr/>
                </a:tc>
              </a:tr>
              <a:tr h="370840">
                <a:tc>
                  <a:txBody>
                    <a:bodyPr/>
                    <a:lstStyle/>
                    <a:p>
                      <a:r>
                        <a:rPr lang="en-US" sz="1200" b="1" dirty="0" smtClean="0"/>
                        <a:t>Find</a:t>
                      </a:r>
                      <a:r>
                        <a:rPr lang="en-US" sz="1200" baseline="0" dirty="0" smtClean="0"/>
                        <a:t> vs. </a:t>
                      </a:r>
                      <a:r>
                        <a:rPr lang="en-US" sz="1200" b="1" baseline="0" dirty="0" smtClean="0"/>
                        <a:t>Search</a:t>
                      </a:r>
                      <a:endParaRPr lang="en-US" sz="1200" b="1" dirty="0"/>
                    </a:p>
                  </a:txBody>
                  <a:tcPr/>
                </a:tc>
                <a:tc>
                  <a:txBody>
                    <a:bodyPr/>
                    <a:lstStyle/>
                    <a:p>
                      <a:r>
                        <a:rPr lang="en-US" sz="1200" dirty="0" smtClean="0"/>
                        <a:t>The </a:t>
                      </a:r>
                      <a:r>
                        <a:rPr lang="en-US" sz="1200" b="1" dirty="0" smtClean="0"/>
                        <a:t>Find</a:t>
                      </a:r>
                      <a:r>
                        <a:rPr lang="en-US" sz="1200" baseline="0" dirty="0" smtClean="0"/>
                        <a:t> verb is used to look for an object. The </a:t>
                      </a:r>
                      <a:r>
                        <a:rPr lang="en-US" sz="1200" b="1" baseline="0" dirty="0" smtClean="0"/>
                        <a:t>Search</a:t>
                      </a:r>
                      <a:r>
                        <a:rPr lang="en-US" sz="1200" baseline="0" dirty="0" smtClean="0"/>
                        <a:t> verb is used to create a reference to a resource in a container.</a:t>
                      </a:r>
                      <a:endParaRPr lang="en-US" sz="1200" dirty="0"/>
                    </a:p>
                  </a:txBody>
                  <a:tcPr/>
                </a:tc>
              </a:tr>
              <a:tr h="370840">
                <a:tc>
                  <a:txBody>
                    <a:bodyPr/>
                    <a:lstStyle/>
                    <a:p>
                      <a:r>
                        <a:rPr lang="en-US" sz="1200" b="1" dirty="0" smtClean="0"/>
                        <a:t>Get</a:t>
                      </a:r>
                      <a:r>
                        <a:rPr lang="en-US" sz="1200" dirty="0" smtClean="0"/>
                        <a:t> vs. </a:t>
                      </a:r>
                      <a:r>
                        <a:rPr lang="en-US" sz="1200" b="1" dirty="0" smtClean="0"/>
                        <a:t>Read</a:t>
                      </a:r>
                      <a:endParaRPr lang="en-US" sz="1200" b="1" dirty="0"/>
                    </a:p>
                  </a:txBody>
                  <a:tcPr/>
                </a:tc>
                <a:tc>
                  <a:txBody>
                    <a:bodyPr/>
                    <a:lstStyle/>
                    <a:p>
                      <a:r>
                        <a:rPr lang="en-US" sz="1200" dirty="0" smtClean="0"/>
                        <a:t>The </a:t>
                      </a:r>
                      <a:r>
                        <a:rPr lang="en-US" sz="1200" b="1" dirty="0" smtClean="0"/>
                        <a:t>Get</a:t>
                      </a:r>
                      <a:r>
                        <a:rPr lang="en-US" sz="1200" dirty="0" smtClean="0"/>
                        <a:t> verb is used to retrieve</a:t>
                      </a:r>
                      <a:r>
                        <a:rPr lang="en-US" sz="1200" baseline="0" dirty="0" smtClean="0"/>
                        <a:t> a resource, such as a file. The </a:t>
                      </a:r>
                      <a:r>
                        <a:rPr lang="en-US" sz="1200" b="1" baseline="0" dirty="0" smtClean="0"/>
                        <a:t>Read</a:t>
                      </a:r>
                      <a:r>
                        <a:rPr lang="en-US" sz="1200" baseline="0" dirty="0" smtClean="0"/>
                        <a:t> verb is used to get information from a source, such as a file. </a:t>
                      </a:r>
                      <a:endParaRPr lang="en-US" sz="1200" dirty="0"/>
                    </a:p>
                  </a:txBody>
                  <a:tcPr/>
                </a:tc>
              </a:tr>
              <a:tr h="370840">
                <a:tc>
                  <a:txBody>
                    <a:bodyPr/>
                    <a:lstStyle/>
                    <a:p>
                      <a:r>
                        <a:rPr lang="en-US" sz="1200" b="1" dirty="0" smtClean="0"/>
                        <a:t>Invoke</a:t>
                      </a:r>
                      <a:r>
                        <a:rPr lang="en-US" sz="1200" dirty="0" smtClean="0"/>
                        <a:t> vs. </a:t>
                      </a:r>
                      <a:r>
                        <a:rPr lang="en-US" sz="1200" b="1" dirty="0" smtClean="0"/>
                        <a:t>Start</a:t>
                      </a:r>
                      <a:endParaRPr lang="en-US" sz="1200" b="1" dirty="0"/>
                    </a:p>
                  </a:txBody>
                  <a:tcPr/>
                </a:tc>
                <a:tc>
                  <a:txBody>
                    <a:bodyPr/>
                    <a:lstStyle/>
                    <a:p>
                      <a:r>
                        <a:rPr lang="en-US" sz="1200" dirty="0" smtClean="0"/>
                        <a:t>The </a:t>
                      </a:r>
                      <a:r>
                        <a:rPr lang="en-US" sz="1200" b="1" dirty="0" smtClean="0"/>
                        <a:t>Invoke</a:t>
                      </a:r>
                      <a:r>
                        <a:rPr lang="en-US" sz="1200" dirty="0" smtClean="0"/>
                        <a:t> verb</a:t>
                      </a:r>
                      <a:r>
                        <a:rPr lang="en-US" sz="1200" baseline="0" dirty="0" smtClean="0"/>
                        <a:t> is used to perform an operation that is generally a synchronous operation, such as running a command. The </a:t>
                      </a:r>
                      <a:r>
                        <a:rPr lang="en-US" sz="1200" b="1" baseline="0" dirty="0" smtClean="0"/>
                        <a:t>Start</a:t>
                      </a:r>
                      <a:r>
                        <a:rPr lang="en-US" sz="1200" baseline="0" dirty="0" smtClean="0"/>
                        <a:t> verb is used to begin an operation that is generally asynchronous. </a:t>
                      </a:r>
                      <a:endParaRPr lang="en-US" sz="1200" dirty="0"/>
                    </a:p>
                  </a:txBody>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a:t>
            </a:r>
            <a:r>
              <a:rPr lang="en-US" dirty="0" err="1" smtClean="0"/>
              <a:t>cmdlets</a:t>
            </a:r>
            <a:endParaRPr lang="en-US" dirty="0"/>
          </a:p>
        </p:txBody>
      </p:sp>
      <p:sp>
        <p:nvSpPr>
          <p:cNvPr id="3" name="Content Placeholder 2"/>
          <p:cNvSpPr>
            <a:spLocks noGrp="1"/>
          </p:cNvSpPr>
          <p:nvPr>
            <p:ph idx="1"/>
          </p:nvPr>
        </p:nvSpPr>
        <p:spPr/>
        <p:txBody>
          <a:bodyPr/>
          <a:lstStyle/>
          <a:p>
            <a:r>
              <a:rPr lang="en-US" sz="2000" dirty="0" smtClean="0"/>
              <a:t>Get-Help</a:t>
            </a:r>
          </a:p>
          <a:p>
            <a:pPr lvl="1"/>
            <a:r>
              <a:rPr lang="en-US" sz="1800" dirty="0" smtClean="0"/>
              <a:t>Description: Provides help information for cmdlets and concepts</a:t>
            </a:r>
          </a:p>
          <a:p>
            <a:pPr lvl="1"/>
            <a:r>
              <a:rPr lang="en-US" sz="1800" dirty="0" smtClean="0"/>
              <a:t>Syntax: Get-Help –Name &lt;cmdlet-name&gt;</a:t>
            </a:r>
          </a:p>
        </p:txBody>
      </p:sp>
      <p:graphicFrame>
        <p:nvGraphicFramePr>
          <p:cNvPr id="4" name="Table 3"/>
          <p:cNvGraphicFramePr>
            <a:graphicFrameLocks noGrp="1"/>
          </p:cNvGraphicFramePr>
          <p:nvPr>
            <p:extLst>
              <p:ext uri="{D42A27DB-BD31-4B8C-83A1-F6EECF244321}">
                <p14:modId xmlns="" xmlns:p14="http://schemas.microsoft.com/office/powerpoint/2010/main" val="3987176995"/>
              </p:ext>
            </p:extLst>
          </p:nvPr>
        </p:nvGraphicFramePr>
        <p:xfrm>
          <a:off x="1752600" y="2057400"/>
          <a:ext cx="6248400" cy="2296160"/>
        </p:xfrm>
        <a:graphic>
          <a:graphicData uri="http://schemas.openxmlformats.org/drawingml/2006/table">
            <a:tbl>
              <a:tblPr firstRow="1" bandRow="1">
                <a:tableStyleId>{9D7B26C5-4107-4FEC-AEDC-1716B250A1EF}</a:tableStyleId>
              </a:tblPr>
              <a:tblGrid>
                <a:gridCol w="1874520"/>
                <a:gridCol w="4373880"/>
              </a:tblGrid>
              <a:tr h="370840">
                <a:tc>
                  <a:txBody>
                    <a:bodyPr/>
                    <a:lstStyle/>
                    <a:p>
                      <a:r>
                        <a:rPr lang="en-US" sz="1200" baseline="0" dirty="0" smtClean="0"/>
                        <a:t>Parameters</a:t>
                      </a:r>
                      <a:endParaRPr lang="en-US" sz="1200" dirty="0"/>
                    </a:p>
                  </a:txBody>
                  <a:tcPr/>
                </a:tc>
                <a:tc>
                  <a:txBody>
                    <a:bodyPr/>
                    <a:lstStyle/>
                    <a:p>
                      <a:r>
                        <a:rPr lang="en-US" sz="1200" dirty="0" smtClean="0"/>
                        <a:t>Description</a:t>
                      </a:r>
                      <a:endParaRPr lang="en-US" sz="1200" dirty="0"/>
                    </a:p>
                  </a:txBody>
                  <a:tcPr/>
                </a:tc>
              </a:tr>
              <a:tr h="370840">
                <a:tc>
                  <a:txBody>
                    <a:bodyPr/>
                    <a:lstStyle/>
                    <a:p>
                      <a:pPr marL="0" indent="0">
                        <a:buFontTx/>
                        <a:buNone/>
                      </a:pPr>
                      <a:r>
                        <a:rPr lang="en-US" sz="1200" dirty="0" smtClean="0"/>
                        <a:t>- Name</a:t>
                      </a:r>
                      <a:endParaRPr lang="en-US" sz="1200" dirty="0"/>
                    </a:p>
                  </a:txBody>
                  <a:tcPr/>
                </a:tc>
                <a:tc>
                  <a:txBody>
                    <a:bodyPr/>
                    <a:lstStyle/>
                    <a:p>
                      <a:r>
                        <a:rPr lang="en-US" sz="1200" dirty="0" smtClean="0"/>
                        <a:t>Defines the cmdlet, topic, alias, script or function that you’d like help with.</a:t>
                      </a:r>
                      <a:endParaRPr lang="en-US" sz="1200" dirty="0"/>
                    </a:p>
                  </a:txBody>
                  <a:tcPr/>
                </a:tc>
              </a:tr>
              <a:tr h="370840">
                <a:tc>
                  <a:txBody>
                    <a:bodyPr/>
                    <a:lstStyle/>
                    <a:p>
                      <a:pPr marL="0" indent="0">
                        <a:buFontTx/>
                        <a:buNone/>
                      </a:pPr>
                      <a:r>
                        <a:rPr lang="en-US" sz="1200" dirty="0" smtClean="0"/>
                        <a:t>- Detailed</a:t>
                      </a:r>
                      <a:endParaRPr lang="en-US" sz="1200" dirty="0"/>
                    </a:p>
                  </a:txBody>
                  <a:tcPr/>
                </a:tc>
                <a:tc>
                  <a:txBody>
                    <a:bodyPr/>
                    <a:lstStyle/>
                    <a:p>
                      <a:r>
                        <a:rPr lang="en-US" sz="1200" dirty="0" smtClean="0"/>
                        <a:t>Display additional information about a cmdlet, including descriptions</a:t>
                      </a:r>
                      <a:r>
                        <a:rPr lang="en-US" sz="1200" baseline="0" dirty="0" smtClean="0"/>
                        <a:t> of the parameters and examples of using the cmdlet. </a:t>
                      </a:r>
                      <a:endParaRPr lang="en-US" sz="1200" dirty="0"/>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 Examples</a:t>
                      </a:r>
                    </a:p>
                  </a:txBody>
                  <a:tcPr/>
                </a:tc>
                <a:tc>
                  <a:txBody>
                    <a:bodyPr/>
                    <a:lstStyle/>
                    <a:p>
                      <a:r>
                        <a:rPr lang="en-US" sz="1200" dirty="0" smtClean="0"/>
                        <a:t>Display examples of using the cmdlet.</a:t>
                      </a:r>
                      <a:endParaRPr lang="en-US" sz="1200" dirty="0"/>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 Full</a:t>
                      </a:r>
                    </a:p>
                  </a:txBody>
                  <a:tcPr/>
                </a:tc>
                <a:tc>
                  <a:txBody>
                    <a:bodyPr/>
                    <a:lstStyle/>
                    <a:p>
                      <a:r>
                        <a:rPr lang="en-US" sz="1200" dirty="0" smtClean="0"/>
                        <a:t>Display the entire help file for a cmdlet, including technical information about the parameters.</a:t>
                      </a:r>
                      <a:endParaRPr lang="en-US" sz="1200" dirty="0"/>
                    </a:p>
                  </a:txBody>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a:t>
            </a:r>
            <a:r>
              <a:rPr lang="en-US" dirty="0" err="1" smtClean="0"/>
              <a:t>cmdlets</a:t>
            </a:r>
            <a:endParaRPr lang="en-US" dirty="0"/>
          </a:p>
        </p:txBody>
      </p:sp>
      <p:sp>
        <p:nvSpPr>
          <p:cNvPr id="3" name="Content Placeholder 2"/>
          <p:cNvSpPr>
            <a:spLocks noGrp="1"/>
          </p:cNvSpPr>
          <p:nvPr>
            <p:ph idx="1"/>
          </p:nvPr>
        </p:nvSpPr>
        <p:spPr>
          <a:xfrm>
            <a:off x="917575" y="838200"/>
            <a:ext cx="7369175" cy="1143000"/>
          </a:xfrm>
        </p:spPr>
        <p:txBody>
          <a:bodyPr/>
          <a:lstStyle/>
          <a:p>
            <a:r>
              <a:rPr lang="en-US" sz="2000" dirty="0" smtClean="0"/>
              <a:t>Get-Member</a:t>
            </a:r>
          </a:p>
          <a:p>
            <a:pPr lvl="1"/>
            <a:r>
              <a:rPr lang="en-US" sz="1800" dirty="0" smtClean="0"/>
              <a:t>Description: Returns all the properties and methods for an object</a:t>
            </a:r>
          </a:p>
          <a:p>
            <a:pPr lvl="1"/>
            <a:r>
              <a:rPr lang="en-US" sz="1800" dirty="0" smtClean="0"/>
              <a:t>Syntax: &lt;</a:t>
            </a:r>
            <a:r>
              <a:rPr lang="en-US" sz="1800" dirty="0" err="1" smtClean="0"/>
              <a:t>cmdlet</a:t>
            </a:r>
            <a:r>
              <a:rPr lang="en-US" sz="1800" dirty="0" smtClean="0"/>
              <a:t>-name&gt; | get-member</a:t>
            </a:r>
          </a:p>
          <a:p>
            <a:pPr lvl="1"/>
            <a:endParaRPr lang="en-US" dirty="0"/>
          </a:p>
        </p:txBody>
      </p:sp>
      <p:pic>
        <p:nvPicPr>
          <p:cNvPr id="2051"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71600" y="2057400"/>
            <a:ext cx="6932613" cy="4010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Objects</a:t>
            </a:r>
            <a:endParaRPr lang="en-US" dirty="0"/>
          </a:p>
        </p:txBody>
      </p:sp>
      <p:sp>
        <p:nvSpPr>
          <p:cNvPr id="3" name="Content Placeholder 2"/>
          <p:cNvSpPr>
            <a:spLocks noGrp="1"/>
          </p:cNvSpPr>
          <p:nvPr>
            <p:ph idx="1"/>
          </p:nvPr>
        </p:nvSpPr>
        <p:spPr/>
        <p:txBody>
          <a:bodyPr/>
          <a:lstStyle/>
          <a:p>
            <a:r>
              <a:rPr lang="en-US" sz="2000" dirty="0" smtClean="0"/>
              <a:t>Objects </a:t>
            </a:r>
          </a:p>
          <a:p>
            <a:pPr lvl="1"/>
            <a:r>
              <a:rPr lang="en-US" sz="1600" dirty="0" smtClean="0"/>
              <a:t>Definition: Something we can gather information from and/or perform an action upon. An object, in PowerShell, consists of properties (information we can gather) and methods (actions we can perform).</a:t>
            </a:r>
          </a:p>
          <a:p>
            <a:pPr marL="0" indent="0">
              <a:buNone/>
            </a:pPr>
            <a:endParaRPr lang="en-US" dirty="0"/>
          </a:p>
        </p:txBody>
      </p:sp>
      <p:graphicFrame>
        <p:nvGraphicFramePr>
          <p:cNvPr id="5" name="Table 4"/>
          <p:cNvGraphicFramePr>
            <a:graphicFrameLocks noGrp="1"/>
          </p:cNvGraphicFramePr>
          <p:nvPr>
            <p:extLst>
              <p:ext uri="{D42A27DB-BD31-4B8C-83A1-F6EECF244321}">
                <p14:modId xmlns="" xmlns:p14="http://schemas.microsoft.com/office/powerpoint/2010/main" val="3016640581"/>
              </p:ext>
            </p:extLst>
          </p:nvPr>
        </p:nvGraphicFramePr>
        <p:xfrm>
          <a:off x="1066800" y="3098800"/>
          <a:ext cx="3124200" cy="1854200"/>
        </p:xfrm>
        <a:graphic>
          <a:graphicData uri="http://schemas.openxmlformats.org/drawingml/2006/table">
            <a:tbl>
              <a:tblPr firstRow="1" bandRow="1">
                <a:tableStyleId>{5C22544A-7EE6-4342-B048-85BDC9FD1C3A}</a:tableStyleId>
              </a:tblPr>
              <a:tblGrid>
                <a:gridCol w="1562100"/>
                <a:gridCol w="1562100"/>
              </a:tblGrid>
              <a:tr h="370840">
                <a:tc gridSpan="2">
                  <a:txBody>
                    <a:bodyPr/>
                    <a:lstStyle/>
                    <a:p>
                      <a:pPr algn="ctr"/>
                      <a:r>
                        <a:rPr lang="en-US" sz="1200" dirty="0" smtClean="0"/>
                        <a:t>Car Analogy</a:t>
                      </a:r>
                      <a:endParaRPr lang="en-US" sz="1200" dirty="0"/>
                    </a:p>
                  </a:txBody>
                  <a:tcPr anchor="ctr"/>
                </a:tc>
                <a:tc hMerge="1">
                  <a:txBody>
                    <a:bodyPr/>
                    <a:lstStyle/>
                    <a:p>
                      <a:endParaRPr lang="en-US" dirty="0"/>
                    </a:p>
                  </a:txBody>
                  <a:tcPr/>
                </a:tc>
              </a:tr>
              <a:tr h="370840">
                <a:tc>
                  <a:txBody>
                    <a:bodyPr/>
                    <a:lstStyle/>
                    <a:p>
                      <a:r>
                        <a:rPr lang="en-US" sz="1200" b="1" u="sng" dirty="0" smtClean="0"/>
                        <a:t>Properties</a:t>
                      </a:r>
                      <a:endParaRPr lang="en-US" sz="1200" b="1" u="sng" dirty="0"/>
                    </a:p>
                  </a:txBody>
                  <a:tcPr anchor="ctr"/>
                </a:tc>
                <a:tc>
                  <a:txBody>
                    <a:bodyPr/>
                    <a:lstStyle/>
                    <a:p>
                      <a:pPr algn="r"/>
                      <a:r>
                        <a:rPr lang="en-US" sz="1200" b="1" u="sng" dirty="0" smtClean="0"/>
                        <a:t>Methods</a:t>
                      </a:r>
                      <a:endParaRPr lang="en-US" sz="1200" b="1" u="sng" dirty="0"/>
                    </a:p>
                  </a:txBody>
                  <a:tcPr anchor="ctr"/>
                </a:tc>
              </a:tr>
              <a:tr h="370840">
                <a:tc>
                  <a:txBody>
                    <a:bodyPr/>
                    <a:lstStyle/>
                    <a:p>
                      <a:r>
                        <a:rPr lang="en-US" sz="1200" dirty="0" smtClean="0"/>
                        <a:t>Color</a:t>
                      </a:r>
                      <a:endParaRPr lang="en-US" sz="1200" dirty="0"/>
                    </a:p>
                  </a:txBody>
                  <a:tcPr anchor="ctr"/>
                </a:tc>
                <a:tc>
                  <a:txBody>
                    <a:bodyPr/>
                    <a:lstStyle/>
                    <a:p>
                      <a:pPr algn="r"/>
                      <a:r>
                        <a:rPr lang="en-US" sz="1200" dirty="0" smtClean="0"/>
                        <a:t>Accelerate()</a:t>
                      </a:r>
                      <a:endParaRPr lang="en-US" sz="1200" dirty="0"/>
                    </a:p>
                  </a:txBody>
                  <a:tcPr anchor="ctr"/>
                </a:tc>
              </a:tr>
              <a:tr h="370840">
                <a:tc>
                  <a:txBody>
                    <a:bodyPr/>
                    <a:lstStyle/>
                    <a:p>
                      <a:r>
                        <a:rPr lang="en-US" sz="1200" dirty="0" smtClean="0"/>
                        <a:t>Year</a:t>
                      </a:r>
                      <a:endParaRPr lang="en-US" sz="1200" dirty="0"/>
                    </a:p>
                  </a:txBody>
                  <a:tcPr anchor="ctr"/>
                </a:tc>
                <a:tc>
                  <a:txBody>
                    <a:bodyPr/>
                    <a:lstStyle/>
                    <a:p>
                      <a:pPr algn="r"/>
                      <a:r>
                        <a:rPr lang="en-US" sz="1200" dirty="0" smtClean="0"/>
                        <a:t>Brake()</a:t>
                      </a:r>
                      <a:endParaRPr lang="en-US" sz="1200" dirty="0"/>
                    </a:p>
                  </a:txBody>
                  <a:tcPr anchor="ctr"/>
                </a:tc>
              </a:tr>
              <a:tr h="370840">
                <a:tc>
                  <a:txBody>
                    <a:bodyPr/>
                    <a:lstStyle/>
                    <a:p>
                      <a:r>
                        <a:rPr lang="en-US" sz="1200" dirty="0" smtClean="0"/>
                        <a:t>Make</a:t>
                      </a:r>
                      <a:endParaRPr lang="en-US" sz="1200" dirty="0"/>
                    </a:p>
                  </a:txBody>
                  <a:tcPr anchor="ctr"/>
                </a:tc>
                <a:tc>
                  <a:txBody>
                    <a:bodyPr/>
                    <a:lstStyle/>
                    <a:p>
                      <a:pPr algn="r"/>
                      <a:r>
                        <a:rPr lang="en-US" sz="1200" dirty="0" smtClean="0"/>
                        <a:t>Coast()</a:t>
                      </a:r>
                      <a:endParaRPr lang="en-US" sz="1200" dirty="0"/>
                    </a:p>
                  </a:txBody>
                  <a:tcPr anchor="ctr"/>
                </a:tc>
              </a:tr>
            </a:tbl>
          </a:graphicData>
        </a:graphic>
      </p:graphicFrame>
      <p:graphicFrame>
        <p:nvGraphicFramePr>
          <p:cNvPr id="6" name="Table 5"/>
          <p:cNvGraphicFramePr>
            <a:graphicFrameLocks noGrp="1"/>
          </p:cNvGraphicFramePr>
          <p:nvPr>
            <p:extLst>
              <p:ext uri="{D42A27DB-BD31-4B8C-83A1-F6EECF244321}">
                <p14:modId xmlns="" xmlns:p14="http://schemas.microsoft.com/office/powerpoint/2010/main" val="4140839217"/>
              </p:ext>
            </p:extLst>
          </p:nvPr>
        </p:nvGraphicFramePr>
        <p:xfrm>
          <a:off x="5029200" y="3098800"/>
          <a:ext cx="3124200" cy="1854200"/>
        </p:xfrm>
        <a:graphic>
          <a:graphicData uri="http://schemas.openxmlformats.org/drawingml/2006/table">
            <a:tbl>
              <a:tblPr firstRow="1" bandRow="1">
                <a:tableStyleId>{5C22544A-7EE6-4342-B048-85BDC9FD1C3A}</a:tableStyleId>
              </a:tblPr>
              <a:tblGrid>
                <a:gridCol w="1562100"/>
                <a:gridCol w="1562100"/>
              </a:tblGrid>
              <a:tr h="370840">
                <a:tc gridSpan="2">
                  <a:txBody>
                    <a:bodyPr/>
                    <a:lstStyle/>
                    <a:p>
                      <a:pPr algn="ctr"/>
                      <a:r>
                        <a:rPr lang="en-US" sz="1200" dirty="0" smtClean="0"/>
                        <a:t>Get-Service</a:t>
                      </a:r>
                      <a:endParaRPr lang="en-US" sz="1200" dirty="0"/>
                    </a:p>
                  </a:txBody>
                  <a:tcPr anchor="ctr"/>
                </a:tc>
                <a:tc hMerge="1">
                  <a:txBody>
                    <a:bodyPr/>
                    <a:lstStyle/>
                    <a:p>
                      <a:endParaRPr lang="en-US" dirty="0"/>
                    </a:p>
                  </a:txBody>
                  <a:tcPr/>
                </a:tc>
              </a:tr>
              <a:tr h="370840">
                <a:tc>
                  <a:txBody>
                    <a:bodyPr/>
                    <a:lstStyle/>
                    <a:p>
                      <a:r>
                        <a:rPr lang="en-US" sz="1200" b="1" u="sng" dirty="0" smtClean="0"/>
                        <a:t>Properties</a:t>
                      </a:r>
                      <a:endParaRPr lang="en-US" sz="1200" b="1" u="sng" dirty="0"/>
                    </a:p>
                  </a:txBody>
                  <a:tcPr anchor="ctr"/>
                </a:tc>
                <a:tc>
                  <a:txBody>
                    <a:bodyPr/>
                    <a:lstStyle/>
                    <a:p>
                      <a:pPr algn="r"/>
                      <a:r>
                        <a:rPr lang="en-US" sz="1200" b="1" u="sng" dirty="0" smtClean="0"/>
                        <a:t>Methods</a:t>
                      </a:r>
                      <a:endParaRPr lang="en-US" sz="1200" b="1" u="sng" dirty="0"/>
                    </a:p>
                  </a:txBody>
                  <a:tcPr anchor="ctr"/>
                </a:tc>
              </a:tr>
              <a:tr h="370840">
                <a:tc>
                  <a:txBody>
                    <a:bodyPr/>
                    <a:lstStyle/>
                    <a:p>
                      <a:r>
                        <a:rPr lang="en-US" sz="1200" dirty="0" smtClean="0"/>
                        <a:t>Name</a:t>
                      </a:r>
                      <a:endParaRPr lang="en-US" sz="1200" dirty="0"/>
                    </a:p>
                  </a:txBody>
                  <a:tcPr anchor="ctr"/>
                </a:tc>
                <a:tc>
                  <a:txBody>
                    <a:bodyPr/>
                    <a:lstStyle/>
                    <a:p>
                      <a:pPr algn="r"/>
                      <a:r>
                        <a:rPr lang="en-US" sz="1200" dirty="0" smtClean="0"/>
                        <a:t>Start()</a:t>
                      </a:r>
                      <a:endParaRPr lang="en-US" sz="1200" dirty="0"/>
                    </a:p>
                  </a:txBody>
                  <a:tcPr anchor="ctr"/>
                </a:tc>
              </a:tr>
              <a:tr h="370840">
                <a:tc>
                  <a:txBody>
                    <a:bodyPr/>
                    <a:lstStyle/>
                    <a:p>
                      <a:r>
                        <a:rPr lang="en-US" sz="1200" dirty="0" smtClean="0"/>
                        <a:t>Status</a:t>
                      </a:r>
                      <a:endParaRPr lang="en-US" sz="1200" dirty="0"/>
                    </a:p>
                  </a:txBody>
                  <a:tcPr anchor="ctr"/>
                </a:tc>
                <a:tc>
                  <a:txBody>
                    <a:bodyPr/>
                    <a:lstStyle/>
                    <a:p>
                      <a:pPr algn="r"/>
                      <a:r>
                        <a:rPr lang="en-US" sz="1200" dirty="0" smtClean="0"/>
                        <a:t>Stop()</a:t>
                      </a:r>
                      <a:endParaRPr lang="en-US" sz="1200" dirty="0"/>
                    </a:p>
                  </a:txBody>
                  <a:tcPr anchor="ctr"/>
                </a:tc>
              </a:tr>
              <a:tr h="370840">
                <a:tc>
                  <a:txBody>
                    <a:bodyPr/>
                    <a:lstStyle/>
                    <a:p>
                      <a:r>
                        <a:rPr lang="en-US" sz="1200" dirty="0" smtClean="0"/>
                        <a:t>Service Type</a:t>
                      </a:r>
                      <a:endParaRPr lang="en-US" sz="1200" dirty="0"/>
                    </a:p>
                  </a:txBody>
                  <a:tcPr anchor="ctr"/>
                </a:tc>
                <a:tc>
                  <a:txBody>
                    <a:bodyPr/>
                    <a:lstStyle/>
                    <a:p>
                      <a:pPr algn="r"/>
                      <a:r>
                        <a:rPr lang="en-US" sz="1200" dirty="0" smtClean="0"/>
                        <a:t>Pause()</a:t>
                      </a:r>
                      <a:endParaRPr lang="en-US" sz="1200" dirty="0"/>
                    </a:p>
                  </a:txBody>
                  <a:tcPr anchor="ctr"/>
                </a:tc>
              </a:tr>
            </a:tbl>
          </a:graphicData>
        </a:graphic>
      </p:graphicFrame>
      <p:sp>
        <p:nvSpPr>
          <p:cNvPr id="7" name="Right Arrow 6"/>
          <p:cNvSpPr/>
          <p:nvPr/>
        </p:nvSpPr>
        <p:spPr>
          <a:xfrm>
            <a:off x="4309732" y="4013200"/>
            <a:ext cx="609600" cy="381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Pipelines</a:t>
            </a:r>
            <a:endParaRPr lang="en-US" dirty="0"/>
          </a:p>
        </p:txBody>
      </p:sp>
      <p:sp>
        <p:nvSpPr>
          <p:cNvPr id="3" name="Content Placeholder 2"/>
          <p:cNvSpPr>
            <a:spLocks noGrp="1"/>
          </p:cNvSpPr>
          <p:nvPr>
            <p:ph idx="1"/>
          </p:nvPr>
        </p:nvSpPr>
        <p:spPr>
          <a:xfrm>
            <a:off x="917575" y="838200"/>
            <a:ext cx="7369175" cy="2133600"/>
          </a:xfrm>
        </p:spPr>
        <p:txBody>
          <a:bodyPr/>
          <a:lstStyle/>
          <a:p>
            <a:pPr fontAlgn="ctr"/>
            <a:r>
              <a:rPr lang="en-US" sz="2000" dirty="0" smtClean="0"/>
              <a:t>Pipeline – </a:t>
            </a:r>
          </a:p>
          <a:p>
            <a:pPr lvl="1" fontAlgn="ctr"/>
            <a:r>
              <a:rPr lang="en-US" sz="1600" dirty="0" smtClean="0"/>
              <a:t>Definition: </a:t>
            </a:r>
            <a:r>
              <a:rPr lang="en-US" sz="1600" dirty="0"/>
              <a:t>A</a:t>
            </a:r>
            <a:r>
              <a:rPr lang="en-US" sz="1600" dirty="0" smtClean="0"/>
              <a:t> series of commands separated by a pipe operator “|” and each command in the pipeline receives an object from the previous command. </a:t>
            </a:r>
          </a:p>
          <a:p>
            <a:pPr lvl="1" fontAlgn="ctr"/>
            <a:r>
              <a:rPr lang="en-US" sz="1600" dirty="0" smtClean="0"/>
              <a:t>Examples</a:t>
            </a:r>
          </a:p>
          <a:p>
            <a:pPr lvl="2" fontAlgn="ctr"/>
            <a:r>
              <a:rPr lang="en-US" sz="1400" dirty="0" smtClean="0">
                <a:latin typeface="Consolas" pitchFamily="49" charset="0"/>
                <a:cs typeface="Consolas" pitchFamily="49" charset="0"/>
              </a:rPr>
              <a:t>Get-Process | Get-Member | Out-Host -Paging</a:t>
            </a:r>
          </a:p>
          <a:p>
            <a:endParaRPr lang="en-US" dirty="0"/>
          </a:p>
        </p:txBody>
      </p:sp>
      <p:pic>
        <p:nvPicPr>
          <p:cNvPr id="307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400175" y="2686050"/>
            <a:ext cx="6343650" cy="3562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Alias</a:t>
            </a:r>
            <a:endParaRPr lang="en-US" dirty="0"/>
          </a:p>
        </p:txBody>
      </p:sp>
      <p:sp>
        <p:nvSpPr>
          <p:cNvPr id="3" name="Content Placeholder 2"/>
          <p:cNvSpPr>
            <a:spLocks noGrp="1"/>
          </p:cNvSpPr>
          <p:nvPr>
            <p:ph idx="1"/>
          </p:nvPr>
        </p:nvSpPr>
        <p:spPr>
          <a:xfrm>
            <a:off x="917575" y="838200"/>
            <a:ext cx="7369175" cy="1828800"/>
          </a:xfrm>
        </p:spPr>
        <p:txBody>
          <a:bodyPr/>
          <a:lstStyle/>
          <a:p>
            <a:pPr fontAlgn="ctr"/>
            <a:r>
              <a:rPr lang="en-US" sz="2000" dirty="0" smtClean="0"/>
              <a:t>Alias – </a:t>
            </a:r>
          </a:p>
          <a:p>
            <a:pPr lvl="1" fontAlgn="ctr"/>
            <a:r>
              <a:rPr lang="en-US" sz="1600" dirty="0" smtClean="0"/>
              <a:t>Definition: Another name assigned to a cmdlet, function, script, or executable file.</a:t>
            </a:r>
          </a:p>
          <a:p>
            <a:pPr lvl="1" fontAlgn="ctr"/>
            <a:r>
              <a:rPr lang="en-US" sz="1600" dirty="0" smtClean="0"/>
              <a:t>Considerations</a:t>
            </a:r>
          </a:p>
          <a:p>
            <a:pPr lvl="2" fontAlgn="ctr"/>
            <a:r>
              <a:rPr lang="en-US" sz="1600" dirty="0" smtClean="0"/>
              <a:t>Distributable scripts should use full name</a:t>
            </a:r>
          </a:p>
          <a:p>
            <a:pPr lvl="1" fontAlgn="ctr"/>
            <a:r>
              <a:rPr lang="en-US" sz="1600" dirty="0" smtClean="0"/>
              <a:t>Examples </a:t>
            </a:r>
          </a:p>
          <a:p>
            <a:pPr lvl="2"/>
            <a:r>
              <a:rPr lang="en-US" sz="1600" dirty="0" err="1" smtClean="0"/>
              <a:t>gc</a:t>
            </a:r>
            <a:r>
              <a:rPr lang="en-US" sz="1600" dirty="0" smtClean="0"/>
              <a:t> – Get-Content</a:t>
            </a:r>
          </a:p>
          <a:p>
            <a:pPr lvl="2"/>
            <a:r>
              <a:rPr lang="en-US" sz="1600" dirty="0" err="1" smtClean="0"/>
              <a:t>gwmi</a:t>
            </a:r>
            <a:r>
              <a:rPr lang="en-US" sz="1600" dirty="0" smtClean="0"/>
              <a:t> – Get-</a:t>
            </a:r>
            <a:r>
              <a:rPr lang="en-US" sz="1600" dirty="0" err="1" smtClean="0"/>
              <a:t>WmiObject</a:t>
            </a:r>
            <a:endParaRPr lang="en-US" sz="1600" dirty="0" smtClean="0"/>
          </a:p>
          <a:p>
            <a:pPr lvl="2"/>
            <a:endParaRPr lang="en-US" dirty="0"/>
          </a:p>
        </p:txBody>
      </p:sp>
      <p:pic>
        <p:nvPicPr>
          <p:cNvPr id="2052" name="Picture 4"/>
          <p:cNvPicPr>
            <a:picLocks noChangeAspect="1" noChangeArrowheads="1"/>
          </p:cNvPicPr>
          <p:nvPr/>
        </p:nvPicPr>
        <p:blipFill>
          <a:blip r:embed="rId3"/>
          <a:srcRect/>
          <a:stretch>
            <a:fillRect/>
          </a:stretch>
        </p:blipFill>
        <p:spPr bwMode="auto">
          <a:xfrm>
            <a:off x="1601787" y="3429000"/>
            <a:ext cx="6704013" cy="1866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a:xfrm>
            <a:off x="917575" y="838200"/>
            <a:ext cx="7369175" cy="1905000"/>
          </a:xfrm>
        </p:spPr>
        <p:txBody>
          <a:bodyPr/>
          <a:lstStyle/>
          <a:p>
            <a:pPr fontAlgn="ctr"/>
            <a:r>
              <a:rPr lang="en-US" sz="2000" dirty="0" smtClean="0"/>
              <a:t>Functions </a:t>
            </a:r>
            <a:endParaRPr lang="en-US" dirty="0" smtClean="0"/>
          </a:p>
          <a:p>
            <a:pPr lvl="1" fontAlgn="ctr"/>
            <a:r>
              <a:rPr lang="en-US" sz="1600" dirty="0" smtClean="0"/>
              <a:t>Definition: Is a block of code that you name and then can call later to run that block of code</a:t>
            </a:r>
          </a:p>
          <a:p>
            <a:pPr lvl="1" fontAlgn="ctr"/>
            <a:r>
              <a:rPr lang="en-US" sz="1600" dirty="0" smtClean="0"/>
              <a:t>Syntax</a:t>
            </a:r>
          </a:p>
          <a:p>
            <a:pPr lvl="3" fontAlgn="ctr">
              <a:buFont typeface="Arial" pitchFamily="34" charset="0"/>
              <a:buChar char="•"/>
            </a:pPr>
            <a:r>
              <a:rPr lang="en-US" dirty="0" err="1" smtClean="0"/>
              <a:t>FunctionName</a:t>
            </a:r>
            <a:r>
              <a:rPr lang="en-US" dirty="0" smtClean="0"/>
              <a:t> (parameters) {script block}</a:t>
            </a:r>
          </a:p>
          <a:p>
            <a:pPr lvl="1" fontAlgn="ctr"/>
            <a:r>
              <a:rPr lang="en-US" sz="1600" dirty="0" smtClean="0"/>
              <a:t>Considerations: Must be defined at the top of your script</a:t>
            </a:r>
            <a:endParaRPr lang="en-US" dirty="0" smtClean="0"/>
          </a:p>
          <a:p>
            <a:pPr lvl="1" fontAlgn="ctr"/>
            <a:r>
              <a:rPr lang="en-US" sz="1600" dirty="0" smtClean="0"/>
              <a:t>Example:</a:t>
            </a:r>
          </a:p>
          <a:p>
            <a:pPr lvl="1"/>
            <a:endParaRPr lang="en-US" dirty="0"/>
          </a:p>
        </p:txBody>
      </p:sp>
      <p:pic>
        <p:nvPicPr>
          <p:cNvPr id="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00200" y="3048000"/>
            <a:ext cx="6181725" cy="3190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Profiles</a:t>
            </a:r>
            <a:endParaRPr lang="en-US" dirty="0"/>
          </a:p>
        </p:txBody>
      </p:sp>
      <p:sp>
        <p:nvSpPr>
          <p:cNvPr id="3" name="Content Placeholder 2"/>
          <p:cNvSpPr>
            <a:spLocks noGrp="1"/>
          </p:cNvSpPr>
          <p:nvPr>
            <p:ph idx="1"/>
          </p:nvPr>
        </p:nvSpPr>
        <p:spPr>
          <a:xfrm>
            <a:off x="917575" y="838200"/>
            <a:ext cx="7369175" cy="1524000"/>
          </a:xfrm>
        </p:spPr>
        <p:txBody>
          <a:bodyPr/>
          <a:lstStyle/>
          <a:p>
            <a:r>
              <a:rPr lang="en-US" sz="2000" dirty="0" smtClean="0"/>
              <a:t>Profiles</a:t>
            </a:r>
          </a:p>
          <a:p>
            <a:pPr lvl="1"/>
            <a:r>
              <a:rPr lang="en-US" sz="1600" dirty="0" smtClean="0"/>
              <a:t>Definition: A PowerShell script file that runs every time PowerShell starts up. Allows for personal customizations to your console.</a:t>
            </a:r>
          </a:p>
          <a:p>
            <a:pPr lvl="1"/>
            <a:r>
              <a:rPr lang="en-US" sz="1600" dirty="0" smtClean="0"/>
              <a:t>Content: cmdlets, scripts, functions….</a:t>
            </a:r>
          </a:p>
          <a:p>
            <a:pPr lvl="1"/>
            <a:r>
              <a:rPr lang="en-US" sz="1600" dirty="0" smtClean="0"/>
              <a:t>Finding the profile: $profile</a:t>
            </a:r>
          </a:p>
          <a:p>
            <a:pPr lvl="1"/>
            <a:r>
              <a:rPr lang="en-US" sz="1600" dirty="0" smtClean="0"/>
              <a:t>Six different types:</a:t>
            </a:r>
          </a:p>
          <a:p>
            <a:pPr lvl="1"/>
            <a:endParaRPr lang="en-US" sz="1600" dirty="0" smtClean="0"/>
          </a:p>
          <a:p>
            <a:endParaRPr lang="en-US" sz="1800" dirty="0"/>
          </a:p>
        </p:txBody>
      </p:sp>
      <p:graphicFrame>
        <p:nvGraphicFramePr>
          <p:cNvPr id="6" name="Table 5"/>
          <p:cNvGraphicFramePr>
            <a:graphicFrameLocks noGrp="1"/>
          </p:cNvGraphicFramePr>
          <p:nvPr>
            <p:extLst>
              <p:ext uri="{D42A27DB-BD31-4B8C-83A1-F6EECF244321}">
                <p14:modId xmlns="" xmlns:p14="http://schemas.microsoft.com/office/powerpoint/2010/main" val="60981768"/>
              </p:ext>
            </p:extLst>
          </p:nvPr>
        </p:nvGraphicFramePr>
        <p:xfrm>
          <a:off x="1600200" y="2819400"/>
          <a:ext cx="6766560" cy="3171958"/>
        </p:xfrm>
        <a:graphic>
          <a:graphicData uri="http://schemas.openxmlformats.org/drawingml/2006/table">
            <a:tbl>
              <a:tblPr firstRow="1" bandRow="1">
                <a:tableStyleId>{9D7B26C5-4107-4FEC-AEDC-1716B250A1EF}</a:tableStyleId>
              </a:tblPr>
              <a:tblGrid>
                <a:gridCol w="2663433"/>
                <a:gridCol w="4103127"/>
              </a:tblGrid>
              <a:tr h="305772">
                <a:tc>
                  <a:txBody>
                    <a:bodyPr/>
                    <a:lstStyle/>
                    <a:p>
                      <a:r>
                        <a:rPr lang="en-US" sz="1400" dirty="0" smtClean="0"/>
                        <a:t>Description</a:t>
                      </a:r>
                      <a:endParaRPr lang="en-US" sz="1400" dirty="0"/>
                    </a:p>
                  </a:txBody>
                  <a:tcPr/>
                </a:tc>
                <a:tc>
                  <a:txBody>
                    <a:bodyPr/>
                    <a:lstStyle/>
                    <a:p>
                      <a:r>
                        <a:rPr lang="en-US" sz="1400" dirty="0" smtClean="0"/>
                        <a:t>Path </a:t>
                      </a:r>
                      <a:endParaRPr lang="en-US" sz="1400" dirty="0"/>
                    </a:p>
                  </a:txBody>
                  <a:tcPr/>
                </a:tc>
              </a:tr>
              <a:tr h="295631">
                <a:tc>
                  <a:txBody>
                    <a:bodyPr/>
                    <a:lstStyle/>
                    <a:p>
                      <a:r>
                        <a:rPr lang="en-US" sz="1200" dirty="0" smtClean="0"/>
                        <a:t>Current User, Current Host-console</a:t>
                      </a:r>
                      <a:endParaRPr lang="en-US" sz="1200" dirty="0"/>
                    </a:p>
                  </a:txBody>
                  <a:tcPr/>
                </a:tc>
                <a:tc>
                  <a:txBody>
                    <a:bodyPr/>
                    <a:lstStyle/>
                    <a:p>
                      <a:r>
                        <a:rPr lang="en-US" sz="1200" dirty="0" smtClean="0"/>
                        <a:t>$Home\[My]</a:t>
                      </a:r>
                      <a:r>
                        <a:rPr lang="en-US" sz="1200" baseline="0" dirty="0" smtClean="0"/>
                        <a:t>Documents\</a:t>
                      </a:r>
                      <a:r>
                        <a:rPr lang="en-US" sz="1200" baseline="0" dirty="0" err="1" smtClean="0"/>
                        <a:t>WindowsPowerShell</a:t>
                      </a:r>
                      <a:r>
                        <a:rPr lang="en-US" sz="1200" baseline="0" dirty="0" smtClean="0"/>
                        <a:t>\Profile.ps1</a:t>
                      </a:r>
                      <a:endParaRPr lang="en-US" sz="1200" dirty="0"/>
                    </a:p>
                  </a:txBody>
                  <a:tcPr/>
                </a:tc>
              </a:tr>
              <a:tr h="442882">
                <a:tc>
                  <a:txBody>
                    <a:bodyPr/>
                    <a:lstStyle/>
                    <a:p>
                      <a:r>
                        <a:rPr lang="en-US" sz="1200" dirty="0" smtClean="0"/>
                        <a:t>Current User, All hosts</a:t>
                      </a:r>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$Home\[My]</a:t>
                      </a:r>
                      <a:r>
                        <a:rPr lang="en-US" sz="1200" baseline="0" dirty="0" smtClean="0"/>
                        <a:t>Documents\Profile.ps1</a:t>
                      </a:r>
                      <a:endParaRPr lang="en-US" sz="1200" dirty="0" smtClean="0"/>
                    </a:p>
                    <a:p>
                      <a:endParaRPr lang="en-US" sz="1200" dirty="0"/>
                    </a:p>
                  </a:txBody>
                  <a:tcPr/>
                </a:tc>
              </a:tr>
              <a:tr h="55887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All Users, Current Host-console</a:t>
                      </a:r>
                    </a:p>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a:t>
                      </a:r>
                      <a:r>
                        <a:rPr lang="en-US" sz="1200" dirty="0" err="1" smtClean="0"/>
                        <a:t>PsHome</a:t>
                      </a:r>
                      <a:r>
                        <a:rPr lang="en-US" sz="1200" dirty="0" smtClean="0"/>
                        <a:t>\Microsoft.</a:t>
                      </a:r>
                      <a:r>
                        <a:rPr lang="en-US" sz="1200" baseline="0" dirty="0" smtClean="0"/>
                        <a:t>WindowsPowerShell_profile.ps1</a:t>
                      </a:r>
                      <a:endParaRPr lang="en-US" sz="1200" dirty="0" smtClean="0"/>
                    </a:p>
                    <a:p>
                      <a:endParaRPr lang="en-US" sz="1200" dirty="0"/>
                    </a:p>
                  </a:txBody>
                  <a:tcPr/>
                </a:tc>
              </a:tr>
              <a:tr h="44288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All</a:t>
                      </a:r>
                      <a:r>
                        <a:rPr lang="en-US" sz="1200" baseline="0" dirty="0" smtClean="0"/>
                        <a:t> </a:t>
                      </a:r>
                      <a:r>
                        <a:rPr lang="en-US" sz="1200" dirty="0" smtClean="0"/>
                        <a:t>Users, All hosts</a:t>
                      </a:r>
                    </a:p>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a:t>
                      </a:r>
                      <a:r>
                        <a:rPr lang="en-US" sz="1200" dirty="0" err="1" smtClean="0"/>
                        <a:t>PsHome</a:t>
                      </a:r>
                      <a:r>
                        <a:rPr lang="en-US" sz="1200" baseline="0" dirty="0" smtClean="0"/>
                        <a:t>\Profile.ps1</a:t>
                      </a:r>
                      <a:endParaRPr lang="en-US" sz="1200" dirty="0" smtClean="0"/>
                    </a:p>
                    <a:p>
                      <a:endParaRPr lang="en-US" sz="1200" dirty="0"/>
                    </a:p>
                  </a:txBody>
                  <a:tcPr/>
                </a:tc>
              </a:tr>
              <a:tr h="620035">
                <a:tc>
                  <a:txBody>
                    <a:bodyPr/>
                    <a:lstStyle/>
                    <a:p>
                      <a:r>
                        <a:rPr lang="en-US" sz="1200" dirty="0" smtClean="0"/>
                        <a:t>Current user, Current Host-ISE</a:t>
                      </a:r>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$Home\[My]</a:t>
                      </a:r>
                      <a:r>
                        <a:rPr lang="en-US" sz="1200" baseline="0" dirty="0" smtClean="0"/>
                        <a:t>Documents\</a:t>
                      </a:r>
                      <a:r>
                        <a:rPr lang="en-US" sz="1200" baseline="0" dirty="0" err="1" smtClean="0"/>
                        <a:t>WindowsPowerShell</a:t>
                      </a:r>
                      <a:r>
                        <a:rPr lang="en-US" sz="1200" baseline="0" dirty="0" smtClean="0"/>
                        <a:t>\</a:t>
                      </a:r>
                      <a:r>
                        <a:rPr lang="en-US" sz="1200" dirty="0" smtClean="0"/>
                        <a:t>Microsoft.</a:t>
                      </a:r>
                      <a:r>
                        <a:rPr lang="en-US" sz="1200" baseline="0" dirty="0" smtClean="0"/>
                        <a:t>WindowsPowerShellISE_profile.ps1</a:t>
                      </a:r>
                      <a:endParaRPr lang="en-US" sz="1200" dirty="0" smtClean="0"/>
                    </a:p>
                    <a:p>
                      <a:endParaRPr lang="en-US" sz="1200" dirty="0"/>
                    </a:p>
                  </a:txBody>
                  <a:tcPr/>
                </a:tc>
              </a:tr>
              <a:tr h="442882">
                <a:tc>
                  <a:txBody>
                    <a:bodyPr/>
                    <a:lstStyle/>
                    <a:p>
                      <a:r>
                        <a:rPr lang="en-US" sz="1200" dirty="0" smtClean="0"/>
                        <a:t>All users,</a:t>
                      </a:r>
                      <a:r>
                        <a:rPr lang="en-US" sz="1200" baseline="0" dirty="0" smtClean="0"/>
                        <a:t> Current Host-ISE</a:t>
                      </a:r>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a:t>
                      </a:r>
                      <a:r>
                        <a:rPr lang="en-US" sz="1200" dirty="0" err="1" smtClean="0"/>
                        <a:t>PsHome</a:t>
                      </a:r>
                      <a:r>
                        <a:rPr lang="en-US" sz="1200" dirty="0" smtClean="0"/>
                        <a:t>\Microsoft.</a:t>
                      </a:r>
                      <a:r>
                        <a:rPr lang="en-US" sz="1200" baseline="0" dirty="0" smtClean="0"/>
                        <a:t>WindowsPowerShellISE_profile.ps1</a:t>
                      </a:r>
                      <a:endParaRPr lang="en-US" sz="1200" dirty="0" smtClean="0"/>
                    </a:p>
                    <a:p>
                      <a:endParaRPr lang="en-US" sz="1200" dirty="0"/>
                    </a:p>
                  </a:txBody>
                  <a:tcPr/>
                </a:tc>
              </a:tr>
            </a:tbl>
          </a:graphicData>
        </a:graphic>
      </p:graphicFrame>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Providers</a:t>
            </a:r>
            <a:endParaRPr lang="en-US" dirty="0"/>
          </a:p>
        </p:txBody>
      </p:sp>
      <p:sp>
        <p:nvSpPr>
          <p:cNvPr id="3" name="Content Placeholder 2"/>
          <p:cNvSpPr>
            <a:spLocks noGrp="1"/>
          </p:cNvSpPr>
          <p:nvPr>
            <p:ph idx="1"/>
          </p:nvPr>
        </p:nvSpPr>
        <p:spPr>
          <a:xfrm>
            <a:off x="917575" y="838200"/>
            <a:ext cx="7369175" cy="2209800"/>
          </a:xfrm>
        </p:spPr>
        <p:txBody>
          <a:bodyPr/>
          <a:lstStyle/>
          <a:p>
            <a:pPr fontAlgn="ctr"/>
            <a:r>
              <a:rPr lang="en-US" sz="2000" dirty="0" smtClean="0"/>
              <a:t>Providers</a:t>
            </a:r>
            <a:endParaRPr lang="en-US" dirty="0" smtClean="0"/>
          </a:p>
          <a:p>
            <a:pPr lvl="1" fontAlgn="ctr"/>
            <a:r>
              <a:rPr lang="en-US" sz="1600" dirty="0" smtClean="0"/>
              <a:t>Definition - Provides access to data and components that would not otherwise be easily accessible at the command line. The data is presented in a consistent format that resembles a file system drive.</a:t>
            </a:r>
          </a:p>
          <a:p>
            <a:pPr lvl="1" fontAlgn="ctr"/>
            <a:r>
              <a:rPr lang="en-US" sz="1600" dirty="0" smtClean="0"/>
              <a:t>Providers – Registry, ADSI, </a:t>
            </a:r>
            <a:r>
              <a:rPr lang="en-US" sz="1600" dirty="0" err="1" smtClean="0"/>
              <a:t>FileSystem</a:t>
            </a:r>
            <a:r>
              <a:rPr lang="en-US" sz="1600" dirty="0" smtClean="0"/>
              <a:t> …..</a:t>
            </a:r>
            <a:endParaRPr lang="en-US" sz="1800" dirty="0" smtClean="0"/>
          </a:p>
        </p:txBody>
      </p:sp>
      <p:pic>
        <p:nvPicPr>
          <p:cNvPr id="4" name="Picture 2"/>
          <p:cNvPicPr>
            <a:picLocks noChangeAspect="1" noChangeArrowheads="1"/>
          </p:cNvPicPr>
          <p:nvPr/>
        </p:nvPicPr>
        <p:blipFill>
          <a:blip r:embed="rId3"/>
          <a:srcRect/>
          <a:stretch>
            <a:fillRect/>
          </a:stretch>
        </p:blipFill>
        <p:spPr bwMode="auto">
          <a:xfrm>
            <a:off x="1524001" y="2514600"/>
            <a:ext cx="6781800" cy="175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2 Lab: Fundamentals</a:t>
            </a:r>
            <a:endParaRPr lang="en-US"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 xmlns:p14="http://schemas.microsoft.com/office/powerpoint/2010/main" val="41944649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 &amp; 2 – Navigating Your System</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p:txBody>
      </p:sp>
      <p:sp>
        <p:nvSpPr>
          <p:cNvPr id="4" name="TextBox 3"/>
          <p:cNvSpPr txBox="1"/>
          <p:nvPr/>
        </p:nvSpPr>
        <p:spPr>
          <a:xfrm>
            <a:off x="1524000" y="1595735"/>
            <a:ext cx="6477000" cy="461665"/>
          </a:xfrm>
          <a:prstGeom prst="rect">
            <a:avLst/>
          </a:prstGeom>
          <a:noFill/>
        </p:spPr>
        <p:txBody>
          <a:bodyPr wrap="square" rtlCol="0">
            <a:spAutoFit/>
          </a:bodyPr>
          <a:lstStyle/>
          <a:p>
            <a:r>
              <a:rPr lang="en-US" sz="1200" b="1" dirty="0" smtClean="0"/>
              <a:t>Here’s your task: </a:t>
            </a:r>
          </a:p>
          <a:p>
            <a:r>
              <a:rPr lang="en-US" sz="1200" dirty="0" smtClean="0"/>
              <a:t>Get a listing of all files and folders located in your C:\Windows folder.</a:t>
            </a:r>
            <a:endParaRPr lang="en-US" sz="1200" dirty="0"/>
          </a:p>
        </p:txBody>
      </p:sp>
      <p:pic>
        <p:nvPicPr>
          <p:cNvPr id="9" name="Picture 4" descr="C:\Users\u0148347\AppData\Local\Microsoft\Windows\Temporary Internet Files\Content.IE5\IKLUXKU9\MC900432658[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066801" y="1636068"/>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p:cNvSpPr txBox="1"/>
          <p:nvPr/>
        </p:nvSpPr>
        <p:spPr>
          <a:xfrm>
            <a:off x="914400" y="1143000"/>
            <a:ext cx="7391400" cy="369332"/>
          </a:xfrm>
          <a:prstGeom prst="rect">
            <a:avLst/>
          </a:prstGeom>
          <a:solidFill>
            <a:schemeClr val="bg1">
              <a:lumMod val="85000"/>
            </a:schemeClr>
          </a:solidFill>
        </p:spPr>
        <p:txBody>
          <a:bodyPr wrap="square" rtlCol="0">
            <a:spAutoFit/>
          </a:bodyPr>
          <a:lstStyle/>
          <a:p>
            <a:r>
              <a:rPr lang="en-US" b="1" dirty="0" smtClean="0"/>
              <a:t>Task #1 (10 min)</a:t>
            </a:r>
            <a:endParaRPr lang="en-US" b="1" dirty="0"/>
          </a:p>
        </p:txBody>
      </p:sp>
      <p:grpSp>
        <p:nvGrpSpPr>
          <p:cNvPr id="8" name="Group 7"/>
          <p:cNvGrpSpPr/>
          <p:nvPr/>
        </p:nvGrpSpPr>
        <p:grpSpPr>
          <a:xfrm>
            <a:off x="1066801" y="2321867"/>
            <a:ext cx="6934199" cy="646331"/>
            <a:chOff x="1066801" y="2321867"/>
            <a:chExt cx="6934199" cy="646331"/>
          </a:xfrm>
        </p:grpSpPr>
        <p:pic>
          <p:nvPicPr>
            <p:cNvPr id="7" name="Picture 6"/>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13" name="TextBox 12"/>
            <p:cNvSpPr txBox="1"/>
            <p:nvPr/>
          </p:nvSpPr>
          <p:spPr>
            <a:xfrm>
              <a:off x="1524000" y="2321867"/>
              <a:ext cx="6477000" cy="646331"/>
            </a:xfrm>
            <a:prstGeom prst="rect">
              <a:avLst/>
            </a:prstGeom>
            <a:noFill/>
          </p:spPr>
          <p:txBody>
            <a:bodyPr wrap="square" rtlCol="0">
              <a:spAutoFit/>
            </a:bodyPr>
            <a:lstStyle/>
            <a:p>
              <a:r>
                <a:rPr lang="en-US" sz="1200" b="1" dirty="0" smtClean="0"/>
                <a:t>Here’s a tip: </a:t>
              </a:r>
            </a:p>
            <a:p>
              <a:r>
                <a:rPr lang="en-US" sz="1200" dirty="0" smtClean="0"/>
                <a:t>The </a:t>
              </a:r>
              <a:r>
                <a:rPr lang="en-US" sz="1200" b="1" dirty="0" err="1" smtClean="0"/>
                <a:t>Dir</a:t>
              </a:r>
              <a:r>
                <a:rPr lang="en-US" sz="1200" dirty="0" smtClean="0"/>
                <a:t>  and </a:t>
              </a:r>
              <a:r>
                <a:rPr lang="en-US" sz="1200" b="1" dirty="0" err="1" smtClean="0"/>
                <a:t>ls</a:t>
              </a:r>
              <a:r>
                <a:rPr lang="en-US" sz="1200" dirty="0" smtClean="0"/>
                <a:t> command will do the job; however that’s not what we’re looking for.  Although knowing those two commands should get you the cmdlet that we’re looking for. </a:t>
              </a:r>
              <a:endParaRPr lang="en-US" sz="1200" dirty="0"/>
            </a:p>
          </p:txBody>
        </p:sp>
      </p:grpSp>
      <p:sp>
        <p:nvSpPr>
          <p:cNvPr id="15" name="TextBox 14"/>
          <p:cNvSpPr txBox="1"/>
          <p:nvPr/>
        </p:nvSpPr>
        <p:spPr>
          <a:xfrm>
            <a:off x="1545265" y="3810000"/>
            <a:ext cx="6477000" cy="461665"/>
          </a:xfrm>
          <a:prstGeom prst="rect">
            <a:avLst/>
          </a:prstGeom>
          <a:noFill/>
        </p:spPr>
        <p:txBody>
          <a:bodyPr wrap="square" rtlCol="0">
            <a:spAutoFit/>
          </a:bodyPr>
          <a:lstStyle/>
          <a:p>
            <a:r>
              <a:rPr lang="en-US" sz="1200" b="1" dirty="0" smtClean="0"/>
              <a:t>Here’s your task: </a:t>
            </a:r>
          </a:p>
          <a:p>
            <a:r>
              <a:rPr lang="en-US" sz="1200" dirty="0" smtClean="0"/>
              <a:t>Get a listing of all available parameters and examples for the Get-Service cmdlet. </a:t>
            </a:r>
            <a:endParaRPr lang="en-US" sz="1200" dirty="0"/>
          </a:p>
        </p:txBody>
      </p:sp>
      <p:pic>
        <p:nvPicPr>
          <p:cNvPr id="16" name="Picture 4" descr="C:\Users\u0148347\AppData\Local\Microsoft\Windows\Temporary Internet Files\Content.IE5\IKLUXKU9\MC900432658[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088066" y="3850333"/>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TextBox 16"/>
          <p:cNvSpPr txBox="1"/>
          <p:nvPr/>
        </p:nvSpPr>
        <p:spPr>
          <a:xfrm>
            <a:off x="935665" y="3357265"/>
            <a:ext cx="7391400" cy="369332"/>
          </a:xfrm>
          <a:prstGeom prst="rect">
            <a:avLst/>
          </a:prstGeom>
          <a:solidFill>
            <a:schemeClr val="bg1">
              <a:lumMod val="85000"/>
            </a:schemeClr>
          </a:solidFill>
        </p:spPr>
        <p:txBody>
          <a:bodyPr wrap="square" rtlCol="0">
            <a:spAutoFit/>
          </a:bodyPr>
          <a:lstStyle/>
          <a:p>
            <a:r>
              <a:rPr lang="en-US" b="1" dirty="0" smtClean="0"/>
              <a:t>Task #2 (10 min)</a:t>
            </a:r>
            <a:endParaRPr lang="en-US" b="1" dirty="0"/>
          </a:p>
        </p:txBody>
      </p:sp>
      <p:grpSp>
        <p:nvGrpSpPr>
          <p:cNvPr id="18" name="Group 17"/>
          <p:cNvGrpSpPr/>
          <p:nvPr/>
        </p:nvGrpSpPr>
        <p:grpSpPr>
          <a:xfrm>
            <a:off x="1088066" y="4536132"/>
            <a:ext cx="6934199" cy="646331"/>
            <a:chOff x="1066801" y="2321867"/>
            <a:chExt cx="6934199" cy="646331"/>
          </a:xfrm>
        </p:grpSpPr>
        <p:pic>
          <p:nvPicPr>
            <p:cNvPr id="19" name="Picture 18"/>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20" name="TextBox 19"/>
            <p:cNvSpPr txBox="1"/>
            <p:nvPr/>
          </p:nvSpPr>
          <p:spPr>
            <a:xfrm>
              <a:off x="1524000" y="2321867"/>
              <a:ext cx="6477000" cy="646331"/>
            </a:xfrm>
            <a:prstGeom prst="rect">
              <a:avLst/>
            </a:prstGeom>
            <a:noFill/>
          </p:spPr>
          <p:txBody>
            <a:bodyPr wrap="square" rtlCol="0">
              <a:spAutoFit/>
            </a:bodyPr>
            <a:lstStyle/>
            <a:p>
              <a:r>
                <a:rPr lang="en-US" sz="1200" b="1" dirty="0" smtClean="0"/>
                <a:t>Here’s a tip: </a:t>
              </a:r>
            </a:p>
            <a:p>
              <a:r>
                <a:rPr lang="en-US" sz="1200" dirty="0" smtClean="0"/>
                <a:t>Remember that you have three levels of details that can be returned. Choose your selection wisely!</a:t>
              </a:r>
              <a:endParaRPr lang="en-US" sz="1200" dirty="0"/>
            </a:p>
          </p:txBody>
        </p:sp>
      </p:grpSp>
    </p:spTree>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15" grpId="0"/>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a:t>
            </a:r>
            <a:r>
              <a:rPr lang="en-US" dirty="0" smtClean="0"/>
              <a:t>3 </a:t>
            </a:r>
            <a:r>
              <a:rPr lang="en-US" dirty="0"/>
              <a:t>&amp; </a:t>
            </a:r>
            <a:r>
              <a:rPr lang="en-US" dirty="0" smtClean="0"/>
              <a:t>4 </a:t>
            </a:r>
            <a:r>
              <a:rPr lang="en-US" dirty="0"/>
              <a:t>– Navigating Your System</a:t>
            </a:r>
          </a:p>
        </p:txBody>
      </p:sp>
      <p:sp>
        <p:nvSpPr>
          <p:cNvPr id="4" name="TextBox 3"/>
          <p:cNvSpPr txBox="1"/>
          <p:nvPr/>
        </p:nvSpPr>
        <p:spPr>
          <a:xfrm>
            <a:off x="1524000" y="1595735"/>
            <a:ext cx="6477000" cy="461665"/>
          </a:xfrm>
          <a:prstGeom prst="rect">
            <a:avLst/>
          </a:prstGeom>
          <a:noFill/>
        </p:spPr>
        <p:txBody>
          <a:bodyPr wrap="square" rtlCol="0">
            <a:spAutoFit/>
          </a:bodyPr>
          <a:lstStyle/>
          <a:p>
            <a:r>
              <a:rPr lang="en-US" sz="1200" b="1" dirty="0" smtClean="0"/>
              <a:t>Here’s your task: </a:t>
            </a:r>
          </a:p>
          <a:p>
            <a:r>
              <a:rPr lang="en-US" sz="1200" dirty="0" smtClean="0"/>
              <a:t>Get a listing of files within the C:\Windows folder on a remote computer</a:t>
            </a:r>
            <a:endParaRPr lang="en-US" sz="1200" dirty="0"/>
          </a:p>
        </p:txBody>
      </p:sp>
      <p:pic>
        <p:nvPicPr>
          <p:cNvPr id="5" name="Picture 4" descr="C:\Users\u0148347\AppData\Local\Microsoft\Windows\Temporary Internet Files\Content.IE5\IKLUXKU9\MC900432658[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066801" y="1636068"/>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p:cNvSpPr txBox="1"/>
          <p:nvPr/>
        </p:nvSpPr>
        <p:spPr>
          <a:xfrm>
            <a:off x="914400" y="1143000"/>
            <a:ext cx="7391400" cy="369332"/>
          </a:xfrm>
          <a:prstGeom prst="rect">
            <a:avLst/>
          </a:prstGeom>
          <a:solidFill>
            <a:schemeClr val="bg1">
              <a:lumMod val="85000"/>
            </a:schemeClr>
          </a:solidFill>
        </p:spPr>
        <p:txBody>
          <a:bodyPr wrap="square" rtlCol="0">
            <a:spAutoFit/>
          </a:bodyPr>
          <a:lstStyle/>
          <a:p>
            <a:r>
              <a:rPr lang="en-US" b="1" dirty="0" smtClean="0"/>
              <a:t>Task #3 (10 min) !!! BONUS !!!</a:t>
            </a:r>
            <a:endParaRPr lang="en-US" b="1" dirty="0"/>
          </a:p>
        </p:txBody>
      </p:sp>
      <p:grpSp>
        <p:nvGrpSpPr>
          <p:cNvPr id="7" name="Group 6"/>
          <p:cNvGrpSpPr/>
          <p:nvPr/>
        </p:nvGrpSpPr>
        <p:grpSpPr>
          <a:xfrm>
            <a:off x="1066801" y="2321867"/>
            <a:ext cx="6934199" cy="646331"/>
            <a:chOff x="1066801" y="2321867"/>
            <a:chExt cx="6934199" cy="646331"/>
          </a:xfrm>
        </p:grpSpPr>
        <p:pic>
          <p:nvPicPr>
            <p:cNvPr id="8" name="Picture 7"/>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9" name="TextBox 8"/>
            <p:cNvSpPr txBox="1"/>
            <p:nvPr/>
          </p:nvSpPr>
          <p:spPr>
            <a:xfrm>
              <a:off x="1524000" y="2321867"/>
              <a:ext cx="6477000" cy="646331"/>
            </a:xfrm>
            <a:prstGeom prst="rect">
              <a:avLst/>
            </a:prstGeom>
            <a:noFill/>
          </p:spPr>
          <p:txBody>
            <a:bodyPr wrap="square" rtlCol="0">
              <a:spAutoFit/>
            </a:bodyPr>
            <a:lstStyle/>
            <a:p>
              <a:r>
                <a:rPr lang="en-US" sz="1200" b="1" dirty="0" smtClean="0"/>
                <a:t>Here’s a tip: </a:t>
              </a:r>
            </a:p>
            <a:p>
              <a:r>
                <a:rPr lang="en-US" sz="1200" dirty="0" smtClean="0"/>
                <a:t>Remember, some cmdlets leverage built –in named parameters! Don’t go crazy, it’s not that hard!</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Wednesday….</a:t>
            </a:r>
            <a:endParaRPr lang="en-US" dirty="0"/>
          </a:p>
        </p:txBody>
      </p:sp>
      <p:sp>
        <p:nvSpPr>
          <p:cNvPr id="3" name="Content Placeholder 2"/>
          <p:cNvSpPr>
            <a:spLocks noGrp="1"/>
          </p:cNvSpPr>
          <p:nvPr>
            <p:ph idx="1"/>
          </p:nvPr>
        </p:nvSpPr>
        <p:spPr>
          <a:xfrm>
            <a:off x="917575" y="838200"/>
            <a:ext cx="7369175" cy="2362200"/>
          </a:xfrm>
        </p:spPr>
        <p:txBody>
          <a:bodyPr numCol="2"/>
          <a:lstStyle/>
          <a:p>
            <a:r>
              <a:rPr lang="en-US" sz="2000" b="1" dirty="0" smtClean="0"/>
              <a:t>Module 3: Pipeline</a:t>
            </a:r>
          </a:p>
          <a:p>
            <a:pPr lvl="1"/>
            <a:r>
              <a:rPr lang="en-US" sz="1800" dirty="0" smtClean="0"/>
              <a:t>Pipeline</a:t>
            </a:r>
          </a:p>
          <a:p>
            <a:pPr lvl="1"/>
            <a:r>
              <a:rPr lang="en-US" sz="1800" dirty="0" smtClean="0"/>
              <a:t>Comparison Operators</a:t>
            </a:r>
          </a:p>
          <a:p>
            <a:pPr lvl="1"/>
            <a:r>
              <a:rPr lang="en-US" sz="1800" dirty="0" smtClean="0"/>
              <a:t>Where-Object</a:t>
            </a:r>
          </a:p>
          <a:p>
            <a:pPr lvl="1"/>
            <a:r>
              <a:rPr lang="en-US" sz="1800" dirty="0" smtClean="0"/>
              <a:t>Select-Object</a:t>
            </a:r>
          </a:p>
          <a:p>
            <a:pPr lvl="1"/>
            <a:r>
              <a:rPr lang="en-US" sz="1800" dirty="0" smtClean="0"/>
              <a:t>Sort-Object</a:t>
            </a:r>
          </a:p>
          <a:p>
            <a:pPr lvl="1"/>
            <a:r>
              <a:rPr lang="en-US" sz="1800" dirty="0" smtClean="0"/>
              <a:t>Format-Table</a:t>
            </a:r>
          </a:p>
          <a:p>
            <a:pPr lvl="1"/>
            <a:endParaRPr lang="en-US" sz="1800" dirty="0" smtClean="0"/>
          </a:p>
          <a:p>
            <a:pPr lvl="1"/>
            <a:endParaRPr lang="en-US" sz="1800" dirty="0"/>
          </a:p>
          <a:p>
            <a:pPr lvl="1"/>
            <a:r>
              <a:rPr lang="en-US" sz="1800" dirty="0" smtClean="0"/>
              <a:t>Format-List</a:t>
            </a:r>
          </a:p>
          <a:p>
            <a:pPr lvl="1"/>
            <a:r>
              <a:rPr lang="en-US" sz="1800" dirty="0" smtClean="0"/>
              <a:t>Get-Content</a:t>
            </a:r>
          </a:p>
          <a:p>
            <a:pPr lvl="1"/>
            <a:r>
              <a:rPr lang="en-US" sz="1800" dirty="0" smtClean="0"/>
              <a:t>Import-CSV</a:t>
            </a:r>
          </a:p>
          <a:p>
            <a:pPr lvl="1"/>
            <a:r>
              <a:rPr lang="en-US" sz="1800" dirty="0" smtClean="0"/>
              <a:t>Add-Content</a:t>
            </a:r>
          </a:p>
          <a:p>
            <a:pPr lvl="1"/>
            <a:r>
              <a:rPr lang="en-US" sz="1800" dirty="0" smtClean="0"/>
              <a:t>Set-Content</a:t>
            </a:r>
          </a:p>
          <a:p>
            <a:pPr lvl="1"/>
            <a:r>
              <a:rPr lang="en-US" sz="1800" dirty="0" smtClean="0"/>
              <a:t>Export-CSV</a:t>
            </a:r>
          </a:p>
          <a:p>
            <a:endParaRPr lang="en-US" sz="2000" dirty="0" smtClean="0"/>
          </a:p>
        </p:txBody>
      </p:sp>
      <p:sp>
        <p:nvSpPr>
          <p:cNvPr id="4" name="TextBox 3"/>
          <p:cNvSpPr txBox="1"/>
          <p:nvPr/>
        </p:nvSpPr>
        <p:spPr>
          <a:xfrm>
            <a:off x="990600" y="3581400"/>
            <a:ext cx="7315200" cy="369332"/>
          </a:xfrm>
          <a:prstGeom prst="rect">
            <a:avLst/>
          </a:prstGeom>
          <a:noFill/>
        </p:spPr>
        <p:txBody>
          <a:bodyPr wrap="square" rtlCol="0">
            <a:spAutoFit/>
          </a:bodyPr>
          <a:lstStyle/>
          <a:p>
            <a:endParaRPr lang="en-US" dirty="0"/>
          </a:p>
        </p:txBody>
      </p:sp>
      <p:sp>
        <p:nvSpPr>
          <p:cNvPr id="5" name="Content Placeholder 2"/>
          <p:cNvSpPr txBox="1">
            <a:spLocks/>
          </p:cNvSpPr>
          <p:nvPr/>
        </p:nvSpPr>
        <p:spPr bwMode="auto">
          <a:xfrm>
            <a:off x="910044" y="3429000"/>
            <a:ext cx="7369175" cy="2362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182880" bIns="0" numCol="2" anchor="t" anchorCtr="0" compatLnSpc="1">
            <a:prstTxWarp prst="textNoShape">
              <a:avLst/>
            </a:prstTxWarp>
          </a:bodyPr>
          <a:lstStyle>
            <a:lvl1pPr marL="228600" indent="-228600" algn="l" rtl="0" eaLnBrk="0" fontAlgn="base" hangingPunct="0">
              <a:spcBef>
                <a:spcPct val="50000"/>
              </a:spcBef>
              <a:spcAft>
                <a:spcPct val="0"/>
              </a:spcAft>
              <a:buClr>
                <a:schemeClr val="tx2"/>
              </a:buClr>
              <a:buChar char="•"/>
              <a:defRPr sz="2400">
                <a:solidFill>
                  <a:schemeClr val="tx1"/>
                </a:solidFill>
                <a:latin typeface="+mn-lt"/>
                <a:ea typeface="ＭＳ Ｐゴシック" pitchFamily="-106" charset="-128"/>
                <a:cs typeface="ＭＳ Ｐゴシック" charset="-128"/>
              </a:defRPr>
            </a:lvl1pPr>
            <a:lvl2pPr marL="628650" indent="-285750" algn="l" rtl="0" eaLnBrk="0" fontAlgn="base" hangingPunct="0">
              <a:spcBef>
                <a:spcPct val="30000"/>
              </a:spcBef>
              <a:spcAft>
                <a:spcPct val="0"/>
              </a:spcAft>
              <a:buClr>
                <a:schemeClr val="tx2"/>
              </a:buClr>
              <a:buFont typeface="Arial" charset="0"/>
              <a:buChar char="–"/>
              <a:defRPr sz="2000">
                <a:solidFill>
                  <a:schemeClr val="tx1"/>
                </a:solidFill>
                <a:latin typeface="+mn-lt"/>
                <a:ea typeface="ＭＳ Ｐゴシック" pitchFamily="-106" charset="-128"/>
                <a:cs typeface="ＭＳ Ｐゴシック" charset="0"/>
              </a:defRPr>
            </a:lvl2pPr>
            <a:lvl3pPr marL="914400" indent="-171450" algn="l" rtl="0" eaLnBrk="0" fontAlgn="base" hangingPunct="0">
              <a:spcBef>
                <a:spcPct val="25000"/>
              </a:spcBef>
              <a:spcAft>
                <a:spcPct val="0"/>
              </a:spcAft>
              <a:buClr>
                <a:schemeClr val="tx2"/>
              </a:buClr>
              <a:buChar char="•"/>
              <a:defRPr sz="2400">
                <a:solidFill>
                  <a:schemeClr val="tx1"/>
                </a:solidFill>
                <a:latin typeface="+mn-lt"/>
                <a:ea typeface="ＭＳ Ｐゴシック" pitchFamily="-106" charset="-128"/>
                <a:cs typeface="ＭＳ Ｐゴシック" charset="0"/>
              </a:defRPr>
            </a:lvl3pPr>
            <a:lvl4pPr marL="1257300" indent="-228600" algn="l" rtl="0" eaLnBrk="0" fontAlgn="base" hangingPunct="0">
              <a:spcBef>
                <a:spcPct val="20000"/>
              </a:spcBef>
              <a:spcAft>
                <a:spcPct val="0"/>
              </a:spcAft>
              <a:buClr>
                <a:schemeClr val="tx2"/>
              </a:buClr>
              <a:buFont typeface="Arial" charset="0"/>
              <a:buChar char="–"/>
              <a:defRPr sz="1600">
                <a:solidFill>
                  <a:schemeClr val="tx1"/>
                </a:solidFill>
                <a:latin typeface="+mn-lt"/>
                <a:ea typeface="ＭＳ Ｐゴシック" pitchFamily="-106" charset="-128"/>
                <a:cs typeface="ＭＳ Ｐゴシック" charset="0"/>
              </a:defRPr>
            </a:lvl4pPr>
            <a:lvl5pPr marL="1485900" indent="-114300" algn="l" rtl="0" eaLnBrk="0" fontAlgn="base" hangingPunct="0">
              <a:spcBef>
                <a:spcPct val="20000"/>
              </a:spcBef>
              <a:spcAft>
                <a:spcPct val="0"/>
              </a:spcAft>
              <a:buClr>
                <a:schemeClr val="tx2"/>
              </a:buClr>
              <a:buChar char="•"/>
              <a:defRPr sz="1400">
                <a:solidFill>
                  <a:schemeClr val="tx1"/>
                </a:solidFill>
                <a:latin typeface="+mn-lt"/>
                <a:ea typeface="ＭＳ Ｐゴシック" pitchFamily="-106" charset="-128"/>
                <a:cs typeface="ＭＳ Ｐゴシック" charset="0"/>
              </a:defRPr>
            </a:lvl5pPr>
            <a:lvl6pPr marL="19431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6pPr>
            <a:lvl7pPr marL="24003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7pPr>
            <a:lvl8pPr marL="28575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8pPr>
            <a:lvl9pPr marL="3314700" indent="-114300" algn="l" rtl="0" fontAlgn="base">
              <a:spcBef>
                <a:spcPct val="20000"/>
              </a:spcBef>
              <a:spcAft>
                <a:spcPct val="0"/>
              </a:spcAft>
              <a:buClr>
                <a:schemeClr val="tx2"/>
              </a:buClr>
              <a:buChar char="•"/>
              <a:defRPr sz="1400">
                <a:solidFill>
                  <a:schemeClr val="tx1"/>
                </a:solidFill>
                <a:latin typeface="+mn-lt"/>
                <a:ea typeface="ＭＳ Ｐゴシック" pitchFamily="-106" charset="-128"/>
              </a:defRPr>
            </a:lvl9pPr>
          </a:lstStyle>
          <a:p>
            <a:r>
              <a:rPr lang="en-US" sz="2000" b="1" dirty="0" smtClean="0"/>
              <a:t>Module 4: Scripting</a:t>
            </a:r>
          </a:p>
          <a:p>
            <a:pPr lvl="1"/>
            <a:r>
              <a:rPr lang="en-US" sz="1800" dirty="0" smtClean="0"/>
              <a:t>Variables</a:t>
            </a:r>
          </a:p>
          <a:p>
            <a:pPr lvl="1"/>
            <a:r>
              <a:rPr lang="en-US" sz="1800" dirty="0" smtClean="0"/>
              <a:t>Arrays</a:t>
            </a:r>
          </a:p>
          <a:p>
            <a:pPr lvl="1"/>
            <a:r>
              <a:rPr lang="en-US" sz="1800" dirty="0" smtClean="0"/>
              <a:t>Constants</a:t>
            </a:r>
          </a:p>
          <a:p>
            <a:pPr lvl="1"/>
            <a:r>
              <a:rPr lang="en-US" sz="1800" dirty="0" smtClean="0"/>
              <a:t>Looping</a:t>
            </a:r>
          </a:p>
          <a:p>
            <a:pPr lvl="1"/>
            <a:r>
              <a:rPr lang="en-US" sz="1800" dirty="0" smtClean="0"/>
              <a:t>Flow Control</a:t>
            </a:r>
          </a:p>
          <a:p>
            <a:pPr lvl="1"/>
            <a:endParaRPr lang="en-US" sz="1800" dirty="0" smtClean="0"/>
          </a:p>
          <a:p>
            <a:pPr lvl="1"/>
            <a:r>
              <a:rPr lang="en-US" sz="1800" dirty="0" smtClean="0"/>
              <a:t>Functions</a:t>
            </a:r>
          </a:p>
          <a:p>
            <a:pPr lvl="1"/>
            <a:r>
              <a:rPr lang="en-US" sz="1800" dirty="0" smtClean="0"/>
              <a:t>Arguments vs. Parameters</a:t>
            </a:r>
          </a:p>
          <a:p>
            <a:endParaRPr lang="en-US" sz="2000" dirty="0" smtClean="0"/>
          </a:p>
        </p:txBody>
      </p:sp>
    </p:spTree>
    <p:extLst>
      <p:ext uri="{BB962C8B-B14F-4D97-AF65-F5344CB8AC3E}">
        <p14:creationId xmlns="" xmlns:p14="http://schemas.microsoft.com/office/powerpoint/2010/main" val="24928671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3: Pipeline</a:t>
            </a:r>
            <a:endParaRPr lang="en-US" dirty="0"/>
          </a:p>
        </p:txBody>
      </p:sp>
      <p:sp>
        <p:nvSpPr>
          <p:cNvPr id="2" name="Subtitle 1"/>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6875344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Pipeline</a:t>
            </a:r>
            <a:endParaRPr lang="en-US" dirty="0"/>
          </a:p>
        </p:txBody>
      </p:sp>
      <p:sp>
        <p:nvSpPr>
          <p:cNvPr id="5" name="Content Placeholder 4"/>
          <p:cNvSpPr>
            <a:spLocks noGrp="1"/>
          </p:cNvSpPr>
          <p:nvPr>
            <p:ph idx="1"/>
          </p:nvPr>
        </p:nvSpPr>
        <p:spPr/>
        <p:txBody>
          <a:bodyPr/>
          <a:lstStyle/>
          <a:p>
            <a:r>
              <a:rPr lang="en-US" dirty="0" smtClean="0"/>
              <a:t>All </a:t>
            </a:r>
            <a:r>
              <a:rPr lang="en-US" dirty="0" err="1" smtClean="0"/>
              <a:t>cmdlets</a:t>
            </a:r>
            <a:r>
              <a:rPr lang="en-US" dirty="0" smtClean="0"/>
              <a:t> run in a pipeline</a:t>
            </a:r>
          </a:p>
          <a:p>
            <a:r>
              <a:rPr lang="en-US" dirty="0" smtClean="0"/>
              <a:t>Use a cmdlet to retrieve a collection of objects and hand that collection over to a second cmdlet, one that does further processing (filtering, grouping, sorting, etc.)</a:t>
            </a:r>
          </a:p>
          <a:p>
            <a:r>
              <a:rPr lang="en-US" dirty="0" smtClean="0"/>
              <a:t>Uses pipe separator character (|) that separates two commands</a:t>
            </a:r>
          </a:p>
          <a:p>
            <a:r>
              <a:rPr lang="en-US" dirty="0" smtClean="0"/>
              <a:t>Example</a:t>
            </a:r>
          </a:p>
          <a:p>
            <a:pPr marL="342900" lvl="1" indent="0">
              <a:buNone/>
            </a:pPr>
            <a:r>
              <a:rPr lang="en-US" sz="1600" dirty="0" smtClean="0">
                <a:latin typeface="Consolas" pitchFamily="49" charset="0"/>
                <a:cs typeface="Consolas" pitchFamily="49" charset="0"/>
              </a:rPr>
              <a:t>Get-Service </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Out-Default</a:t>
            </a:r>
            <a:endParaRPr lang="en-US" sz="1600" dirty="0">
              <a:latin typeface="Consolas" pitchFamily="49" charset="0"/>
              <a:cs typeface="Consolas" pitchFamily="49" charset="0"/>
            </a:endParaRPr>
          </a:p>
        </p:txBody>
      </p:sp>
    </p:spTree>
    <p:extLst>
      <p:ext uri="{BB962C8B-B14F-4D97-AF65-F5344CB8AC3E}">
        <p14:creationId xmlns="" xmlns:p14="http://schemas.microsoft.com/office/powerpoint/2010/main" val="24729275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Operators</a:t>
            </a:r>
            <a:endParaRPr lang="en-US" dirty="0"/>
          </a:p>
        </p:txBody>
      </p:sp>
      <p:sp>
        <p:nvSpPr>
          <p:cNvPr id="3" name="Content Placeholder 2"/>
          <p:cNvSpPr>
            <a:spLocks noGrp="1"/>
          </p:cNvSpPr>
          <p:nvPr>
            <p:ph idx="1"/>
          </p:nvPr>
        </p:nvSpPr>
        <p:spPr/>
        <p:txBody>
          <a:bodyPr/>
          <a:lstStyle/>
          <a:p>
            <a:r>
              <a:rPr lang="en-US" dirty="0" smtClean="0"/>
              <a:t>Describes the operators that compare values in PowerShell and finds values that match specified patterns.  </a:t>
            </a:r>
          </a:p>
          <a:p>
            <a:pPr lvl="1" fontAlgn="ctr"/>
            <a:r>
              <a:rPr lang="en-US" sz="1400" dirty="0"/>
              <a:t>-</a:t>
            </a:r>
            <a:r>
              <a:rPr lang="en-US" sz="1400" dirty="0" err="1"/>
              <a:t>eq</a:t>
            </a:r>
            <a:r>
              <a:rPr lang="en-US" sz="1400" dirty="0"/>
              <a:t> = equal to</a:t>
            </a:r>
          </a:p>
          <a:p>
            <a:pPr lvl="1" fontAlgn="ctr"/>
            <a:r>
              <a:rPr lang="en-US" sz="1400" dirty="0"/>
              <a:t>-ne = Not equal to</a:t>
            </a:r>
          </a:p>
          <a:p>
            <a:pPr lvl="1" fontAlgn="ctr"/>
            <a:r>
              <a:rPr lang="en-US" sz="1400" dirty="0"/>
              <a:t>-</a:t>
            </a:r>
            <a:r>
              <a:rPr lang="en-US" sz="1400" dirty="0" err="1"/>
              <a:t>gt</a:t>
            </a:r>
            <a:r>
              <a:rPr lang="en-US" sz="1400" dirty="0"/>
              <a:t> = Greater than</a:t>
            </a:r>
          </a:p>
          <a:p>
            <a:pPr lvl="1" fontAlgn="ctr"/>
            <a:r>
              <a:rPr lang="en-US" sz="1400" dirty="0"/>
              <a:t>-</a:t>
            </a:r>
            <a:r>
              <a:rPr lang="en-US" sz="1400" dirty="0" err="1"/>
              <a:t>ge</a:t>
            </a:r>
            <a:r>
              <a:rPr lang="en-US" sz="1400" dirty="0"/>
              <a:t> = Greater than or equal to</a:t>
            </a:r>
          </a:p>
          <a:p>
            <a:pPr lvl="1" fontAlgn="ctr"/>
            <a:r>
              <a:rPr lang="en-US" sz="1400" dirty="0"/>
              <a:t>-</a:t>
            </a:r>
            <a:r>
              <a:rPr lang="en-US" sz="1400" dirty="0" err="1"/>
              <a:t>lt</a:t>
            </a:r>
            <a:r>
              <a:rPr lang="en-US" sz="1400" dirty="0"/>
              <a:t> = less than</a:t>
            </a:r>
          </a:p>
          <a:p>
            <a:pPr lvl="1" fontAlgn="ctr"/>
            <a:r>
              <a:rPr lang="en-US" sz="1400" dirty="0"/>
              <a:t>-le = less than or equal to</a:t>
            </a:r>
          </a:p>
          <a:p>
            <a:pPr lvl="1" fontAlgn="ctr"/>
            <a:r>
              <a:rPr lang="en-US" sz="1400" dirty="0"/>
              <a:t>-like = match using the wildcard character (*)</a:t>
            </a:r>
          </a:p>
          <a:p>
            <a:pPr lvl="1" fontAlgn="ctr"/>
            <a:r>
              <a:rPr lang="en-US" sz="1400" dirty="0"/>
              <a:t>-</a:t>
            </a:r>
            <a:r>
              <a:rPr lang="en-US" sz="1400" dirty="0" err="1"/>
              <a:t>notlike</a:t>
            </a:r>
            <a:r>
              <a:rPr lang="en-US" sz="1400" dirty="0"/>
              <a:t> = Does not match using the wildcard character (*)</a:t>
            </a:r>
          </a:p>
          <a:p>
            <a:pPr lvl="1" fontAlgn="ctr"/>
            <a:r>
              <a:rPr lang="en-US" sz="1400" dirty="0"/>
              <a:t>-match = matches a string using regular expressions</a:t>
            </a:r>
          </a:p>
          <a:p>
            <a:pPr lvl="1" fontAlgn="ctr"/>
            <a:r>
              <a:rPr lang="en-US" sz="1400" dirty="0"/>
              <a:t>-</a:t>
            </a:r>
            <a:r>
              <a:rPr lang="en-US" sz="1400" dirty="0" err="1"/>
              <a:t>notmatch</a:t>
            </a:r>
            <a:r>
              <a:rPr lang="en-US" sz="1400" dirty="0"/>
              <a:t> = Does not match a string</a:t>
            </a:r>
          </a:p>
          <a:p>
            <a:pPr lvl="1" fontAlgn="ctr"/>
            <a:r>
              <a:rPr lang="en-US" sz="1400" dirty="0"/>
              <a:t>-contains = Includes an identical value that is not part of a value.  Returns a </a:t>
            </a:r>
            <a:r>
              <a:rPr lang="en-US" sz="1400" dirty="0" err="1"/>
              <a:t>boolean</a:t>
            </a:r>
            <a:r>
              <a:rPr lang="en-US" sz="1400" dirty="0"/>
              <a:t> value (true/false)</a:t>
            </a:r>
          </a:p>
          <a:p>
            <a:pPr lvl="1" fontAlgn="ctr"/>
            <a:r>
              <a:rPr lang="en-US" sz="1400" dirty="0"/>
              <a:t>-</a:t>
            </a:r>
            <a:r>
              <a:rPr lang="en-US" sz="1400" dirty="0" err="1"/>
              <a:t>notcontains</a:t>
            </a:r>
            <a:r>
              <a:rPr lang="en-US" sz="1400" dirty="0"/>
              <a:t>  = Does not include an identical value.  Returns a </a:t>
            </a:r>
            <a:r>
              <a:rPr lang="en-US" sz="1400" dirty="0" err="1"/>
              <a:t>boolean</a:t>
            </a:r>
            <a:r>
              <a:rPr lang="en-US" sz="1400" dirty="0"/>
              <a:t> value</a:t>
            </a:r>
          </a:p>
          <a:p>
            <a:pPr lvl="1" fontAlgn="ctr"/>
            <a:r>
              <a:rPr lang="en-US" sz="1400" dirty="0"/>
              <a:t>-replace = Changes the specified elements of a value</a:t>
            </a:r>
          </a:p>
          <a:p>
            <a:endParaRPr lang="en-US" dirty="0"/>
          </a:p>
        </p:txBody>
      </p:sp>
    </p:spTree>
    <p:extLst>
      <p:ext uri="{BB962C8B-B14F-4D97-AF65-F5344CB8AC3E}">
        <p14:creationId xmlns="" xmlns:p14="http://schemas.microsoft.com/office/powerpoint/2010/main" val="18691305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Where-object</a:t>
            </a:r>
            <a:endParaRPr lang="en-US" dirty="0"/>
          </a:p>
        </p:txBody>
      </p:sp>
      <p:sp>
        <p:nvSpPr>
          <p:cNvPr id="3" name="Content Placeholder 2"/>
          <p:cNvSpPr>
            <a:spLocks noGrp="1"/>
          </p:cNvSpPr>
          <p:nvPr>
            <p:ph idx="1"/>
          </p:nvPr>
        </p:nvSpPr>
        <p:spPr/>
        <p:txBody>
          <a:bodyPr/>
          <a:lstStyle/>
          <a:p>
            <a:r>
              <a:rPr lang="en-US" dirty="0" smtClean="0"/>
              <a:t>Allows us to filter a set of objects out of the Pipeline based on certain criteria.</a:t>
            </a:r>
          </a:p>
          <a:p>
            <a:r>
              <a:rPr lang="en-US" dirty="0" smtClean="0"/>
              <a:t>Example</a:t>
            </a:r>
          </a:p>
          <a:p>
            <a:pPr lvl="1"/>
            <a:r>
              <a:rPr lang="en-US" dirty="0" smtClean="0"/>
              <a:t>Filters objects out of the pipeline based on certain criteria</a:t>
            </a:r>
          </a:p>
          <a:p>
            <a:pPr marL="742950" lvl="2" indent="0">
              <a:buNone/>
            </a:pPr>
            <a:r>
              <a:rPr lang="en-US" sz="1600" dirty="0">
                <a:latin typeface="Consolas" pitchFamily="49" charset="0"/>
                <a:cs typeface="Consolas" pitchFamily="49" charset="0"/>
              </a:rPr>
              <a:t>Get-Service | </a:t>
            </a:r>
            <a:r>
              <a:rPr lang="en-US" sz="1600" dirty="0" smtClean="0">
                <a:latin typeface="Consolas" pitchFamily="49" charset="0"/>
                <a:cs typeface="Consolas" pitchFamily="49" charset="0"/>
              </a:rPr>
              <a:t>Where-Object {$_.Status </a:t>
            </a:r>
            <a:r>
              <a:rPr lang="en-US" sz="1600" dirty="0">
                <a:latin typeface="Consolas" pitchFamily="49" charset="0"/>
                <a:cs typeface="Consolas" pitchFamily="49" charset="0"/>
              </a:rPr>
              <a:t>–</a:t>
            </a:r>
            <a:r>
              <a:rPr lang="en-US" sz="1600" dirty="0" err="1">
                <a:latin typeface="Consolas" pitchFamily="49" charset="0"/>
                <a:cs typeface="Consolas" pitchFamily="49" charset="0"/>
              </a:rPr>
              <a:t>eq</a:t>
            </a:r>
            <a:r>
              <a:rPr lang="en-US" sz="1600" dirty="0">
                <a:latin typeface="Consolas" pitchFamily="49" charset="0"/>
                <a:cs typeface="Consolas" pitchFamily="49" charset="0"/>
              </a:rPr>
              <a:t> “Running”}</a:t>
            </a:r>
          </a:p>
          <a:p>
            <a:r>
              <a:rPr lang="en-US" dirty="0" smtClean="0"/>
              <a:t>{} = Brackets are used with Where-Object filters.  These contain a PowerShell script block that will be executed.  It works by inspecting each object that is passed into it.  </a:t>
            </a:r>
          </a:p>
          <a:p>
            <a:r>
              <a:rPr lang="en-US" dirty="0" smtClean="0"/>
              <a:t>$_ = Special characters that represent each object being transferred across the pipeline.</a:t>
            </a:r>
            <a:endParaRPr lang="en-US" dirty="0"/>
          </a:p>
        </p:txBody>
      </p:sp>
    </p:spTree>
    <p:extLst>
      <p:ext uri="{BB962C8B-B14F-4D97-AF65-F5344CB8AC3E}">
        <p14:creationId xmlns="" xmlns:p14="http://schemas.microsoft.com/office/powerpoint/2010/main" val="41171139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Object</a:t>
            </a:r>
            <a:endParaRPr lang="en-US" dirty="0"/>
          </a:p>
        </p:txBody>
      </p:sp>
      <p:sp>
        <p:nvSpPr>
          <p:cNvPr id="3" name="Content Placeholder 2"/>
          <p:cNvSpPr>
            <a:spLocks noGrp="1"/>
          </p:cNvSpPr>
          <p:nvPr>
            <p:ph idx="1"/>
          </p:nvPr>
        </p:nvSpPr>
        <p:spPr/>
        <p:txBody>
          <a:bodyPr/>
          <a:lstStyle/>
          <a:p>
            <a:r>
              <a:rPr lang="en-US" dirty="0" smtClean="0"/>
              <a:t>Used to either return specified properties of an object or return a particular group of objects that have been sorted.</a:t>
            </a:r>
          </a:p>
          <a:p>
            <a:r>
              <a:rPr lang="en-US" dirty="0" smtClean="0"/>
              <a:t>Example</a:t>
            </a:r>
          </a:p>
          <a:p>
            <a:pPr marL="342900" lvl="1" indent="0">
              <a:buNone/>
            </a:pPr>
            <a:r>
              <a:rPr lang="en-US" sz="1600" dirty="0" smtClean="0">
                <a:latin typeface="Consolas" pitchFamily="49" charset="0"/>
                <a:cs typeface="Consolas" pitchFamily="49" charset="0"/>
              </a:rPr>
              <a:t>Get-</a:t>
            </a:r>
            <a:r>
              <a:rPr lang="en-US" sz="1600" dirty="0" err="1" smtClean="0">
                <a:latin typeface="Consolas" pitchFamily="49" charset="0"/>
                <a:cs typeface="Consolas" pitchFamily="49" charset="0"/>
              </a:rPr>
              <a:t>ChildItem</a:t>
            </a:r>
            <a:r>
              <a:rPr lang="en-US" sz="1600" dirty="0" smtClean="0">
                <a:latin typeface="Consolas" pitchFamily="49" charset="0"/>
                <a:cs typeface="Consolas" pitchFamily="49" charset="0"/>
              </a:rPr>
              <a:t> C:\</a:t>
            </a:r>
            <a:r>
              <a:rPr lang="en-US" sz="1600" dirty="0">
                <a:latin typeface="Consolas" pitchFamily="49" charset="0"/>
                <a:cs typeface="Consolas" pitchFamily="49" charset="0"/>
              </a:rPr>
              <a:t>Windows\*.* | </a:t>
            </a:r>
            <a:r>
              <a:rPr lang="en-US" sz="1600" dirty="0" smtClean="0">
                <a:latin typeface="Consolas" pitchFamily="49" charset="0"/>
                <a:cs typeface="Consolas" pitchFamily="49" charset="0"/>
              </a:rPr>
              <a:t>Sort-Object Length –Descending | </a:t>
            </a:r>
            <a:r>
              <a:rPr lang="en-US" sz="1600" dirty="0">
                <a:latin typeface="Consolas" pitchFamily="49" charset="0"/>
                <a:cs typeface="Consolas" pitchFamily="49" charset="0"/>
              </a:rPr>
              <a:t>Select-Object </a:t>
            </a:r>
            <a:r>
              <a:rPr lang="en-US" sz="1600" dirty="0" smtClean="0">
                <a:latin typeface="Consolas" pitchFamily="49" charset="0"/>
                <a:cs typeface="Consolas" pitchFamily="49" charset="0"/>
              </a:rPr>
              <a:t>–First </a:t>
            </a:r>
            <a:r>
              <a:rPr lang="en-US" sz="1600" dirty="0">
                <a:latin typeface="Consolas" pitchFamily="49" charset="0"/>
                <a:cs typeface="Consolas" pitchFamily="49" charset="0"/>
              </a:rPr>
              <a:t>3</a:t>
            </a:r>
          </a:p>
        </p:txBody>
      </p:sp>
    </p:spTree>
    <p:extLst>
      <p:ext uri="{BB962C8B-B14F-4D97-AF65-F5344CB8AC3E}">
        <p14:creationId xmlns="" xmlns:p14="http://schemas.microsoft.com/office/powerpoint/2010/main" val="33314209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Sort-object</a:t>
            </a:r>
            <a:endParaRPr lang="en-US" dirty="0"/>
          </a:p>
        </p:txBody>
      </p:sp>
      <p:sp>
        <p:nvSpPr>
          <p:cNvPr id="3" name="Content Placeholder 2"/>
          <p:cNvSpPr>
            <a:spLocks noGrp="1"/>
          </p:cNvSpPr>
          <p:nvPr>
            <p:ph idx="1"/>
          </p:nvPr>
        </p:nvSpPr>
        <p:spPr/>
        <p:txBody>
          <a:bodyPr/>
          <a:lstStyle/>
          <a:p>
            <a:r>
              <a:rPr lang="en-US" dirty="0" smtClean="0"/>
              <a:t>Lists how you want the data sorted, like name, handle status, all are properties you can find by using Get-Member, separated by commas.</a:t>
            </a:r>
          </a:p>
          <a:p>
            <a:r>
              <a:rPr lang="en-US" dirty="0" smtClean="0"/>
              <a:t>Key Parameters</a:t>
            </a:r>
          </a:p>
          <a:p>
            <a:pPr lvl="1"/>
            <a:r>
              <a:rPr lang="en-US" dirty="0" smtClean="0"/>
              <a:t>-Property = Determine which property to sort by</a:t>
            </a:r>
          </a:p>
          <a:p>
            <a:pPr lvl="1"/>
            <a:r>
              <a:rPr lang="en-US" dirty="0" smtClean="0"/>
              <a:t>-Descending = Default is ascending order, this will change that.</a:t>
            </a:r>
          </a:p>
          <a:p>
            <a:r>
              <a:rPr lang="en-US" dirty="0" smtClean="0"/>
              <a:t>Example</a:t>
            </a:r>
          </a:p>
          <a:p>
            <a:pPr lvl="1"/>
            <a:r>
              <a:rPr lang="en-US" dirty="0"/>
              <a:t>Sorts processes by working set in descending </a:t>
            </a:r>
            <a:r>
              <a:rPr lang="en-US" dirty="0" smtClean="0"/>
              <a:t>order</a:t>
            </a:r>
            <a:endParaRPr lang="en-US" dirty="0"/>
          </a:p>
          <a:p>
            <a:pPr marL="342900" lvl="1" indent="0">
              <a:buNone/>
            </a:pPr>
            <a:r>
              <a:rPr lang="en-US" sz="1600" dirty="0" smtClean="0">
                <a:latin typeface="Consolas" pitchFamily="49" charset="0"/>
                <a:cs typeface="Consolas" pitchFamily="49" charset="0"/>
              </a:rPr>
              <a:t>	</a:t>
            </a:r>
            <a:r>
              <a:rPr lang="en-US" sz="1400" dirty="0" smtClean="0">
                <a:latin typeface="Consolas" pitchFamily="49" charset="0"/>
                <a:cs typeface="Consolas" pitchFamily="49" charset="0"/>
              </a:rPr>
              <a:t>Get-Process </a:t>
            </a:r>
            <a:r>
              <a:rPr lang="en-US" sz="1400" dirty="0">
                <a:latin typeface="Consolas" pitchFamily="49" charset="0"/>
                <a:cs typeface="Consolas" pitchFamily="49" charset="0"/>
              </a:rPr>
              <a:t>| </a:t>
            </a:r>
            <a:r>
              <a:rPr lang="en-US" sz="1400" dirty="0" smtClean="0">
                <a:latin typeface="Consolas" pitchFamily="49" charset="0"/>
                <a:cs typeface="Consolas" pitchFamily="49" charset="0"/>
              </a:rPr>
              <a:t>Sort-Object –Property </a:t>
            </a:r>
            <a:r>
              <a:rPr lang="en-US" sz="1400" dirty="0" err="1" smtClean="0">
                <a:latin typeface="Consolas" pitchFamily="49" charset="0"/>
                <a:cs typeface="Consolas" pitchFamily="49" charset="0"/>
              </a:rPr>
              <a:t>WorkingSet</a:t>
            </a:r>
            <a:r>
              <a:rPr lang="en-US" sz="1400" dirty="0" smtClean="0">
                <a:latin typeface="Consolas" pitchFamily="49" charset="0"/>
                <a:cs typeface="Consolas" pitchFamily="49" charset="0"/>
              </a:rPr>
              <a:t> –Descending</a:t>
            </a:r>
            <a:endParaRPr lang="en-US" sz="1800" dirty="0" smtClean="0"/>
          </a:p>
        </p:txBody>
      </p:sp>
    </p:spTree>
    <p:extLst>
      <p:ext uri="{BB962C8B-B14F-4D97-AF65-F5344CB8AC3E}">
        <p14:creationId xmlns="" xmlns:p14="http://schemas.microsoft.com/office/powerpoint/2010/main" val="21736888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Format-Table</a:t>
            </a:r>
            <a:endParaRPr lang="en-US" dirty="0"/>
          </a:p>
        </p:txBody>
      </p:sp>
      <p:sp>
        <p:nvSpPr>
          <p:cNvPr id="3" name="Content Placeholder 2"/>
          <p:cNvSpPr>
            <a:spLocks noGrp="1"/>
          </p:cNvSpPr>
          <p:nvPr>
            <p:ph idx="1"/>
          </p:nvPr>
        </p:nvSpPr>
        <p:spPr/>
        <p:txBody>
          <a:bodyPr/>
          <a:lstStyle/>
          <a:p>
            <a:r>
              <a:rPr lang="en-US" dirty="0"/>
              <a:t>Allows customization of a table that displays specified properties of objects. </a:t>
            </a:r>
            <a:endParaRPr lang="en-US" dirty="0" smtClean="0"/>
          </a:p>
          <a:p>
            <a:r>
              <a:rPr lang="en-US" dirty="0" smtClean="0"/>
              <a:t>Should be used at the end of the Pipeline</a:t>
            </a:r>
          </a:p>
          <a:p>
            <a:r>
              <a:rPr lang="en-US" dirty="0"/>
              <a:t>Key P</a:t>
            </a:r>
            <a:r>
              <a:rPr lang="en-US" dirty="0" smtClean="0"/>
              <a:t>arameters</a:t>
            </a:r>
          </a:p>
          <a:p>
            <a:pPr lvl="1"/>
            <a:r>
              <a:rPr lang="en-US" dirty="0" smtClean="0"/>
              <a:t>-</a:t>
            </a:r>
            <a:r>
              <a:rPr lang="en-US" dirty="0"/>
              <a:t>P</a:t>
            </a:r>
            <a:r>
              <a:rPr lang="en-US" dirty="0" smtClean="0"/>
              <a:t>roperty </a:t>
            </a:r>
            <a:r>
              <a:rPr lang="en-US" dirty="0"/>
              <a:t>= Allows the specification of different properties that will be present in the table, separated by </a:t>
            </a:r>
            <a:r>
              <a:rPr lang="en-US" dirty="0" smtClean="0"/>
              <a:t>commas</a:t>
            </a:r>
          </a:p>
          <a:p>
            <a:pPr lvl="1"/>
            <a:r>
              <a:rPr lang="en-US" dirty="0" smtClean="0"/>
              <a:t>-</a:t>
            </a:r>
            <a:r>
              <a:rPr lang="en-US" dirty="0" err="1" smtClean="0"/>
              <a:t>AutoSize</a:t>
            </a:r>
            <a:r>
              <a:rPr lang="en-US" dirty="0" smtClean="0"/>
              <a:t> </a:t>
            </a:r>
            <a:r>
              <a:rPr lang="en-US" dirty="0"/>
              <a:t>= automatically resize the columns of the table so they fit the </a:t>
            </a:r>
            <a:r>
              <a:rPr lang="en-US" dirty="0" smtClean="0"/>
              <a:t>screen</a:t>
            </a:r>
          </a:p>
          <a:p>
            <a:r>
              <a:rPr lang="en-US" dirty="0" smtClean="0"/>
              <a:t>Example</a:t>
            </a:r>
          </a:p>
          <a:p>
            <a:pPr lvl="1"/>
            <a:r>
              <a:rPr lang="en-US" dirty="0"/>
              <a:t>Displays processes by Handle size</a:t>
            </a:r>
          </a:p>
          <a:p>
            <a:pPr marL="342900" lvl="1" indent="0">
              <a:buNone/>
            </a:pPr>
            <a:r>
              <a:rPr lang="en-US" sz="1600" dirty="0" smtClean="0">
                <a:latin typeface="Consolas" pitchFamily="49" charset="0"/>
                <a:cs typeface="Consolas" pitchFamily="49" charset="0"/>
              </a:rPr>
              <a:t>Get-Process </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Format-Table -Property Name, Handles </a:t>
            </a:r>
            <a:r>
              <a:rPr lang="en-US" sz="1600" dirty="0">
                <a:latin typeface="Consolas" pitchFamily="49" charset="0"/>
                <a:cs typeface="Consolas" pitchFamily="49" charset="0"/>
              </a:rPr>
              <a:t>-</a:t>
            </a:r>
            <a:r>
              <a:rPr lang="en-US" sz="1600" dirty="0" err="1" smtClean="0">
                <a:latin typeface="Consolas" pitchFamily="49" charset="0"/>
                <a:cs typeface="Consolas" pitchFamily="49" charset="0"/>
              </a:rPr>
              <a:t>AutoSize</a:t>
            </a:r>
            <a:endParaRPr lang="en-US" sz="1600" dirty="0" smtClean="0">
              <a:latin typeface="Consolas" pitchFamily="49" charset="0"/>
              <a:cs typeface="Consolas" pitchFamily="49" charset="0"/>
            </a:endParaRPr>
          </a:p>
          <a:p>
            <a:endParaRPr lang="en-US" dirty="0"/>
          </a:p>
        </p:txBody>
      </p:sp>
    </p:spTree>
    <p:extLst>
      <p:ext uri="{BB962C8B-B14F-4D97-AF65-F5344CB8AC3E}">
        <p14:creationId xmlns="" xmlns:p14="http://schemas.microsoft.com/office/powerpoint/2010/main" val="3754819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Format-List</a:t>
            </a:r>
            <a:endParaRPr lang="en-US" dirty="0"/>
          </a:p>
        </p:txBody>
      </p:sp>
      <p:sp>
        <p:nvSpPr>
          <p:cNvPr id="3" name="Content Placeholder 2"/>
          <p:cNvSpPr>
            <a:spLocks noGrp="1"/>
          </p:cNvSpPr>
          <p:nvPr>
            <p:ph idx="1"/>
          </p:nvPr>
        </p:nvSpPr>
        <p:spPr/>
        <p:txBody>
          <a:bodyPr/>
          <a:lstStyle/>
          <a:p>
            <a:r>
              <a:rPr lang="en-US" dirty="0" smtClean="0"/>
              <a:t>Data </a:t>
            </a:r>
            <a:r>
              <a:rPr lang="en-US" dirty="0"/>
              <a:t>is presented in the form of a </a:t>
            </a:r>
            <a:r>
              <a:rPr lang="en-US" dirty="0" smtClean="0"/>
              <a:t>list</a:t>
            </a:r>
          </a:p>
          <a:p>
            <a:r>
              <a:rPr lang="en-US" dirty="0" smtClean="0"/>
              <a:t>Key parameter</a:t>
            </a:r>
          </a:p>
          <a:p>
            <a:pPr lvl="1"/>
            <a:r>
              <a:rPr lang="en-US" dirty="0" smtClean="0"/>
              <a:t>-</a:t>
            </a:r>
            <a:r>
              <a:rPr lang="en-US" dirty="0"/>
              <a:t>Property  - specifies which properties should be displayed in the list with multiple properties separated by commas.  </a:t>
            </a:r>
            <a:endParaRPr lang="en-US" dirty="0" smtClean="0"/>
          </a:p>
          <a:p>
            <a:r>
              <a:rPr lang="en-US" dirty="0" smtClean="0"/>
              <a:t>Example</a:t>
            </a:r>
          </a:p>
          <a:p>
            <a:pPr marL="342900" lvl="1" indent="0">
              <a:buNone/>
            </a:pPr>
            <a:r>
              <a:rPr lang="en-US" sz="1600" dirty="0">
                <a:latin typeface="Consolas" pitchFamily="49" charset="0"/>
                <a:cs typeface="Consolas" pitchFamily="49" charset="0"/>
              </a:rPr>
              <a:t>Get-Service | Format-List</a:t>
            </a:r>
          </a:p>
          <a:p>
            <a:pPr lvl="1"/>
            <a:endParaRPr lang="en-US" dirty="0"/>
          </a:p>
        </p:txBody>
      </p:sp>
    </p:spTree>
    <p:extLst>
      <p:ext uri="{BB962C8B-B14F-4D97-AF65-F5344CB8AC3E}">
        <p14:creationId xmlns="" xmlns:p14="http://schemas.microsoft.com/office/powerpoint/2010/main" val="15925899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Get-Content</a:t>
            </a:r>
            <a:endParaRPr lang="en-US" dirty="0"/>
          </a:p>
        </p:txBody>
      </p:sp>
      <p:sp>
        <p:nvSpPr>
          <p:cNvPr id="3" name="Content Placeholder 2"/>
          <p:cNvSpPr>
            <a:spLocks noGrp="1"/>
          </p:cNvSpPr>
          <p:nvPr>
            <p:ph idx="1"/>
          </p:nvPr>
        </p:nvSpPr>
        <p:spPr/>
        <p:txBody>
          <a:bodyPr/>
          <a:lstStyle/>
          <a:p>
            <a:r>
              <a:rPr lang="en-US" dirty="0" smtClean="0"/>
              <a:t>Reads </a:t>
            </a:r>
            <a:r>
              <a:rPr lang="en-US" dirty="0"/>
              <a:t>the contents of a text file into an array, it reads each line and when it finds a carriage return, moves onto the next element in the array. </a:t>
            </a:r>
            <a:endParaRPr lang="en-US" dirty="0" smtClean="0"/>
          </a:p>
          <a:p>
            <a:r>
              <a:rPr lang="en-US" dirty="0" smtClean="0"/>
              <a:t>Key parameter</a:t>
            </a:r>
          </a:p>
          <a:p>
            <a:pPr lvl="1"/>
            <a:r>
              <a:rPr lang="en-US" dirty="0" smtClean="0"/>
              <a:t>-Path</a:t>
            </a:r>
          </a:p>
          <a:p>
            <a:r>
              <a:rPr lang="en-US" dirty="0" smtClean="0"/>
              <a:t>Example</a:t>
            </a:r>
          </a:p>
          <a:p>
            <a:pPr marL="342900" lvl="1" indent="0">
              <a:buNone/>
            </a:pPr>
            <a:r>
              <a:rPr lang="en-US" sz="1600" dirty="0" smtClean="0">
                <a:latin typeface="Consolas" pitchFamily="49" charset="0"/>
                <a:cs typeface="Consolas" pitchFamily="49" charset="0"/>
              </a:rPr>
              <a:t>Get-Content -Path C:\Test.txt </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Get-Service </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Format-Table Name</a:t>
            </a:r>
            <a:r>
              <a:rPr lang="en-US" sz="1600" dirty="0">
                <a:latin typeface="Consolas" pitchFamily="49" charset="0"/>
                <a:cs typeface="Consolas" pitchFamily="49" charset="0"/>
              </a:rPr>
              <a:t>, S</a:t>
            </a:r>
            <a:r>
              <a:rPr lang="en-US" sz="1600" dirty="0" smtClean="0">
                <a:latin typeface="Consolas" pitchFamily="49" charset="0"/>
                <a:cs typeface="Consolas" pitchFamily="49" charset="0"/>
              </a:rPr>
              <a:t>tatus -</a:t>
            </a:r>
            <a:r>
              <a:rPr lang="en-US" sz="1600" dirty="0" err="1" smtClean="0">
                <a:latin typeface="Consolas" pitchFamily="49" charset="0"/>
                <a:cs typeface="Consolas" pitchFamily="49" charset="0"/>
              </a:rPr>
              <a:t>AutoSize</a:t>
            </a:r>
            <a:endParaRPr lang="en-US" sz="1600" dirty="0">
              <a:latin typeface="Consolas" pitchFamily="49" charset="0"/>
              <a:cs typeface="Consolas" pitchFamily="49" charset="0"/>
            </a:endParaRPr>
          </a:p>
        </p:txBody>
      </p:sp>
    </p:spTree>
    <p:extLst>
      <p:ext uri="{BB962C8B-B14F-4D97-AF65-F5344CB8AC3E}">
        <p14:creationId xmlns="" xmlns:p14="http://schemas.microsoft.com/office/powerpoint/2010/main" val="25573016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Import-CSV</a:t>
            </a:r>
            <a:endParaRPr lang="en-US" dirty="0"/>
          </a:p>
        </p:txBody>
      </p:sp>
      <p:sp>
        <p:nvSpPr>
          <p:cNvPr id="3" name="Content Placeholder 2"/>
          <p:cNvSpPr>
            <a:spLocks noGrp="1"/>
          </p:cNvSpPr>
          <p:nvPr>
            <p:ph idx="1"/>
          </p:nvPr>
        </p:nvSpPr>
        <p:spPr/>
        <p:txBody>
          <a:bodyPr/>
          <a:lstStyle/>
          <a:p>
            <a:r>
              <a:rPr lang="en-US" dirty="0" smtClean="0"/>
              <a:t>Reads </a:t>
            </a:r>
            <a:r>
              <a:rPr lang="en-US" dirty="0"/>
              <a:t>a </a:t>
            </a:r>
            <a:r>
              <a:rPr lang="en-US" dirty="0" err="1"/>
              <a:t>csv</a:t>
            </a:r>
            <a:r>
              <a:rPr lang="en-US" dirty="0"/>
              <a:t> file and creates objects based on the attributes contained in the </a:t>
            </a:r>
            <a:r>
              <a:rPr lang="en-US" dirty="0" smtClean="0"/>
              <a:t>file</a:t>
            </a:r>
          </a:p>
          <a:p>
            <a:r>
              <a:rPr lang="en-US" dirty="0" smtClean="0"/>
              <a:t>Example</a:t>
            </a:r>
          </a:p>
          <a:p>
            <a:pPr marL="342900" lvl="1" indent="0">
              <a:buNone/>
            </a:pPr>
            <a:r>
              <a:rPr lang="en-US" sz="1600" dirty="0" smtClean="0">
                <a:latin typeface="Consolas" pitchFamily="49" charset="0"/>
                <a:cs typeface="Consolas" pitchFamily="49" charset="0"/>
              </a:rPr>
              <a:t>Import-CSV C:\Scripts\Test.txt</a:t>
            </a:r>
            <a:endParaRPr lang="en-US" sz="1600" dirty="0">
              <a:latin typeface="Consolas" pitchFamily="49" charset="0"/>
              <a:cs typeface="Consolas" pitchFamily="49" charset="0"/>
            </a:endParaRPr>
          </a:p>
          <a:p>
            <a:pPr marL="342900" lvl="1" indent="0">
              <a:buNone/>
            </a:pPr>
            <a:r>
              <a:rPr lang="en-US" dirty="0" err="1"/>
              <a:t>Name,Department,Title</a:t>
            </a:r>
            <a:r>
              <a:rPr lang="en-US" dirty="0"/>
              <a:t> </a:t>
            </a:r>
            <a:r>
              <a:rPr lang="en-US" dirty="0" err="1"/>
              <a:t>Pilar</a:t>
            </a:r>
            <a:r>
              <a:rPr lang="en-US" dirty="0"/>
              <a:t> </a:t>
            </a:r>
            <a:r>
              <a:rPr lang="en-US" dirty="0" err="1"/>
              <a:t>Ackerman,Research,Manager</a:t>
            </a:r>
            <a:r>
              <a:rPr lang="en-US" dirty="0"/>
              <a:t> Jonathan </a:t>
            </a:r>
            <a:r>
              <a:rPr lang="en-US" dirty="0" err="1"/>
              <a:t>Haas,Finance,Finance</a:t>
            </a:r>
            <a:r>
              <a:rPr lang="en-US" dirty="0"/>
              <a:t> Specialist Ken </a:t>
            </a:r>
            <a:r>
              <a:rPr lang="en-US" dirty="0" err="1"/>
              <a:t>Myer,Finance,Accountant</a:t>
            </a:r>
            <a:endParaRPr lang="en-US" dirty="0" smtClean="0"/>
          </a:p>
          <a:p>
            <a:pPr marL="342900" lvl="1" indent="0">
              <a:buNone/>
            </a:pPr>
            <a:r>
              <a:rPr lang="en-US" dirty="0" smtClean="0"/>
              <a:t>Displayed in </a:t>
            </a:r>
            <a:r>
              <a:rPr lang="en-US" dirty="0" err="1" smtClean="0"/>
              <a:t>Powershell</a:t>
            </a:r>
            <a:r>
              <a:rPr lang="en-US" dirty="0" smtClean="0"/>
              <a:t>:</a:t>
            </a:r>
          </a:p>
          <a:p>
            <a:pPr marL="342900" lvl="1" indent="0">
              <a:buNone/>
            </a:pPr>
            <a:endParaRPr lang="en-US" dirty="0"/>
          </a:p>
          <a:p>
            <a:pPr marL="342900" lvl="1"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219200" y="4114800"/>
            <a:ext cx="6607277" cy="1600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5931848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Add-Content</a:t>
            </a:r>
            <a:endParaRPr lang="en-US" dirty="0"/>
          </a:p>
        </p:txBody>
      </p:sp>
      <p:sp>
        <p:nvSpPr>
          <p:cNvPr id="3" name="Content Placeholder 2"/>
          <p:cNvSpPr>
            <a:spLocks noGrp="1"/>
          </p:cNvSpPr>
          <p:nvPr>
            <p:ph idx="1"/>
          </p:nvPr>
        </p:nvSpPr>
        <p:spPr/>
        <p:txBody>
          <a:bodyPr/>
          <a:lstStyle/>
          <a:p>
            <a:r>
              <a:rPr lang="en-US" dirty="0" smtClean="0"/>
              <a:t>Appends </a:t>
            </a:r>
            <a:r>
              <a:rPr lang="en-US" dirty="0"/>
              <a:t>content to a simple text </a:t>
            </a:r>
            <a:r>
              <a:rPr lang="en-US" dirty="0" smtClean="0"/>
              <a:t>file</a:t>
            </a:r>
          </a:p>
          <a:p>
            <a:r>
              <a:rPr lang="en-US" dirty="0" smtClean="0"/>
              <a:t>Key Parameters</a:t>
            </a:r>
          </a:p>
          <a:p>
            <a:pPr lvl="1" fontAlgn="ctr"/>
            <a:r>
              <a:rPr lang="en-US" dirty="0" smtClean="0"/>
              <a:t>-Path </a:t>
            </a:r>
            <a:r>
              <a:rPr lang="en-US" dirty="0"/>
              <a:t>= </a:t>
            </a:r>
            <a:r>
              <a:rPr lang="en-US" dirty="0" smtClean="0"/>
              <a:t>Determines </a:t>
            </a:r>
            <a:r>
              <a:rPr lang="en-US" dirty="0"/>
              <a:t>which file to append to </a:t>
            </a:r>
          </a:p>
          <a:p>
            <a:pPr lvl="1" fontAlgn="ctr"/>
            <a:r>
              <a:rPr lang="en-US" dirty="0" smtClean="0"/>
              <a:t>-Value </a:t>
            </a:r>
            <a:r>
              <a:rPr lang="en-US" dirty="0"/>
              <a:t>= Specifies what to write to the </a:t>
            </a:r>
            <a:r>
              <a:rPr lang="en-US" dirty="0" smtClean="0"/>
              <a:t>file</a:t>
            </a:r>
          </a:p>
          <a:p>
            <a:pPr fontAlgn="ctr"/>
            <a:r>
              <a:rPr lang="en-US" dirty="0" smtClean="0"/>
              <a:t>Example</a:t>
            </a:r>
          </a:p>
          <a:p>
            <a:pPr marL="342900" lvl="1" indent="0">
              <a:buNone/>
            </a:pPr>
            <a:r>
              <a:rPr lang="en-US" sz="1600" dirty="0" smtClean="0">
                <a:latin typeface="Consolas" pitchFamily="49" charset="0"/>
                <a:cs typeface="Consolas" pitchFamily="49" charset="0"/>
              </a:rPr>
              <a:t>Add-Content -Path C:\MyStuff\Log.txt -Value “Hello</a:t>
            </a:r>
            <a:r>
              <a:rPr lang="en-US" sz="1600" dirty="0">
                <a:latin typeface="Consolas" pitchFamily="49" charset="0"/>
                <a:cs typeface="Consolas" pitchFamily="49" charset="0"/>
              </a:rPr>
              <a:t>"</a:t>
            </a:r>
          </a:p>
          <a:p>
            <a:pPr lvl="1"/>
            <a:endParaRPr lang="en-US" dirty="0"/>
          </a:p>
        </p:txBody>
      </p:sp>
    </p:spTree>
    <p:extLst>
      <p:ext uri="{BB962C8B-B14F-4D97-AF65-F5344CB8AC3E}">
        <p14:creationId xmlns="" xmlns:p14="http://schemas.microsoft.com/office/powerpoint/2010/main" val="38143220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Set-Content</a:t>
            </a:r>
            <a:endParaRPr lang="en-US" dirty="0"/>
          </a:p>
        </p:txBody>
      </p:sp>
      <p:sp>
        <p:nvSpPr>
          <p:cNvPr id="3" name="Content Placeholder 2"/>
          <p:cNvSpPr>
            <a:spLocks noGrp="1"/>
          </p:cNvSpPr>
          <p:nvPr>
            <p:ph idx="1"/>
          </p:nvPr>
        </p:nvSpPr>
        <p:spPr/>
        <p:txBody>
          <a:bodyPr/>
          <a:lstStyle/>
          <a:p>
            <a:r>
              <a:rPr lang="en-US" dirty="0" smtClean="0"/>
              <a:t>Writes </a:t>
            </a:r>
            <a:r>
              <a:rPr lang="en-US" dirty="0"/>
              <a:t>or replaces the contents of a </a:t>
            </a:r>
            <a:r>
              <a:rPr lang="en-US" dirty="0" smtClean="0"/>
              <a:t>file</a:t>
            </a:r>
          </a:p>
          <a:p>
            <a:r>
              <a:rPr lang="en-US" dirty="0" smtClean="0"/>
              <a:t>Key Parameters</a:t>
            </a:r>
          </a:p>
          <a:p>
            <a:pPr lvl="1"/>
            <a:r>
              <a:rPr lang="en-US" dirty="0" smtClean="0"/>
              <a:t>-Path </a:t>
            </a:r>
            <a:r>
              <a:rPr lang="en-US" dirty="0"/>
              <a:t>= </a:t>
            </a:r>
            <a:r>
              <a:rPr lang="en-US" dirty="0" smtClean="0"/>
              <a:t>Determines </a:t>
            </a:r>
            <a:r>
              <a:rPr lang="en-US" dirty="0"/>
              <a:t>which file to append to </a:t>
            </a:r>
          </a:p>
          <a:p>
            <a:pPr lvl="1"/>
            <a:r>
              <a:rPr lang="en-US" dirty="0" smtClean="0"/>
              <a:t>-Value </a:t>
            </a:r>
            <a:r>
              <a:rPr lang="en-US" dirty="0"/>
              <a:t>= Specifies what to write to the </a:t>
            </a:r>
            <a:r>
              <a:rPr lang="en-US" dirty="0" smtClean="0"/>
              <a:t>file</a:t>
            </a:r>
          </a:p>
          <a:p>
            <a:r>
              <a:rPr lang="en-US" dirty="0" smtClean="0"/>
              <a:t>Example</a:t>
            </a:r>
          </a:p>
          <a:p>
            <a:pPr marL="342900" lvl="1" indent="0">
              <a:buNone/>
            </a:pPr>
            <a:r>
              <a:rPr lang="en-US" sz="1600" dirty="0" smtClean="0">
                <a:latin typeface="Consolas" pitchFamily="49" charset="0"/>
                <a:cs typeface="Consolas" pitchFamily="49" charset="0"/>
              </a:rPr>
              <a:t>Set-Content -Path C:\MyStuff\Log.txt -Value “Hello</a:t>
            </a:r>
            <a:r>
              <a:rPr lang="en-US" sz="1600" dirty="0">
                <a:latin typeface="Consolas" pitchFamily="49" charset="0"/>
                <a:cs typeface="Consolas" pitchFamily="49" charset="0"/>
              </a:rPr>
              <a:t>"</a:t>
            </a:r>
          </a:p>
          <a:p>
            <a:pPr lvl="1"/>
            <a:endParaRPr lang="en-US" dirty="0"/>
          </a:p>
          <a:p>
            <a:pPr lvl="1"/>
            <a:endParaRPr lang="en-US" dirty="0"/>
          </a:p>
        </p:txBody>
      </p:sp>
    </p:spTree>
    <p:extLst>
      <p:ext uri="{BB962C8B-B14F-4D97-AF65-F5344CB8AC3E}">
        <p14:creationId xmlns="" xmlns:p14="http://schemas.microsoft.com/office/powerpoint/2010/main" val="280563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Export-CSV</a:t>
            </a:r>
            <a:endParaRPr lang="en-US" dirty="0"/>
          </a:p>
        </p:txBody>
      </p:sp>
      <p:sp>
        <p:nvSpPr>
          <p:cNvPr id="3" name="Content Placeholder 2"/>
          <p:cNvSpPr>
            <a:spLocks noGrp="1"/>
          </p:cNvSpPr>
          <p:nvPr>
            <p:ph idx="1"/>
          </p:nvPr>
        </p:nvSpPr>
        <p:spPr/>
        <p:txBody>
          <a:bodyPr/>
          <a:lstStyle/>
          <a:p>
            <a:r>
              <a:rPr lang="en-US" dirty="0" smtClean="0"/>
              <a:t>Exports </a:t>
            </a:r>
            <a:r>
              <a:rPr lang="en-US" dirty="0"/>
              <a:t>objects directly to a CSV </a:t>
            </a:r>
            <a:r>
              <a:rPr lang="en-US" dirty="0" smtClean="0"/>
              <a:t>file</a:t>
            </a:r>
          </a:p>
          <a:p>
            <a:r>
              <a:rPr lang="en-US" dirty="0" smtClean="0"/>
              <a:t>Key Parameters</a:t>
            </a:r>
          </a:p>
          <a:p>
            <a:pPr lvl="1" fontAlgn="ctr"/>
            <a:r>
              <a:rPr lang="en-US" dirty="0" smtClean="0"/>
              <a:t>-Path </a:t>
            </a:r>
            <a:r>
              <a:rPr lang="en-US" dirty="0"/>
              <a:t>= File to be exported to</a:t>
            </a:r>
          </a:p>
          <a:p>
            <a:pPr lvl="1" fontAlgn="ctr"/>
            <a:r>
              <a:rPr lang="en-US" dirty="0" smtClean="0"/>
              <a:t>-Delimiter </a:t>
            </a:r>
            <a:r>
              <a:rPr lang="en-US" dirty="0"/>
              <a:t>= Specifies which character should be used to separate properties in the </a:t>
            </a:r>
            <a:r>
              <a:rPr lang="en-US" dirty="0" smtClean="0"/>
              <a:t>file</a:t>
            </a:r>
          </a:p>
          <a:p>
            <a:pPr fontAlgn="ctr"/>
            <a:r>
              <a:rPr lang="en-US" dirty="0" smtClean="0"/>
              <a:t>Example</a:t>
            </a:r>
          </a:p>
          <a:p>
            <a:pPr marL="342900" lvl="1" indent="0">
              <a:buNone/>
            </a:pPr>
            <a:r>
              <a:rPr lang="en-US" sz="1600" dirty="0" smtClean="0">
                <a:latin typeface="Consolas" pitchFamily="49" charset="0"/>
                <a:cs typeface="Consolas" pitchFamily="49" charset="0"/>
              </a:rPr>
              <a:t>Get-Process </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Export-CSV -Path C:\Text.csv</a:t>
            </a:r>
            <a:endParaRPr lang="en-US" sz="1600" dirty="0">
              <a:latin typeface="Consolas" pitchFamily="49" charset="0"/>
              <a:cs typeface="Consolas" pitchFamily="49" charset="0"/>
            </a:endParaRPr>
          </a:p>
          <a:p>
            <a:pPr lvl="1" fontAlgn="ctr"/>
            <a:endParaRPr lang="en-US" dirty="0"/>
          </a:p>
          <a:p>
            <a:pPr lvl="1"/>
            <a:endParaRPr lang="en-US" dirty="0"/>
          </a:p>
        </p:txBody>
      </p:sp>
    </p:spTree>
    <p:extLst>
      <p:ext uri="{BB962C8B-B14F-4D97-AF65-F5344CB8AC3E}">
        <p14:creationId xmlns="" xmlns:p14="http://schemas.microsoft.com/office/powerpoint/2010/main" val="16126979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Convertto</a:t>
            </a:r>
            <a:r>
              <a:rPr lang="en-US" dirty="0" smtClean="0"/>
              <a:t>-html</a:t>
            </a:r>
            <a:endParaRPr lang="en-US" dirty="0"/>
          </a:p>
        </p:txBody>
      </p:sp>
      <p:sp>
        <p:nvSpPr>
          <p:cNvPr id="3" name="Content Placeholder 2"/>
          <p:cNvSpPr>
            <a:spLocks noGrp="1"/>
          </p:cNvSpPr>
          <p:nvPr>
            <p:ph idx="1"/>
          </p:nvPr>
        </p:nvSpPr>
        <p:spPr/>
        <p:txBody>
          <a:bodyPr/>
          <a:lstStyle/>
          <a:p>
            <a:r>
              <a:rPr lang="en-US" dirty="0" smtClean="0"/>
              <a:t>Converts </a:t>
            </a:r>
            <a:r>
              <a:rPr lang="en-US" dirty="0"/>
              <a:t>objects into HTML tables</a:t>
            </a:r>
            <a:r>
              <a:rPr lang="en-US" dirty="0" smtClean="0"/>
              <a:t>.</a:t>
            </a:r>
          </a:p>
          <a:p>
            <a:r>
              <a:rPr lang="en-US" dirty="0" smtClean="0"/>
              <a:t>Key Parameters</a:t>
            </a:r>
          </a:p>
          <a:p>
            <a:pPr lvl="1"/>
            <a:r>
              <a:rPr lang="en-US" dirty="0"/>
              <a:t>-Property = used to define the columns for the table.</a:t>
            </a:r>
          </a:p>
          <a:p>
            <a:pPr lvl="1"/>
            <a:r>
              <a:rPr lang="en-US" dirty="0"/>
              <a:t>-</a:t>
            </a:r>
            <a:r>
              <a:rPr lang="en-US" dirty="0" err="1"/>
              <a:t>CSSUri</a:t>
            </a:r>
            <a:r>
              <a:rPr lang="en-US" dirty="0"/>
              <a:t> = Allows a cascading style sheet to be specified which determines the formatting of the html</a:t>
            </a:r>
          </a:p>
          <a:p>
            <a:r>
              <a:rPr lang="en-US" dirty="0" smtClean="0"/>
              <a:t>Example</a:t>
            </a:r>
          </a:p>
          <a:p>
            <a:pPr lvl="1"/>
            <a:r>
              <a:rPr lang="en-US" sz="1600" dirty="0">
                <a:latin typeface="Consolas" pitchFamily="49" charset="0"/>
                <a:cs typeface="Consolas" pitchFamily="49" charset="0"/>
              </a:rPr>
              <a:t>Get-</a:t>
            </a:r>
            <a:r>
              <a:rPr lang="en-US" sz="1600" dirty="0" err="1">
                <a:latin typeface="Consolas" pitchFamily="49" charset="0"/>
                <a:cs typeface="Consolas" pitchFamily="49" charset="0"/>
              </a:rPr>
              <a:t>Eventlog</a:t>
            </a:r>
            <a:r>
              <a:rPr lang="en-US" sz="1600" dirty="0">
                <a:latin typeface="Consolas" pitchFamily="49" charset="0"/>
                <a:cs typeface="Consolas" pitchFamily="49" charset="0"/>
              </a:rPr>
              <a:t> </a:t>
            </a: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Logname</a:t>
            </a:r>
            <a:r>
              <a:rPr lang="en-US" sz="1600" dirty="0" smtClean="0">
                <a:latin typeface="Consolas" pitchFamily="49" charset="0"/>
                <a:cs typeface="Consolas" pitchFamily="49" charset="0"/>
              </a:rPr>
              <a:t> System </a:t>
            </a:r>
            <a:r>
              <a:rPr lang="en-US" sz="1600" dirty="0">
                <a:latin typeface="Consolas" pitchFamily="49" charset="0"/>
                <a:cs typeface="Consolas" pitchFamily="49" charset="0"/>
              </a:rPr>
              <a:t>| </a:t>
            </a:r>
            <a:r>
              <a:rPr lang="en-US" sz="1600" dirty="0" err="1" smtClean="0">
                <a:latin typeface="Consolas" pitchFamily="49" charset="0"/>
                <a:cs typeface="Consolas" pitchFamily="49" charset="0"/>
              </a:rPr>
              <a:t>Convertto</a:t>
            </a:r>
            <a:r>
              <a:rPr lang="en-US" sz="1600" dirty="0" smtClean="0">
                <a:latin typeface="Consolas" pitchFamily="49" charset="0"/>
                <a:cs typeface="Consolas" pitchFamily="49" charset="0"/>
              </a:rPr>
              <a:t>-HTML -Property </a:t>
            </a:r>
            <a:r>
              <a:rPr lang="en-US" sz="1600" dirty="0" err="1">
                <a:latin typeface="Consolas" pitchFamily="49" charset="0"/>
                <a:cs typeface="Consolas" pitchFamily="49" charset="0"/>
              </a:rPr>
              <a:t>EventID</a:t>
            </a:r>
            <a:r>
              <a:rPr lang="en-US" sz="1600" dirty="0">
                <a:latin typeface="Consolas" pitchFamily="49" charset="0"/>
                <a:cs typeface="Consolas" pitchFamily="49" charset="0"/>
              </a:rPr>
              <a:t> &gt; </a:t>
            </a:r>
            <a:r>
              <a:rPr lang="en-US" sz="1600" dirty="0" smtClean="0">
                <a:latin typeface="Consolas" pitchFamily="49" charset="0"/>
                <a:cs typeface="Consolas" pitchFamily="49" charset="0"/>
              </a:rPr>
              <a:t>Test.html</a:t>
            </a:r>
            <a:endParaRPr lang="en-US" sz="1600" dirty="0">
              <a:latin typeface="Consolas" pitchFamily="49" charset="0"/>
              <a:cs typeface="Consolas" pitchFamily="49" charset="0"/>
            </a:endParaRPr>
          </a:p>
          <a:p>
            <a:pPr lvl="1"/>
            <a:endParaRPr lang="en-US" dirty="0"/>
          </a:p>
        </p:txBody>
      </p:sp>
    </p:spTree>
    <p:extLst>
      <p:ext uri="{BB962C8B-B14F-4D97-AF65-F5344CB8AC3E}">
        <p14:creationId xmlns="" xmlns:p14="http://schemas.microsoft.com/office/powerpoint/2010/main" val="249697329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3 Lab: Pipeline</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 xmlns:p14="http://schemas.microsoft.com/office/powerpoint/2010/main" val="3800453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a:t>
            </a:r>
            <a:endParaRPr lang="en-US" dirty="0"/>
          </a:p>
        </p:txBody>
      </p:sp>
      <p:sp>
        <p:nvSpPr>
          <p:cNvPr id="3" name="Content Placeholder 2"/>
          <p:cNvSpPr>
            <a:spLocks noGrp="1"/>
          </p:cNvSpPr>
          <p:nvPr>
            <p:ph idx="1"/>
          </p:nvPr>
        </p:nvSpPr>
        <p:spPr/>
        <p:txBody>
          <a:bodyPr/>
          <a:lstStyle/>
          <a:p>
            <a:r>
              <a:rPr lang="en-US" b="1" dirty="0"/>
              <a:t>Here’s your task:</a:t>
            </a:r>
          </a:p>
          <a:p>
            <a:r>
              <a:rPr lang="en-US" dirty="0"/>
              <a:t>Use Notepad to create a text file that contains at least thirty lines of text. Then, use</a:t>
            </a:r>
          </a:p>
          <a:p>
            <a:r>
              <a:rPr lang="en-US" dirty="0"/>
              <a:t>PowerShell to display just the first ten lines.</a:t>
            </a:r>
          </a:p>
          <a:p>
            <a:r>
              <a:rPr lang="en-US" b="1" dirty="0"/>
              <a:t>Here’s a tip:</a:t>
            </a:r>
          </a:p>
          <a:p>
            <a:r>
              <a:rPr lang="en-US" dirty="0"/>
              <a:t>What command would you use in Cmd.exe to display the contents of a text file? Perhaps</a:t>
            </a:r>
          </a:p>
          <a:p>
            <a:r>
              <a:rPr lang="en-US" dirty="0"/>
              <a:t>that command is an alias in PowerShell.</a:t>
            </a:r>
          </a:p>
        </p:txBody>
      </p:sp>
    </p:spTree>
    <p:extLst>
      <p:ext uri="{BB962C8B-B14F-4D97-AF65-F5344CB8AC3E}">
        <p14:creationId xmlns="" xmlns:p14="http://schemas.microsoft.com/office/powerpoint/2010/main" val="28026019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2</a:t>
            </a:r>
            <a:endParaRPr lang="en-US" dirty="0"/>
          </a:p>
        </p:txBody>
      </p:sp>
      <p:sp>
        <p:nvSpPr>
          <p:cNvPr id="3" name="Content Placeholder 2"/>
          <p:cNvSpPr>
            <a:spLocks noGrp="1"/>
          </p:cNvSpPr>
          <p:nvPr>
            <p:ph idx="1"/>
          </p:nvPr>
        </p:nvSpPr>
        <p:spPr/>
        <p:txBody>
          <a:bodyPr/>
          <a:lstStyle/>
          <a:p>
            <a:r>
              <a:rPr lang="en-US" b="1" dirty="0"/>
              <a:t>Here’s your task:</a:t>
            </a:r>
          </a:p>
          <a:p>
            <a:r>
              <a:rPr lang="en-US" dirty="0"/>
              <a:t>What properties are available for a Service object?</a:t>
            </a:r>
          </a:p>
          <a:p>
            <a:r>
              <a:rPr lang="en-US" b="1" dirty="0"/>
              <a:t>Here’s a tip:</a:t>
            </a:r>
          </a:p>
          <a:p>
            <a:r>
              <a:rPr lang="en-US" dirty="0"/>
              <a:t>The Get‐Service </a:t>
            </a:r>
            <a:r>
              <a:rPr lang="en-US" dirty="0" err="1"/>
              <a:t>cmdlet</a:t>
            </a:r>
            <a:r>
              <a:rPr lang="en-US" dirty="0"/>
              <a:t> returns a collection of service objects.</a:t>
            </a:r>
          </a:p>
        </p:txBody>
      </p:sp>
    </p:spTree>
    <p:extLst>
      <p:ext uri="{BB962C8B-B14F-4D97-AF65-F5344CB8AC3E}">
        <p14:creationId xmlns="" xmlns:p14="http://schemas.microsoft.com/office/powerpoint/2010/main" val="39427997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3</a:t>
            </a:r>
            <a:endParaRPr lang="en-US" dirty="0"/>
          </a:p>
        </p:txBody>
      </p:sp>
      <p:sp>
        <p:nvSpPr>
          <p:cNvPr id="3" name="Content Placeholder 2"/>
          <p:cNvSpPr>
            <a:spLocks noGrp="1"/>
          </p:cNvSpPr>
          <p:nvPr>
            <p:ph idx="1"/>
          </p:nvPr>
        </p:nvSpPr>
        <p:spPr/>
        <p:txBody>
          <a:bodyPr/>
          <a:lstStyle/>
          <a:p>
            <a:r>
              <a:rPr lang="en-US" b="1" dirty="0"/>
              <a:t>Here’s your task:</a:t>
            </a:r>
          </a:p>
          <a:p>
            <a:r>
              <a:rPr lang="en-US" dirty="0"/>
              <a:t>If the pipeline ends in Out‐Default, which produces text on the screen, how do you think</a:t>
            </a:r>
          </a:p>
          <a:p>
            <a:r>
              <a:rPr lang="en-US" dirty="0"/>
              <a:t>you could have text go into a file instead? For example, how could you send a list of</a:t>
            </a:r>
          </a:p>
          <a:p>
            <a:r>
              <a:rPr lang="en-US" dirty="0"/>
              <a:t>processes into a file named c:\processes.txt?</a:t>
            </a:r>
          </a:p>
          <a:p>
            <a:r>
              <a:rPr lang="en-US" b="1" dirty="0"/>
              <a:t>Here’s a tip:</a:t>
            </a:r>
          </a:p>
          <a:p>
            <a:r>
              <a:rPr lang="en-US" dirty="0"/>
              <a:t>If Out‐Default goes to the default display—the screen—then perhaps another Out </a:t>
            </a:r>
            <a:r>
              <a:rPr lang="en-US" dirty="0" err="1"/>
              <a:t>cmdlet</a:t>
            </a:r>
            <a:endParaRPr lang="en-US" dirty="0"/>
          </a:p>
          <a:p>
            <a:r>
              <a:rPr lang="en-US" dirty="0"/>
              <a:t>sends output somewhere else.</a:t>
            </a:r>
          </a:p>
        </p:txBody>
      </p:sp>
    </p:spTree>
    <p:extLst>
      <p:ext uri="{BB962C8B-B14F-4D97-AF65-F5344CB8AC3E}">
        <p14:creationId xmlns="" xmlns:p14="http://schemas.microsoft.com/office/powerpoint/2010/main" val="169038189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4</a:t>
            </a:r>
            <a:endParaRPr lang="en-US" dirty="0"/>
          </a:p>
        </p:txBody>
      </p:sp>
      <p:sp>
        <p:nvSpPr>
          <p:cNvPr id="3" name="Content Placeholder 2"/>
          <p:cNvSpPr>
            <a:spLocks noGrp="1"/>
          </p:cNvSpPr>
          <p:nvPr>
            <p:ph idx="1"/>
          </p:nvPr>
        </p:nvSpPr>
        <p:spPr/>
        <p:txBody>
          <a:bodyPr/>
          <a:lstStyle/>
          <a:p>
            <a:r>
              <a:rPr lang="en-US" b="1" dirty="0"/>
              <a:t>Here’s your task:</a:t>
            </a:r>
          </a:p>
          <a:p>
            <a:r>
              <a:rPr lang="en-US" dirty="0"/>
              <a:t>How could you check to see if the contents of a variable named $</a:t>
            </a:r>
            <a:r>
              <a:rPr lang="en-US" dirty="0" err="1"/>
              <a:t>var</a:t>
            </a:r>
            <a:r>
              <a:rPr lang="en-US" dirty="0"/>
              <a:t> contained the</a:t>
            </a:r>
          </a:p>
          <a:p>
            <a:r>
              <a:rPr lang="en-US" dirty="0"/>
              <a:t>phrase “exec”?</a:t>
            </a:r>
          </a:p>
          <a:p>
            <a:r>
              <a:rPr lang="en-US" b="1" dirty="0"/>
              <a:t>Here’s a tip:</a:t>
            </a:r>
          </a:p>
          <a:p>
            <a:r>
              <a:rPr lang="en-US" dirty="0"/>
              <a:t>There’s a comparison operator that allows you to use wildcards.</a:t>
            </a:r>
          </a:p>
        </p:txBody>
      </p:sp>
    </p:spTree>
    <p:extLst>
      <p:ext uri="{BB962C8B-B14F-4D97-AF65-F5344CB8AC3E}">
        <p14:creationId xmlns="" xmlns:p14="http://schemas.microsoft.com/office/powerpoint/2010/main" val="218728941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Bonus task</a:t>
            </a:r>
            <a:endParaRPr lang="en-US" dirty="0"/>
          </a:p>
        </p:txBody>
      </p:sp>
      <p:sp>
        <p:nvSpPr>
          <p:cNvPr id="3" name="Content Placeholder 2"/>
          <p:cNvSpPr>
            <a:spLocks noGrp="1"/>
          </p:cNvSpPr>
          <p:nvPr>
            <p:ph idx="1"/>
          </p:nvPr>
        </p:nvSpPr>
        <p:spPr/>
        <p:txBody>
          <a:bodyPr/>
          <a:lstStyle/>
          <a:p>
            <a:r>
              <a:rPr lang="en-US" sz="1800" b="1" dirty="0"/>
              <a:t>Here’s your task:</a:t>
            </a:r>
          </a:p>
          <a:p>
            <a:r>
              <a:rPr lang="en-US" sz="1800" dirty="0"/>
              <a:t>Create a folder named C:\Test on your computer. Then, create a text file named</a:t>
            </a:r>
          </a:p>
          <a:p>
            <a:r>
              <a:rPr lang="en-US" sz="1800" dirty="0"/>
              <a:t>C:\Files.txt. In that file, list three complete file paths and names—one per line—of files</a:t>
            </a:r>
          </a:p>
          <a:p>
            <a:r>
              <a:rPr lang="en-US" sz="1800" dirty="0"/>
              <a:t>that already exist on your system.</a:t>
            </a:r>
          </a:p>
          <a:p>
            <a:r>
              <a:rPr lang="en-US" sz="1800" dirty="0"/>
              <a:t>Now, tell PowerShell to copy all of the files listed in C:\Files.txt into C:\Test, using a single</a:t>
            </a:r>
          </a:p>
          <a:p>
            <a:r>
              <a:rPr lang="en-US" sz="1800" dirty="0"/>
              <a:t>command‐line.</a:t>
            </a:r>
          </a:p>
          <a:p>
            <a:r>
              <a:rPr lang="en-US" sz="1800" b="1" dirty="0"/>
              <a:t>Here’s a tip:</a:t>
            </a:r>
          </a:p>
          <a:p>
            <a:r>
              <a:rPr lang="en-US" sz="1800" dirty="0"/>
              <a:t>You should already know the commands for reading content from a text file and for</a:t>
            </a:r>
          </a:p>
          <a:p>
            <a:r>
              <a:rPr lang="en-US" sz="1800" dirty="0"/>
              <a:t>copying items in the file system. You just need to combine them somehow.</a:t>
            </a:r>
          </a:p>
        </p:txBody>
      </p:sp>
    </p:spTree>
    <p:extLst>
      <p:ext uri="{BB962C8B-B14F-4D97-AF65-F5344CB8AC3E}">
        <p14:creationId xmlns="" xmlns:p14="http://schemas.microsoft.com/office/powerpoint/2010/main" val="36378541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4: Scripting</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29786948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a:t>
            </a:r>
            <a:endParaRPr lang="en-US" dirty="0"/>
          </a:p>
        </p:txBody>
      </p:sp>
      <p:sp>
        <p:nvSpPr>
          <p:cNvPr id="3" name="Content Placeholder 2"/>
          <p:cNvSpPr>
            <a:spLocks noGrp="1"/>
          </p:cNvSpPr>
          <p:nvPr>
            <p:ph idx="1"/>
          </p:nvPr>
        </p:nvSpPr>
        <p:spPr>
          <a:xfrm>
            <a:off x="917575" y="838200"/>
            <a:ext cx="7369175" cy="2895600"/>
          </a:xfrm>
        </p:spPr>
        <p:txBody>
          <a:bodyPr/>
          <a:lstStyle/>
          <a:p>
            <a:pPr fontAlgn="ctr"/>
            <a:r>
              <a:rPr lang="en-US" sz="2000" dirty="0" smtClean="0"/>
              <a:t>Variables</a:t>
            </a:r>
            <a:r>
              <a:rPr lang="en-US" dirty="0" smtClean="0"/>
              <a:t> – </a:t>
            </a:r>
          </a:p>
          <a:p>
            <a:pPr lvl="1" fontAlgn="ctr"/>
            <a:r>
              <a:rPr lang="en-US" sz="1600" dirty="0" smtClean="0"/>
              <a:t>Definition: Single storage location and starts with $ sign in PowerShell. To assign data to a variable use a “=“.</a:t>
            </a:r>
          </a:p>
          <a:p>
            <a:pPr lvl="1" fontAlgn="ctr"/>
            <a:r>
              <a:rPr lang="en-US" sz="1600" dirty="0" smtClean="0"/>
              <a:t>Considerations</a:t>
            </a:r>
          </a:p>
          <a:p>
            <a:pPr lvl="4" fontAlgn="ctr"/>
            <a:r>
              <a:rPr lang="en-US" sz="1600" dirty="0" smtClean="0"/>
              <a:t>Define variable type “[string]”</a:t>
            </a:r>
          </a:p>
          <a:p>
            <a:pPr lvl="4" fontAlgn="ctr"/>
            <a:r>
              <a:rPr lang="en-US" sz="1600" dirty="0" smtClean="0"/>
              <a:t>Add prefix based on variable type – </a:t>
            </a:r>
            <a:r>
              <a:rPr lang="en-US" sz="1600" dirty="0" err="1" smtClean="0"/>
              <a:t>Str</a:t>
            </a:r>
            <a:r>
              <a:rPr lang="en-US" sz="1600" dirty="0" smtClean="0"/>
              <a:t>, </a:t>
            </a:r>
            <a:r>
              <a:rPr lang="en-US" sz="1600" dirty="0" err="1" smtClean="0"/>
              <a:t>Arr</a:t>
            </a:r>
            <a:r>
              <a:rPr lang="en-US" sz="1600" dirty="0" smtClean="0"/>
              <a:t>, </a:t>
            </a:r>
            <a:r>
              <a:rPr lang="en-US" sz="1600" dirty="0" err="1" smtClean="0"/>
              <a:t>Bln</a:t>
            </a:r>
            <a:endParaRPr lang="en-US" sz="1600" dirty="0" smtClean="0"/>
          </a:p>
          <a:p>
            <a:pPr lvl="1" fontAlgn="ctr"/>
            <a:r>
              <a:rPr lang="en-US" sz="1600" dirty="0" smtClean="0"/>
              <a:t>Examples </a:t>
            </a:r>
          </a:p>
          <a:p>
            <a:pPr marL="742950" lvl="2" indent="0">
              <a:buNone/>
            </a:pP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strComputer</a:t>
            </a:r>
            <a:r>
              <a:rPr lang="en-US" sz="1600" dirty="0" smtClean="0">
                <a:latin typeface="Consolas" pitchFamily="49" charset="0"/>
                <a:cs typeface="Consolas" pitchFamily="49" charset="0"/>
              </a:rPr>
              <a:t> = “</a:t>
            </a:r>
            <a:r>
              <a:rPr lang="en-US" sz="1600" dirty="0" err="1" smtClean="0">
                <a:latin typeface="Consolas" pitchFamily="49" charset="0"/>
                <a:cs typeface="Consolas" pitchFamily="49" charset="0"/>
              </a:rPr>
              <a:t>localhost</a:t>
            </a:r>
            <a:r>
              <a:rPr lang="en-US" sz="1600" dirty="0" smtClean="0">
                <a:latin typeface="Consolas" pitchFamily="49" charset="0"/>
                <a:cs typeface="Consolas" pitchFamily="49" charset="0"/>
              </a:rPr>
              <a:t>” </a:t>
            </a:r>
          </a:p>
          <a:p>
            <a:pPr marL="742950" lvl="2" indent="0">
              <a:buNone/>
            </a:pPr>
            <a:r>
              <a:rPr lang="en-US" sz="1600" dirty="0" smtClean="0">
                <a:latin typeface="Consolas" pitchFamily="49" charset="0"/>
                <a:cs typeface="Consolas" pitchFamily="49" charset="0"/>
              </a:rPr>
              <a:t>$events = get-</a:t>
            </a:r>
            <a:r>
              <a:rPr lang="en-US" sz="1600" dirty="0" err="1" smtClean="0">
                <a:latin typeface="Consolas" pitchFamily="49" charset="0"/>
                <a:cs typeface="Consolas" pitchFamily="49" charset="0"/>
              </a:rPr>
              <a:t>eventlog</a:t>
            </a:r>
            <a:r>
              <a:rPr lang="en-US" sz="1600" dirty="0" smtClean="0">
                <a:latin typeface="Consolas" pitchFamily="49" charset="0"/>
                <a:cs typeface="Consolas" pitchFamily="49" charset="0"/>
              </a:rPr>
              <a:t> -newest 5 -</a:t>
            </a:r>
            <a:r>
              <a:rPr lang="en-US" sz="1600" dirty="0" err="1" smtClean="0">
                <a:latin typeface="Consolas" pitchFamily="49" charset="0"/>
                <a:cs typeface="Consolas" pitchFamily="49" charset="0"/>
              </a:rPr>
              <a:t>logname</a:t>
            </a:r>
            <a:r>
              <a:rPr lang="en-US" sz="1600" dirty="0" smtClean="0">
                <a:latin typeface="Consolas" pitchFamily="49" charset="0"/>
                <a:cs typeface="Consolas" pitchFamily="49" charset="0"/>
              </a:rPr>
              <a:t> system</a:t>
            </a:r>
          </a:p>
          <a:p>
            <a:pPr lvl="2"/>
            <a:endParaRPr lang="en-US" sz="1600" dirty="0" smtClean="0"/>
          </a:p>
          <a:p>
            <a:endParaRPr lang="en-US" dirty="0"/>
          </a:p>
        </p:txBody>
      </p:sp>
      <p:pic>
        <p:nvPicPr>
          <p:cNvPr id="1026" name="Picture 2"/>
          <p:cNvPicPr>
            <a:picLocks noChangeAspect="1" noChangeArrowheads="1"/>
          </p:cNvPicPr>
          <p:nvPr/>
        </p:nvPicPr>
        <p:blipFill>
          <a:blip r:embed="rId3"/>
          <a:srcRect/>
          <a:stretch>
            <a:fillRect/>
          </a:stretch>
        </p:blipFill>
        <p:spPr bwMode="auto">
          <a:xfrm>
            <a:off x="609600" y="3962400"/>
            <a:ext cx="7980363" cy="1543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Content Placeholder 2"/>
          <p:cNvSpPr>
            <a:spLocks noGrp="1"/>
          </p:cNvSpPr>
          <p:nvPr>
            <p:ph idx="1"/>
          </p:nvPr>
        </p:nvSpPr>
        <p:spPr>
          <a:xfrm>
            <a:off x="917575" y="838200"/>
            <a:ext cx="7369175" cy="2743200"/>
          </a:xfrm>
          <a:ln>
            <a:noFill/>
          </a:ln>
        </p:spPr>
        <p:txBody>
          <a:bodyPr/>
          <a:lstStyle/>
          <a:p>
            <a:pPr fontAlgn="ctr"/>
            <a:r>
              <a:rPr lang="en-US" sz="2000" dirty="0" smtClean="0"/>
              <a:t>Arrays - </a:t>
            </a:r>
          </a:p>
          <a:p>
            <a:pPr lvl="1" fontAlgn="ctr"/>
            <a:r>
              <a:rPr lang="en-US" sz="1600" dirty="0" smtClean="0"/>
              <a:t>Definition: Multiple variables index to a specific value (0),(1), and so on. An array is noted by @ symbol.</a:t>
            </a:r>
          </a:p>
          <a:p>
            <a:pPr lvl="1" fontAlgn="ctr"/>
            <a:r>
              <a:rPr lang="en-US" sz="1600" dirty="0" smtClean="0"/>
              <a:t>Use case examples: </a:t>
            </a:r>
          </a:p>
          <a:p>
            <a:pPr lvl="2" fontAlgn="ctr"/>
            <a:r>
              <a:rPr lang="en-US" sz="1600" dirty="0" smtClean="0"/>
              <a:t>Cleanliness</a:t>
            </a:r>
          </a:p>
          <a:p>
            <a:pPr lvl="2" fontAlgn="ctr"/>
            <a:r>
              <a:rPr lang="en-US" sz="1600" dirty="0" smtClean="0"/>
              <a:t>Associated Properties (Count)</a:t>
            </a:r>
          </a:p>
          <a:p>
            <a:pPr lvl="1" fontAlgn="ctr"/>
            <a:r>
              <a:rPr lang="en-US" sz="1600" dirty="0" smtClean="0"/>
              <a:t>Example</a:t>
            </a:r>
          </a:p>
          <a:p>
            <a:pPr marL="742950" lvl="2" indent="0">
              <a:buNone/>
            </a:pPr>
            <a:r>
              <a:rPr lang="en-US" sz="1600" dirty="0" smtClean="0">
                <a:latin typeface="Consolas" pitchFamily="49" charset="0"/>
                <a:cs typeface="Consolas" pitchFamily="49" charset="0"/>
              </a:rPr>
              <a:t>$</a:t>
            </a:r>
            <a:r>
              <a:rPr lang="en-US" sz="1600" dirty="0" err="1" smtClean="0">
                <a:latin typeface="Consolas" pitchFamily="49" charset="0"/>
                <a:cs typeface="Consolas" pitchFamily="49" charset="0"/>
              </a:rPr>
              <a:t>arrComputers</a:t>
            </a:r>
            <a:r>
              <a:rPr lang="en-US" sz="1600" dirty="0" smtClean="0">
                <a:latin typeface="Consolas" pitchFamily="49" charset="0"/>
                <a:cs typeface="Consolas" pitchFamily="49" charset="0"/>
              </a:rPr>
              <a:t> = @(“Server1″, “Server2″, “Server3″)&lt;enter&gt;</a:t>
            </a:r>
          </a:p>
          <a:p>
            <a:pPr marL="742950" lvl="2" indent="0">
              <a:buNone/>
            </a:pPr>
            <a:r>
              <a:rPr lang="en-US" sz="1600" dirty="0" smtClean="0">
                <a:latin typeface="Consolas" pitchFamily="49" charset="0"/>
                <a:cs typeface="Consolas" pitchFamily="49" charset="0"/>
              </a:rPr>
              <a:t>@(Get-Services).count</a:t>
            </a:r>
          </a:p>
          <a:p>
            <a:endParaRPr lang="en-US" dirty="0"/>
          </a:p>
        </p:txBody>
      </p:sp>
      <p:pic>
        <p:nvPicPr>
          <p:cNvPr id="2050" name="Picture 2"/>
          <p:cNvPicPr>
            <a:picLocks noChangeAspect="1" noChangeArrowheads="1"/>
          </p:cNvPicPr>
          <p:nvPr/>
        </p:nvPicPr>
        <p:blipFill>
          <a:blip r:embed="rId3"/>
          <a:srcRect/>
          <a:stretch>
            <a:fillRect/>
          </a:stretch>
        </p:blipFill>
        <p:spPr bwMode="auto">
          <a:xfrm>
            <a:off x="914400" y="3886200"/>
            <a:ext cx="7187325" cy="91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Constants</a:t>
            </a:r>
            <a:endParaRPr lang="en-US" dirty="0"/>
          </a:p>
        </p:txBody>
      </p:sp>
      <p:sp>
        <p:nvSpPr>
          <p:cNvPr id="3" name="Content Placeholder 2"/>
          <p:cNvSpPr>
            <a:spLocks noGrp="1"/>
          </p:cNvSpPr>
          <p:nvPr>
            <p:ph idx="1"/>
          </p:nvPr>
        </p:nvSpPr>
        <p:spPr>
          <a:xfrm>
            <a:off x="917575" y="838200"/>
            <a:ext cx="7369175" cy="2057400"/>
          </a:xfrm>
        </p:spPr>
        <p:txBody>
          <a:bodyPr/>
          <a:lstStyle/>
          <a:p>
            <a:r>
              <a:rPr lang="en-US" sz="2000" dirty="0" smtClean="0"/>
              <a:t>Constants – </a:t>
            </a:r>
          </a:p>
          <a:p>
            <a:pPr lvl="1"/>
            <a:r>
              <a:rPr lang="en-US" sz="1600" dirty="0" smtClean="0"/>
              <a:t>Definition: A special type of variable that cannot be changed after creation.</a:t>
            </a:r>
          </a:p>
          <a:p>
            <a:pPr lvl="1"/>
            <a:r>
              <a:rPr lang="en-US" sz="1600" dirty="0" smtClean="0"/>
              <a:t>Use Cases</a:t>
            </a:r>
          </a:p>
          <a:p>
            <a:pPr lvl="2"/>
            <a:r>
              <a:rPr lang="en-US" sz="1600" dirty="0" smtClean="0"/>
              <a:t>Static / Predictable Variables</a:t>
            </a:r>
          </a:p>
          <a:p>
            <a:pPr lvl="3"/>
            <a:r>
              <a:rPr lang="en-US" dirty="0" smtClean="0"/>
              <a:t>Database Connection Strings</a:t>
            </a:r>
          </a:p>
          <a:p>
            <a:pPr lvl="3"/>
            <a:r>
              <a:rPr lang="en-US" dirty="0" smtClean="0"/>
              <a:t>Unique / Expected Variable Aliases</a:t>
            </a:r>
          </a:p>
          <a:p>
            <a:pPr lvl="1"/>
            <a:r>
              <a:rPr lang="en-US" sz="1600" dirty="0" smtClean="0"/>
              <a:t>Considerations</a:t>
            </a:r>
          </a:p>
          <a:p>
            <a:pPr lvl="2"/>
            <a:r>
              <a:rPr lang="en-US" sz="1600" dirty="0" smtClean="0"/>
              <a:t>When referencing a variable within a </a:t>
            </a:r>
            <a:r>
              <a:rPr lang="en-US" sz="1600" dirty="0" err="1" smtClean="0"/>
              <a:t>cmdlet</a:t>
            </a:r>
            <a:r>
              <a:rPr lang="en-US" sz="1600" dirty="0" smtClean="0"/>
              <a:t> string, do not enter the dollar sign ($)</a:t>
            </a:r>
          </a:p>
          <a:p>
            <a:pPr lvl="1"/>
            <a:r>
              <a:rPr lang="en-US" sz="1600" dirty="0" smtClean="0"/>
              <a:t>Example</a:t>
            </a:r>
          </a:p>
          <a:p>
            <a:pPr marL="742950" lvl="2" indent="0">
              <a:buNone/>
            </a:pPr>
            <a:r>
              <a:rPr lang="en-US" sz="1600" dirty="0" smtClean="0">
                <a:latin typeface="Consolas" pitchFamily="49" charset="0"/>
                <a:cs typeface="Consolas" pitchFamily="49" charset="0"/>
              </a:rPr>
              <a:t>Set-Variable –Name Pi –value 3.142 –option constant</a:t>
            </a:r>
          </a:p>
          <a:p>
            <a:pPr lvl="2"/>
            <a:endParaRPr lang="en-US" sz="1800" dirty="0"/>
          </a:p>
        </p:txBody>
      </p:sp>
      <p:pic>
        <p:nvPicPr>
          <p:cNvPr id="4098" name="Picture 2"/>
          <p:cNvPicPr>
            <a:picLocks noChangeAspect="1" noChangeArrowheads="1"/>
          </p:cNvPicPr>
          <p:nvPr/>
        </p:nvPicPr>
        <p:blipFill>
          <a:blip r:embed="rId3"/>
          <a:srcRect/>
          <a:stretch>
            <a:fillRect/>
          </a:stretch>
        </p:blipFill>
        <p:spPr bwMode="auto">
          <a:xfrm>
            <a:off x="762000" y="4572000"/>
            <a:ext cx="7140389" cy="45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a:t>
            </a:r>
            <a:endParaRPr lang="en-US" dirty="0"/>
          </a:p>
        </p:txBody>
      </p:sp>
      <p:sp>
        <p:nvSpPr>
          <p:cNvPr id="3" name="Content Placeholder 2"/>
          <p:cNvSpPr>
            <a:spLocks noGrp="1"/>
          </p:cNvSpPr>
          <p:nvPr>
            <p:ph idx="1"/>
          </p:nvPr>
        </p:nvSpPr>
        <p:spPr/>
        <p:txBody>
          <a:bodyPr/>
          <a:lstStyle/>
          <a:p>
            <a:pPr fontAlgn="ctr"/>
            <a:r>
              <a:rPr lang="en-US" sz="2000" dirty="0" smtClean="0"/>
              <a:t>Looping –</a:t>
            </a:r>
          </a:p>
          <a:p>
            <a:pPr lvl="1" fontAlgn="ctr"/>
            <a:r>
              <a:rPr lang="en-US" sz="1600" dirty="0" smtClean="0"/>
              <a:t>Definition: Process that allows us to repeat a command and process large amounts of data.</a:t>
            </a:r>
          </a:p>
          <a:p>
            <a:pPr lvl="1" fontAlgn="ctr"/>
            <a:r>
              <a:rPr lang="en-US" sz="1600" dirty="0" smtClean="0"/>
              <a:t>Use Cases</a:t>
            </a:r>
          </a:p>
          <a:p>
            <a:pPr lvl="2" fontAlgn="ctr"/>
            <a:r>
              <a:rPr lang="en-US" sz="1600" dirty="0" smtClean="0"/>
              <a:t>Loop through collections, arrays, lists, datasets, </a:t>
            </a:r>
            <a:r>
              <a:rPr lang="en-US" sz="1600" dirty="0" err="1" smtClean="0"/>
              <a:t>datatables</a:t>
            </a:r>
            <a:r>
              <a:rPr lang="en-US" sz="1600" dirty="0" smtClean="0"/>
              <a:t>, etc. </a:t>
            </a:r>
          </a:p>
          <a:p>
            <a:pPr lvl="1" fontAlgn="ctr"/>
            <a:r>
              <a:rPr lang="en-US" sz="1600" dirty="0" smtClean="0"/>
              <a:t>Different types</a:t>
            </a:r>
          </a:p>
          <a:p>
            <a:pPr lvl="2" fontAlgn="ctr"/>
            <a:r>
              <a:rPr lang="en-US" sz="1600" b="1" dirty="0" smtClean="0"/>
              <a:t>do while </a:t>
            </a:r>
            <a:r>
              <a:rPr lang="en-US" sz="1600" dirty="0" smtClean="0"/>
              <a:t>- Script block executes as long as condition value = True.</a:t>
            </a:r>
          </a:p>
          <a:p>
            <a:pPr lvl="2" fontAlgn="ctr"/>
            <a:r>
              <a:rPr lang="en-US" sz="1600" b="1" dirty="0" smtClean="0"/>
              <a:t>while</a:t>
            </a:r>
            <a:r>
              <a:rPr lang="en-US" sz="1600" dirty="0" smtClean="0"/>
              <a:t> - Same as “do while.”</a:t>
            </a:r>
          </a:p>
          <a:p>
            <a:pPr lvl="2" fontAlgn="ctr"/>
            <a:r>
              <a:rPr lang="en-US" sz="1600" b="1" dirty="0" smtClean="0"/>
              <a:t>do until </a:t>
            </a:r>
            <a:r>
              <a:rPr lang="en-US" sz="1600" dirty="0" smtClean="0"/>
              <a:t>– Script block executes until the condition value = True.</a:t>
            </a:r>
          </a:p>
          <a:p>
            <a:pPr lvl="2" fontAlgn="ctr"/>
            <a:r>
              <a:rPr lang="en-US" sz="1600" b="1" dirty="0" smtClean="0"/>
              <a:t>for</a:t>
            </a:r>
            <a:r>
              <a:rPr lang="en-US" sz="1600" dirty="0" smtClean="0"/>
              <a:t> – Script block executes a specified number of times.</a:t>
            </a:r>
          </a:p>
          <a:p>
            <a:pPr lvl="2" fontAlgn="ctr"/>
            <a:r>
              <a:rPr lang="en-US" sz="1600" b="1" dirty="0" err="1" smtClean="0"/>
              <a:t>foreach</a:t>
            </a:r>
            <a:r>
              <a:rPr lang="en-US" sz="1600" dirty="0" smtClean="0"/>
              <a:t> - Executes script block for each item in a collection or array.</a:t>
            </a:r>
          </a:p>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 - Examples</a:t>
            </a:r>
            <a:endParaRPr lang="en-US" dirty="0"/>
          </a:p>
        </p:txBody>
      </p:sp>
      <p:sp>
        <p:nvSpPr>
          <p:cNvPr id="3" name="Content Placeholder 2"/>
          <p:cNvSpPr>
            <a:spLocks noGrp="1"/>
          </p:cNvSpPr>
          <p:nvPr>
            <p:ph idx="1"/>
          </p:nvPr>
        </p:nvSpPr>
        <p:spPr>
          <a:xfrm>
            <a:off x="917575" y="838200"/>
            <a:ext cx="7369175" cy="1295400"/>
          </a:xfrm>
        </p:spPr>
        <p:txBody>
          <a:bodyPr/>
          <a:lstStyle/>
          <a:p>
            <a:r>
              <a:rPr lang="en-US" sz="2000" dirty="0" smtClean="0"/>
              <a:t>Do While –</a:t>
            </a:r>
          </a:p>
          <a:p>
            <a:pPr lvl="1"/>
            <a:r>
              <a:rPr lang="en-US" sz="1600" dirty="0" smtClean="0"/>
              <a:t>Syntax: </a:t>
            </a:r>
          </a:p>
          <a:p>
            <a:pPr lvl="1">
              <a:buNone/>
            </a:pPr>
            <a:r>
              <a:rPr lang="en-US" sz="1600" dirty="0" smtClean="0"/>
              <a:t>	</a:t>
            </a:r>
            <a:r>
              <a:rPr lang="en-US" sz="1600" dirty="0" smtClean="0">
                <a:latin typeface="Consolas" pitchFamily="49" charset="0"/>
                <a:cs typeface="Consolas" pitchFamily="49" charset="0"/>
              </a:rPr>
              <a:t>do {code block}</a:t>
            </a:r>
            <a:br>
              <a:rPr lang="en-US" sz="1600" dirty="0" smtClean="0">
                <a:latin typeface="Consolas" pitchFamily="49" charset="0"/>
                <a:cs typeface="Consolas" pitchFamily="49" charset="0"/>
              </a:rPr>
            </a:br>
            <a:r>
              <a:rPr lang="en-US" sz="1600" dirty="0" smtClean="0">
                <a:latin typeface="Consolas" pitchFamily="49" charset="0"/>
                <a:cs typeface="Consolas" pitchFamily="49" charset="0"/>
              </a:rPr>
              <a:t>while (condition)</a:t>
            </a:r>
          </a:p>
          <a:p>
            <a:pPr lvl="1"/>
            <a:r>
              <a:rPr lang="en-US" sz="1600" dirty="0" smtClean="0"/>
              <a:t>Example</a:t>
            </a:r>
          </a:p>
          <a:p>
            <a:pPr lvl="1"/>
            <a:endParaRPr lang="en-US" sz="1600" dirty="0"/>
          </a:p>
        </p:txBody>
      </p:sp>
      <p:pic>
        <p:nvPicPr>
          <p:cNvPr id="3074" name="Picture 2"/>
          <p:cNvPicPr>
            <a:picLocks noChangeAspect="1" noChangeArrowheads="1"/>
          </p:cNvPicPr>
          <p:nvPr/>
        </p:nvPicPr>
        <p:blipFill>
          <a:blip r:embed="rId3"/>
          <a:srcRect/>
          <a:stretch>
            <a:fillRect/>
          </a:stretch>
        </p:blipFill>
        <p:spPr bwMode="auto">
          <a:xfrm>
            <a:off x="914400" y="2628900"/>
            <a:ext cx="7036918" cy="2705100"/>
          </a:xfrm>
          <a:prstGeom prst="rect">
            <a:avLst/>
          </a:prstGeom>
          <a:noFill/>
          <a:ln w="9525">
            <a:noFill/>
            <a:miter lim="800000"/>
            <a:headEnd/>
            <a:tailEnd/>
          </a:ln>
        </p:spPr>
      </p:pic>
    </p:spTree>
    <p:extLst>
      <p:ext uri="{BB962C8B-B14F-4D97-AF65-F5344CB8AC3E}">
        <p14:creationId xmlns="" xmlns:p14="http://schemas.microsoft.com/office/powerpoint/2010/main" val="171461862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 - Examples</a:t>
            </a:r>
            <a:endParaRPr lang="en-US" dirty="0"/>
          </a:p>
        </p:txBody>
      </p:sp>
      <p:sp>
        <p:nvSpPr>
          <p:cNvPr id="3" name="Content Placeholder 2"/>
          <p:cNvSpPr>
            <a:spLocks noGrp="1"/>
          </p:cNvSpPr>
          <p:nvPr>
            <p:ph idx="1"/>
          </p:nvPr>
        </p:nvSpPr>
        <p:spPr>
          <a:xfrm>
            <a:off x="917575" y="838200"/>
            <a:ext cx="7369175" cy="1143000"/>
          </a:xfrm>
        </p:spPr>
        <p:txBody>
          <a:bodyPr/>
          <a:lstStyle/>
          <a:p>
            <a:r>
              <a:rPr lang="en-US" sz="2000" dirty="0" smtClean="0"/>
              <a:t>While –</a:t>
            </a:r>
          </a:p>
          <a:p>
            <a:pPr lvl="1"/>
            <a:r>
              <a:rPr lang="en-US" sz="1600" dirty="0" smtClean="0"/>
              <a:t>Syntax:  </a:t>
            </a:r>
          </a:p>
          <a:p>
            <a:pPr marL="342900" lvl="1" indent="0">
              <a:buNone/>
            </a:pPr>
            <a:r>
              <a:rPr lang="en-US" sz="1600" dirty="0">
                <a:latin typeface="Consolas" pitchFamily="49" charset="0"/>
                <a:cs typeface="Consolas" pitchFamily="49" charset="0"/>
              </a:rPr>
              <a:t>	</a:t>
            </a:r>
            <a:r>
              <a:rPr lang="en-US" sz="1600" dirty="0" smtClean="0">
                <a:latin typeface="Consolas" pitchFamily="49" charset="0"/>
                <a:cs typeface="Consolas" pitchFamily="49" charset="0"/>
              </a:rPr>
              <a:t>while (condition) </a:t>
            </a:r>
          </a:p>
          <a:p>
            <a:pPr marL="342900" lvl="1" indent="0">
              <a:buNone/>
            </a:pPr>
            <a:r>
              <a:rPr lang="en-US" sz="1600" dirty="0">
                <a:latin typeface="Consolas" pitchFamily="49" charset="0"/>
                <a:cs typeface="Consolas" pitchFamily="49" charset="0"/>
              </a:rPr>
              <a:t>	</a:t>
            </a:r>
            <a:r>
              <a:rPr lang="en-US" sz="1600" dirty="0" smtClean="0">
                <a:latin typeface="Consolas" pitchFamily="49" charset="0"/>
                <a:cs typeface="Consolas" pitchFamily="49" charset="0"/>
              </a:rPr>
              <a:t>{code block}</a:t>
            </a:r>
          </a:p>
          <a:p>
            <a:pPr lvl="1"/>
            <a:r>
              <a:rPr lang="en-US" sz="1600" dirty="0" smtClean="0"/>
              <a:t>Example</a:t>
            </a:r>
          </a:p>
          <a:p>
            <a:endParaRPr lang="en-US" dirty="0"/>
          </a:p>
        </p:txBody>
      </p:sp>
      <p:pic>
        <p:nvPicPr>
          <p:cNvPr id="4098" name="Picture 2"/>
          <p:cNvPicPr>
            <a:picLocks noChangeAspect="1" noChangeArrowheads="1"/>
          </p:cNvPicPr>
          <p:nvPr/>
        </p:nvPicPr>
        <p:blipFill>
          <a:blip r:embed="rId3"/>
          <a:srcRect/>
          <a:stretch>
            <a:fillRect/>
          </a:stretch>
        </p:blipFill>
        <p:spPr bwMode="auto">
          <a:xfrm>
            <a:off x="762000" y="2514600"/>
            <a:ext cx="7453993"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 - Examples</a:t>
            </a:r>
            <a:endParaRPr lang="en-US" dirty="0"/>
          </a:p>
        </p:txBody>
      </p:sp>
      <p:sp>
        <p:nvSpPr>
          <p:cNvPr id="3" name="Content Placeholder 2"/>
          <p:cNvSpPr>
            <a:spLocks noGrp="1"/>
          </p:cNvSpPr>
          <p:nvPr>
            <p:ph idx="1"/>
          </p:nvPr>
        </p:nvSpPr>
        <p:spPr>
          <a:xfrm>
            <a:off x="917575" y="838200"/>
            <a:ext cx="7369175" cy="1447800"/>
          </a:xfrm>
        </p:spPr>
        <p:txBody>
          <a:bodyPr/>
          <a:lstStyle/>
          <a:p>
            <a:r>
              <a:rPr lang="en-US" sz="2000" dirty="0" smtClean="0"/>
              <a:t>Do until –</a:t>
            </a:r>
          </a:p>
          <a:p>
            <a:pPr lvl="1"/>
            <a:r>
              <a:rPr lang="en-US" sz="1600" dirty="0" smtClean="0"/>
              <a:t>Syntax: </a:t>
            </a:r>
          </a:p>
          <a:p>
            <a:pPr lvl="1">
              <a:buNone/>
            </a:pPr>
            <a:r>
              <a:rPr lang="en-US" sz="1600" dirty="0" smtClean="0">
                <a:latin typeface="Consolas" pitchFamily="49" charset="0"/>
                <a:cs typeface="Consolas" pitchFamily="49" charset="0"/>
              </a:rPr>
              <a:t>	do {code block}</a:t>
            </a:r>
            <a:br>
              <a:rPr lang="en-US" sz="1600" dirty="0" smtClean="0">
                <a:latin typeface="Consolas" pitchFamily="49" charset="0"/>
                <a:cs typeface="Consolas" pitchFamily="49" charset="0"/>
              </a:rPr>
            </a:br>
            <a:r>
              <a:rPr lang="en-US" sz="1600" dirty="0" smtClean="0">
                <a:latin typeface="Consolas" pitchFamily="49" charset="0"/>
                <a:cs typeface="Consolas" pitchFamily="49" charset="0"/>
              </a:rPr>
              <a:t>until (condition)</a:t>
            </a:r>
          </a:p>
          <a:p>
            <a:pPr lvl="1"/>
            <a:r>
              <a:rPr lang="en-US" sz="1600" dirty="0" smtClean="0"/>
              <a:t>Example</a:t>
            </a:r>
          </a:p>
          <a:p>
            <a:pPr lvl="1">
              <a:buNone/>
            </a:pPr>
            <a:r>
              <a:rPr lang="en-US" sz="1600" dirty="0" smtClean="0"/>
              <a:t>	</a:t>
            </a:r>
          </a:p>
          <a:p>
            <a:pPr lvl="1">
              <a:buNone/>
            </a:pPr>
            <a:endParaRPr lang="en-US" sz="1600" dirty="0" smtClean="0"/>
          </a:p>
          <a:p>
            <a:endParaRPr lang="en-US" dirty="0"/>
          </a:p>
        </p:txBody>
      </p:sp>
      <p:pic>
        <p:nvPicPr>
          <p:cNvPr id="5126" name="Picture 6"/>
          <p:cNvPicPr>
            <a:picLocks noChangeAspect="1" noChangeArrowheads="1"/>
          </p:cNvPicPr>
          <p:nvPr/>
        </p:nvPicPr>
        <p:blipFill>
          <a:blip r:embed="rId3"/>
          <a:srcRect/>
          <a:stretch>
            <a:fillRect/>
          </a:stretch>
        </p:blipFill>
        <p:spPr bwMode="auto">
          <a:xfrm>
            <a:off x="838199" y="2590800"/>
            <a:ext cx="7615311"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 - Examples</a:t>
            </a:r>
            <a:endParaRPr lang="en-US" dirty="0"/>
          </a:p>
        </p:txBody>
      </p:sp>
      <p:sp>
        <p:nvSpPr>
          <p:cNvPr id="3" name="Content Placeholder 2"/>
          <p:cNvSpPr>
            <a:spLocks noGrp="1"/>
          </p:cNvSpPr>
          <p:nvPr>
            <p:ph idx="1"/>
          </p:nvPr>
        </p:nvSpPr>
        <p:spPr>
          <a:xfrm>
            <a:off x="917575" y="838200"/>
            <a:ext cx="7369175" cy="1981200"/>
          </a:xfrm>
        </p:spPr>
        <p:txBody>
          <a:bodyPr/>
          <a:lstStyle/>
          <a:p>
            <a:r>
              <a:rPr lang="en-US" sz="2000" dirty="0" smtClean="0"/>
              <a:t>For –</a:t>
            </a:r>
          </a:p>
          <a:p>
            <a:pPr lvl="1"/>
            <a:r>
              <a:rPr lang="en-US" sz="1600" dirty="0" smtClean="0"/>
              <a:t>Syntax:  </a:t>
            </a:r>
          </a:p>
          <a:p>
            <a:pPr lvl="1">
              <a:buNone/>
            </a:pPr>
            <a:r>
              <a:rPr lang="en-US" sz="1600" dirty="0" smtClean="0"/>
              <a:t>	</a:t>
            </a:r>
            <a:r>
              <a:rPr lang="en-US" sz="1600" dirty="0" smtClean="0">
                <a:latin typeface="Consolas" pitchFamily="49" charset="0"/>
                <a:cs typeface="Consolas" pitchFamily="49" charset="0"/>
              </a:rPr>
              <a:t>for (initialization; condition; repeat)</a:t>
            </a:r>
            <a:br>
              <a:rPr lang="en-US" sz="1600" dirty="0" smtClean="0">
                <a:latin typeface="Consolas" pitchFamily="49" charset="0"/>
                <a:cs typeface="Consolas" pitchFamily="49" charset="0"/>
              </a:rPr>
            </a:br>
            <a:r>
              <a:rPr lang="en-US" sz="1600" dirty="0" smtClean="0">
                <a:latin typeface="Consolas" pitchFamily="49" charset="0"/>
                <a:cs typeface="Consolas" pitchFamily="49" charset="0"/>
              </a:rPr>
              <a:t>{code block}</a:t>
            </a:r>
          </a:p>
          <a:p>
            <a:pPr lvl="1"/>
            <a:r>
              <a:rPr lang="en-US" sz="1600" dirty="0" smtClean="0"/>
              <a:t>Note:  It is important to know the order of initialization; condition; repeat -or this could lead to an infinite loop. (In the case of infinite loop remember  “Ctrl + C”)</a:t>
            </a:r>
          </a:p>
          <a:p>
            <a:pPr lvl="1"/>
            <a:r>
              <a:rPr lang="en-US" sz="1600" dirty="0" smtClean="0"/>
              <a:t>Example</a:t>
            </a:r>
          </a:p>
          <a:p>
            <a:pPr lvl="1">
              <a:buNone/>
            </a:pPr>
            <a:endParaRPr lang="en-US" sz="1600" dirty="0" smtClean="0"/>
          </a:p>
          <a:p>
            <a:pPr lvl="1">
              <a:buNone/>
            </a:pPr>
            <a:endParaRPr lang="en-US" sz="1600" dirty="0" smtClean="0"/>
          </a:p>
          <a:p>
            <a:endParaRPr lang="en-US" dirty="0"/>
          </a:p>
        </p:txBody>
      </p:sp>
      <p:pic>
        <p:nvPicPr>
          <p:cNvPr id="6146" name="Picture 2"/>
          <p:cNvPicPr>
            <a:picLocks noChangeAspect="1" noChangeArrowheads="1"/>
          </p:cNvPicPr>
          <p:nvPr/>
        </p:nvPicPr>
        <p:blipFill>
          <a:blip r:embed="rId3"/>
          <a:srcRect/>
          <a:stretch>
            <a:fillRect/>
          </a:stretch>
        </p:blipFill>
        <p:spPr bwMode="auto">
          <a:xfrm>
            <a:off x="838200" y="3352800"/>
            <a:ext cx="7649633" cy="198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Looping - Examples</a:t>
            </a:r>
            <a:endParaRPr lang="en-US" dirty="0"/>
          </a:p>
        </p:txBody>
      </p:sp>
      <p:sp>
        <p:nvSpPr>
          <p:cNvPr id="3" name="Content Placeholder 2"/>
          <p:cNvSpPr>
            <a:spLocks noGrp="1"/>
          </p:cNvSpPr>
          <p:nvPr>
            <p:ph idx="1"/>
          </p:nvPr>
        </p:nvSpPr>
        <p:spPr>
          <a:xfrm>
            <a:off x="917575" y="838200"/>
            <a:ext cx="7369175" cy="1981200"/>
          </a:xfrm>
        </p:spPr>
        <p:txBody>
          <a:bodyPr/>
          <a:lstStyle/>
          <a:p>
            <a:r>
              <a:rPr lang="en-US" sz="2000" dirty="0" err="1" smtClean="0"/>
              <a:t>Foreach</a:t>
            </a:r>
            <a:r>
              <a:rPr lang="en-US" sz="2000" dirty="0" smtClean="0"/>
              <a:t> –</a:t>
            </a:r>
          </a:p>
          <a:p>
            <a:pPr lvl="1"/>
            <a:r>
              <a:rPr lang="en-US" sz="1600" dirty="0" smtClean="0"/>
              <a:t>Syntax:  </a:t>
            </a:r>
          </a:p>
          <a:p>
            <a:pPr lvl="1">
              <a:buNone/>
            </a:pPr>
            <a:r>
              <a:rPr lang="en-US" sz="1600" dirty="0" smtClean="0"/>
              <a:t>	</a:t>
            </a:r>
            <a:r>
              <a:rPr lang="en-US" sz="1600" dirty="0" err="1" smtClean="0">
                <a:latin typeface="Consolas" pitchFamily="49" charset="0"/>
                <a:cs typeface="Consolas" pitchFamily="49" charset="0"/>
              </a:rPr>
              <a:t>foreach</a:t>
            </a:r>
            <a:r>
              <a:rPr lang="en-US" sz="1600" dirty="0" smtClean="0">
                <a:latin typeface="Consolas" pitchFamily="49" charset="0"/>
                <a:cs typeface="Consolas" pitchFamily="49" charset="0"/>
              </a:rPr>
              <a:t> ($&lt;item&gt; in $&lt;collection&gt;) </a:t>
            </a:r>
          </a:p>
          <a:p>
            <a:pPr lvl="1">
              <a:buNone/>
            </a:pPr>
            <a:r>
              <a:rPr lang="en-US" sz="1600" dirty="0">
                <a:latin typeface="Consolas" pitchFamily="49" charset="0"/>
                <a:cs typeface="Consolas" pitchFamily="49" charset="0"/>
              </a:rPr>
              <a:t>	</a:t>
            </a:r>
            <a:r>
              <a:rPr lang="en-US" sz="1600" dirty="0" smtClean="0">
                <a:latin typeface="Consolas" pitchFamily="49" charset="0"/>
                <a:cs typeface="Consolas" pitchFamily="49" charset="0"/>
              </a:rPr>
              <a:t>{code block}</a:t>
            </a:r>
          </a:p>
          <a:p>
            <a:pPr lvl="1"/>
            <a:r>
              <a:rPr lang="en-US" sz="1600" dirty="0" smtClean="0"/>
              <a:t>Example</a:t>
            </a:r>
          </a:p>
          <a:p>
            <a:pPr lvl="1">
              <a:buNone/>
            </a:pPr>
            <a:r>
              <a:rPr lang="en-US" sz="1600" dirty="0" smtClean="0"/>
              <a:t>	</a:t>
            </a:r>
          </a:p>
          <a:p>
            <a:pPr lvl="1">
              <a:buNone/>
            </a:pPr>
            <a:endParaRPr lang="en-US" sz="1600" dirty="0" smtClean="0"/>
          </a:p>
          <a:p>
            <a:pPr lvl="1">
              <a:buNone/>
            </a:pPr>
            <a:endParaRPr lang="en-US" sz="1600" dirty="0" smtClean="0"/>
          </a:p>
          <a:p>
            <a:endParaRPr lang="en-US" dirty="0"/>
          </a:p>
        </p:txBody>
      </p:sp>
      <p:pic>
        <p:nvPicPr>
          <p:cNvPr id="7172" name="Picture 4"/>
          <p:cNvPicPr>
            <a:picLocks noChangeAspect="1" noChangeArrowheads="1"/>
          </p:cNvPicPr>
          <p:nvPr/>
        </p:nvPicPr>
        <p:blipFill>
          <a:blip r:embed="rId3"/>
          <a:srcRect/>
          <a:stretch>
            <a:fillRect/>
          </a:stretch>
        </p:blipFill>
        <p:spPr bwMode="auto">
          <a:xfrm>
            <a:off x="914400" y="2590800"/>
            <a:ext cx="7551906"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Control</a:t>
            </a:r>
            <a:endParaRPr lang="en-US" dirty="0"/>
          </a:p>
        </p:txBody>
      </p:sp>
      <p:sp>
        <p:nvSpPr>
          <p:cNvPr id="3" name="Content Placeholder 2"/>
          <p:cNvSpPr>
            <a:spLocks noGrp="1"/>
          </p:cNvSpPr>
          <p:nvPr>
            <p:ph idx="1"/>
          </p:nvPr>
        </p:nvSpPr>
        <p:spPr>
          <a:xfrm>
            <a:off x="917575" y="838200"/>
            <a:ext cx="7369175" cy="2590800"/>
          </a:xfrm>
        </p:spPr>
        <p:txBody>
          <a:bodyPr/>
          <a:lstStyle/>
          <a:p>
            <a:r>
              <a:rPr lang="en-US" sz="2000" dirty="0" smtClean="0"/>
              <a:t>Flow control – “If” statements and “Switch” Statements. </a:t>
            </a:r>
          </a:p>
          <a:p>
            <a:pPr lvl="1"/>
            <a:r>
              <a:rPr lang="en-US" sz="1600" dirty="0" smtClean="0"/>
              <a:t>Definitions</a:t>
            </a:r>
          </a:p>
          <a:p>
            <a:pPr lvl="2"/>
            <a:r>
              <a:rPr lang="en-US" sz="1600" dirty="0" smtClean="0"/>
              <a:t>“If” statement is a piece of code that will execute if a condition evaluates to true. “</a:t>
            </a:r>
            <a:r>
              <a:rPr lang="en-US" sz="1600" dirty="0" err="1" smtClean="0"/>
              <a:t>ElseIf</a:t>
            </a:r>
            <a:r>
              <a:rPr lang="en-US" sz="1600" dirty="0" smtClean="0"/>
              <a:t>” and “Else” statements are used if multiple conditions are evaluated against.</a:t>
            </a:r>
          </a:p>
          <a:p>
            <a:pPr lvl="2"/>
            <a:r>
              <a:rPr lang="en-US" sz="1600" dirty="0" smtClean="0"/>
              <a:t>“Switch” statements is a piece of code that checks for a condition and a different piece of code will be executed depending on the which condition is matched.</a:t>
            </a:r>
          </a:p>
          <a:p>
            <a:pPr lvl="1"/>
            <a:r>
              <a:rPr lang="en-US" sz="1600" dirty="0" smtClean="0"/>
              <a:t>Examples</a:t>
            </a:r>
          </a:p>
        </p:txBody>
      </p:sp>
      <p:pic>
        <p:nvPicPr>
          <p:cNvPr id="8195" name="Picture 3"/>
          <p:cNvPicPr>
            <a:picLocks noChangeAspect="1" noChangeArrowheads="1"/>
          </p:cNvPicPr>
          <p:nvPr/>
        </p:nvPicPr>
        <p:blipFill>
          <a:blip r:embed="rId3"/>
          <a:srcRect/>
          <a:stretch>
            <a:fillRect/>
          </a:stretch>
        </p:blipFill>
        <p:spPr bwMode="auto">
          <a:xfrm>
            <a:off x="4419600" y="3962400"/>
            <a:ext cx="4655128" cy="1828800"/>
          </a:xfrm>
          <a:prstGeom prst="rect">
            <a:avLst/>
          </a:prstGeom>
          <a:noFill/>
          <a:ln w="9525">
            <a:noFill/>
            <a:miter lim="800000"/>
            <a:headEnd/>
            <a:tailEnd/>
          </a:ln>
        </p:spPr>
      </p:pic>
      <p:pic>
        <p:nvPicPr>
          <p:cNvPr id="8196" name="Picture 4"/>
          <p:cNvPicPr>
            <a:picLocks noChangeAspect="1" noChangeArrowheads="1"/>
          </p:cNvPicPr>
          <p:nvPr/>
        </p:nvPicPr>
        <p:blipFill>
          <a:blip r:embed="rId4"/>
          <a:srcRect/>
          <a:stretch>
            <a:fillRect/>
          </a:stretch>
        </p:blipFill>
        <p:spPr bwMode="auto">
          <a:xfrm>
            <a:off x="1066800" y="3962400"/>
            <a:ext cx="3387378" cy="1752600"/>
          </a:xfrm>
          <a:prstGeom prst="rect">
            <a:avLst/>
          </a:prstGeom>
          <a:noFill/>
          <a:ln w="9525">
            <a:noFill/>
            <a:miter lim="800000"/>
            <a:headEnd/>
            <a:tailEnd/>
          </a:ln>
        </p:spPr>
      </p:pic>
      <p:graphicFrame>
        <p:nvGraphicFramePr>
          <p:cNvPr id="7" name="Table 6"/>
          <p:cNvGraphicFramePr>
            <a:graphicFrameLocks noGrp="1"/>
          </p:cNvGraphicFramePr>
          <p:nvPr/>
        </p:nvGraphicFramePr>
        <p:xfrm>
          <a:off x="1066800" y="3505200"/>
          <a:ext cx="7467600" cy="370840"/>
        </p:xfrm>
        <a:graphic>
          <a:graphicData uri="http://schemas.openxmlformats.org/drawingml/2006/table">
            <a:tbl>
              <a:tblPr firstRow="1" bandRow="1">
                <a:tableStyleId>{5C22544A-7EE6-4342-B048-85BDC9FD1C3A}</a:tableStyleId>
              </a:tblPr>
              <a:tblGrid>
                <a:gridCol w="3276600"/>
                <a:gridCol w="4191000"/>
              </a:tblGrid>
              <a:tr h="370840">
                <a:tc>
                  <a:txBody>
                    <a:bodyPr/>
                    <a:lstStyle/>
                    <a:p>
                      <a:r>
                        <a:rPr lang="en-US" dirty="0" smtClean="0"/>
                        <a:t>If/Else Statements</a:t>
                      </a:r>
                      <a:endParaRPr lang="en-US" dirty="0"/>
                    </a:p>
                  </a:txBody>
                  <a:tcPr/>
                </a:tc>
                <a:tc>
                  <a:txBody>
                    <a:bodyPr/>
                    <a:lstStyle/>
                    <a:p>
                      <a:r>
                        <a:rPr lang="en-US" dirty="0" smtClean="0"/>
                        <a:t> Switch</a:t>
                      </a:r>
                      <a:r>
                        <a:rPr lang="en-US" baseline="0" dirty="0" smtClean="0"/>
                        <a:t> Statements</a:t>
                      </a:r>
                      <a:endParaRPr lang="en-US" dirty="0"/>
                    </a:p>
                  </a:txBody>
                  <a:tcP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a:xfrm>
            <a:off x="917575" y="838200"/>
            <a:ext cx="7369175" cy="2895600"/>
          </a:xfrm>
        </p:spPr>
        <p:txBody>
          <a:bodyPr/>
          <a:lstStyle/>
          <a:p>
            <a:pPr fontAlgn="ctr"/>
            <a:r>
              <a:rPr lang="en-US" sz="2000" dirty="0" smtClean="0"/>
              <a:t>Functions – </a:t>
            </a:r>
          </a:p>
          <a:p>
            <a:pPr lvl="1" fontAlgn="ctr"/>
            <a:r>
              <a:rPr lang="en-US" sz="1600" dirty="0" smtClean="0"/>
              <a:t>Definition: Self contained module of code that typically perform a single task. Think of them as mini-cmdlets that you write using PowerShell scripting language. Functions can be defined within any scope (Shell, Script or within another function). </a:t>
            </a:r>
          </a:p>
          <a:p>
            <a:pPr lvl="1" fontAlgn="ctr"/>
            <a:r>
              <a:rPr lang="en-US" sz="1600" dirty="0" smtClean="0"/>
              <a:t>Considerations</a:t>
            </a:r>
          </a:p>
          <a:p>
            <a:pPr lvl="2" fontAlgn="ctr"/>
            <a:r>
              <a:rPr lang="en-US" sz="1600" dirty="0" smtClean="0"/>
              <a:t>Functions must be defined before they are called upon at the top of the script</a:t>
            </a:r>
            <a:endParaRPr lang="en-US" dirty="0" smtClean="0"/>
          </a:p>
          <a:p>
            <a:pPr lvl="1" fontAlgn="ctr"/>
            <a:r>
              <a:rPr lang="en-US" sz="1600" dirty="0" err="1" smtClean="0"/>
              <a:t>Sytnax</a:t>
            </a:r>
            <a:r>
              <a:rPr lang="en-US" sz="1600" dirty="0" smtClean="0"/>
              <a:t> </a:t>
            </a:r>
          </a:p>
          <a:p>
            <a:pPr lvl="2" fontAlgn="ctr">
              <a:buNone/>
            </a:pPr>
            <a:r>
              <a:rPr lang="en-US" sz="1600" dirty="0" smtClean="0">
                <a:latin typeface="Consolas" pitchFamily="49" charset="0"/>
                <a:cs typeface="Consolas" pitchFamily="49" charset="0"/>
              </a:rPr>
              <a:t>Function </a:t>
            </a:r>
            <a:r>
              <a:rPr lang="en-US" sz="1600" i="1" dirty="0" err="1" smtClean="0">
                <a:latin typeface="Consolas" pitchFamily="49" charset="0"/>
                <a:cs typeface="Consolas" pitchFamily="49" charset="0"/>
              </a:rPr>
              <a:t>FunctionName</a:t>
            </a:r>
            <a:r>
              <a:rPr lang="en-US" sz="1600" i="1" dirty="0" smtClean="0">
                <a:latin typeface="Consolas" pitchFamily="49" charset="0"/>
                <a:cs typeface="Consolas" pitchFamily="49" charset="0"/>
              </a:rPr>
              <a:t> </a:t>
            </a:r>
            <a:r>
              <a:rPr lang="en-US" sz="1600" dirty="0" smtClean="0">
                <a:latin typeface="Consolas" pitchFamily="49" charset="0"/>
                <a:cs typeface="Consolas" pitchFamily="49" charset="0"/>
              </a:rPr>
              <a:t>(parameters) {script block}</a:t>
            </a:r>
            <a:endParaRPr lang="en-US" dirty="0" smtClean="0">
              <a:latin typeface="Consolas" pitchFamily="49" charset="0"/>
              <a:cs typeface="Consolas" pitchFamily="49" charset="0"/>
            </a:endParaRPr>
          </a:p>
          <a:p>
            <a:pPr lvl="1" fontAlgn="ctr"/>
            <a:r>
              <a:rPr lang="en-US" sz="1600" dirty="0" smtClean="0"/>
              <a:t>Example</a:t>
            </a:r>
          </a:p>
        </p:txBody>
      </p:sp>
      <p:pic>
        <p:nvPicPr>
          <p:cNvPr id="9218" name="Picture 2"/>
          <p:cNvPicPr>
            <a:picLocks noChangeAspect="1" noChangeArrowheads="1"/>
          </p:cNvPicPr>
          <p:nvPr/>
        </p:nvPicPr>
        <p:blipFill>
          <a:blip r:embed="rId3"/>
          <a:srcRect/>
          <a:stretch>
            <a:fillRect/>
          </a:stretch>
        </p:blipFill>
        <p:spPr bwMode="auto">
          <a:xfrm>
            <a:off x="1981200" y="4114800"/>
            <a:ext cx="4953000" cy="20626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line arguments - $</a:t>
            </a:r>
            <a:r>
              <a:rPr lang="en-US" dirty="0" err="1" smtClean="0"/>
              <a:t>Args</a:t>
            </a:r>
            <a:r>
              <a:rPr lang="en-US" dirty="0" smtClean="0"/>
              <a:t> </a:t>
            </a:r>
            <a:r>
              <a:rPr lang="en-US" dirty="0" err="1" smtClean="0"/>
              <a:t>vs</a:t>
            </a:r>
            <a:r>
              <a:rPr lang="en-US" dirty="0" smtClean="0"/>
              <a:t> </a:t>
            </a:r>
            <a:r>
              <a:rPr lang="en-US" dirty="0" err="1" smtClean="0"/>
              <a:t>Param</a:t>
            </a:r>
            <a:r>
              <a:rPr lang="en-US" dirty="0" smtClean="0"/>
              <a:t>()</a:t>
            </a:r>
            <a:endParaRPr lang="en-US" dirty="0"/>
          </a:p>
        </p:txBody>
      </p:sp>
      <p:sp>
        <p:nvSpPr>
          <p:cNvPr id="3" name="Content Placeholder 2"/>
          <p:cNvSpPr>
            <a:spLocks noGrp="1"/>
          </p:cNvSpPr>
          <p:nvPr>
            <p:ph idx="1"/>
          </p:nvPr>
        </p:nvSpPr>
        <p:spPr>
          <a:xfrm>
            <a:off x="917575" y="838200"/>
            <a:ext cx="7369175" cy="2362200"/>
          </a:xfrm>
        </p:spPr>
        <p:txBody>
          <a:bodyPr/>
          <a:lstStyle/>
          <a:p>
            <a:pPr fontAlgn="ctr">
              <a:buFont typeface="Arial" pitchFamily="34" charset="0"/>
              <a:buChar char="•"/>
            </a:pPr>
            <a:r>
              <a:rPr lang="en-US" sz="2000" dirty="0" smtClean="0"/>
              <a:t>Command line arguments - $</a:t>
            </a:r>
            <a:r>
              <a:rPr lang="en-US" sz="2000" dirty="0" err="1" smtClean="0"/>
              <a:t>Args</a:t>
            </a:r>
            <a:r>
              <a:rPr lang="en-US" sz="2000" dirty="0" smtClean="0"/>
              <a:t> </a:t>
            </a:r>
            <a:r>
              <a:rPr lang="en-US" sz="2000" dirty="0" err="1" smtClean="0"/>
              <a:t>vs</a:t>
            </a:r>
            <a:r>
              <a:rPr lang="en-US" sz="2000" dirty="0" smtClean="0"/>
              <a:t> </a:t>
            </a:r>
            <a:r>
              <a:rPr lang="en-US" sz="2000" dirty="0" err="1" smtClean="0"/>
              <a:t>Param</a:t>
            </a:r>
            <a:r>
              <a:rPr lang="en-US" sz="2000" dirty="0" smtClean="0"/>
              <a:t>()</a:t>
            </a:r>
          </a:p>
          <a:p>
            <a:pPr lvl="1" fontAlgn="ctr"/>
            <a:r>
              <a:rPr lang="en-US" sz="1600" dirty="0" smtClean="0"/>
              <a:t>Definitions</a:t>
            </a:r>
          </a:p>
          <a:p>
            <a:pPr lvl="2" fontAlgn="ctr"/>
            <a:r>
              <a:rPr lang="en-US" sz="1600" dirty="0" smtClean="0"/>
              <a:t>$</a:t>
            </a:r>
            <a:r>
              <a:rPr lang="en-US" sz="1600" dirty="0" err="1" smtClean="0"/>
              <a:t>Args</a:t>
            </a:r>
            <a:r>
              <a:rPr lang="en-US" sz="1600" dirty="0" smtClean="0"/>
              <a:t> is used for </a:t>
            </a:r>
            <a:r>
              <a:rPr lang="en-US" sz="1600" u="sng" dirty="0" smtClean="0">
                <a:solidFill>
                  <a:srgbClr val="FF0000"/>
                </a:solidFill>
              </a:rPr>
              <a:t>positional</a:t>
            </a:r>
            <a:r>
              <a:rPr lang="en-US" sz="1600" dirty="0" smtClean="0"/>
              <a:t> parameters and is simply an array that is automatically generated every time a script is run and contains all text that is supplied after the name of the script.</a:t>
            </a:r>
          </a:p>
          <a:p>
            <a:pPr lvl="2" fontAlgn="ctr"/>
            <a:r>
              <a:rPr lang="en-US" sz="1600" dirty="0" err="1" smtClean="0"/>
              <a:t>Param</a:t>
            </a:r>
            <a:r>
              <a:rPr lang="en-US" sz="1600" dirty="0" smtClean="0"/>
              <a:t>($</a:t>
            </a:r>
            <a:r>
              <a:rPr lang="en-US" sz="1600" dirty="0" err="1" smtClean="0"/>
              <a:t>x,$y</a:t>
            </a:r>
            <a:r>
              <a:rPr lang="en-US" sz="1600" dirty="0" smtClean="0"/>
              <a:t>) or </a:t>
            </a:r>
            <a:r>
              <a:rPr lang="en-US" sz="1600" u="sng" dirty="0" smtClean="0">
                <a:solidFill>
                  <a:srgbClr val="FF0000"/>
                </a:solidFill>
              </a:rPr>
              <a:t>named </a:t>
            </a:r>
            <a:r>
              <a:rPr lang="en-US" sz="1600" dirty="0" smtClean="0"/>
              <a:t>parameters issued at the beginning of a script to specify what parameters should be supplied to the script.</a:t>
            </a:r>
          </a:p>
          <a:p>
            <a:pPr lvl="1" fontAlgn="ctr"/>
            <a:r>
              <a:rPr lang="en-US" sz="1600" dirty="0" smtClean="0"/>
              <a:t>Examples</a:t>
            </a:r>
          </a:p>
          <a:p>
            <a:endParaRPr lang="en-US" dirty="0"/>
          </a:p>
        </p:txBody>
      </p:sp>
      <p:graphicFrame>
        <p:nvGraphicFramePr>
          <p:cNvPr id="13" name="Table 12"/>
          <p:cNvGraphicFramePr>
            <a:graphicFrameLocks noGrp="1"/>
          </p:cNvGraphicFramePr>
          <p:nvPr/>
        </p:nvGraphicFramePr>
        <p:xfrm>
          <a:off x="914400" y="3352800"/>
          <a:ext cx="7543800" cy="2027636"/>
        </p:xfrm>
        <a:graphic>
          <a:graphicData uri="http://schemas.openxmlformats.org/drawingml/2006/table">
            <a:tbl>
              <a:tblPr firstRow="1" bandRow="1">
                <a:tableStyleId>{5C22544A-7EE6-4342-B048-85BDC9FD1C3A}</a:tableStyleId>
              </a:tblPr>
              <a:tblGrid>
                <a:gridCol w="3771900"/>
                <a:gridCol w="3771900"/>
              </a:tblGrid>
              <a:tr h="3606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a:t>
                      </a:r>
                      <a:r>
                        <a:rPr lang="en-US" sz="1600" dirty="0" err="1" smtClean="0"/>
                        <a:t>Arg</a:t>
                      </a:r>
                      <a:r>
                        <a:rPr lang="en-US" sz="1600" dirty="0" smtClean="0"/>
                        <a:t> -</a:t>
                      </a:r>
                      <a:r>
                        <a:rPr lang="en-US" sz="1600" baseline="0" dirty="0" smtClean="0"/>
                        <a:t> Positional Parameters</a:t>
                      </a:r>
                      <a:endParaRPr lang="en-US" sz="16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smtClean="0"/>
                        <a:t>Param</a:t>
                      </a:r>
                      <a:r>
                        <a:rPr lang="en-US" sz="1600" dirty="0" smtClean="0"/>
                        <a:t>() - Named </a:t>
                      </a:r>
                      <a:r>
                        <a:rPr lang="en-US" sz="1600" baseline="0" dirty="0" smtClean="0"/>
                        <a:t>Parameters</a:t>
                      </a:r>
                      <a:endParaRPr lang="en-US" sz="1600" dirty="0"/>
                    </a:p>
                  </a:txBody>
                  <a:tcPr/>
                </a:tc>
              </a:tr>
              <a:tr h="3575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Passed to script with spaces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smtClean="0"/>
                        <a:t>Passed to script with parameter name</a:t>
                      </a:r>
                      <a:endParaRPr lang="en-US" sz="1600" dirty="0"/>
                    </a:p>
                  </a:txBody>
                  <a:tcPr/>
                </a:tc>
              </a:tr>
              <a:tr h="357532">
                <a:tc>
                  <a:txBody>
                    <a:bodyPr/>
                    <a:lstStyle/>
                    <a:p>
                      <a:r>
                        <a:rPr lang="en-US" sz="1100" dirty="0" smtClean="0">
                          <a:solidFill>
                            <a:schemeClr val="bg1"/>
                          </a:solidFill>
                          <a:latin typeface="Lucida Console" pitchFamily="49" charset="0"/>
                        </a:rPr>
                        <a:t>.\script.</a:t>
                      </a:r>
                      <a:r>
                        <a:rPr lang="en-US" sz="1100" baseline="0" dirty="0" smtClean="0">
                          <a:solidFill>
                            <a:schemeClr val="bg1"/>
                          </a:solidFill>
                          <a:latin typeface="Lucida Console" pitchFamily="49" charset="0"/>
                        </a:rPr>
                        <a:t>ps1 server1 Jon</a:t>
                      </a:r>
                      <a:endParaRPr lang="en-US" sz="1100" dirty="0">
                        <a:solidFill>
                          <a:schemeClr val="bg1"/>
                        </a:solidFill>
                        <a:latin typeface="Lucida Console" pitchFamily="49" charset="0"/>
                      </a:endParaRPr>
                    </a:p>
                  </a:txBody>
                  <a:tcPr>
                    <a:solidFill>
                      <a:srgbClr val="0070C0"/>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dirty="0" smtClean="0">
                          <a:solidFill>
                            <a:schemeClr val="bg1"/>
                          </a:solidFill>
                          <a:latin typeface="Lucida Console" pitchFamily="49" charset="0"/>
                        </a:rPr>
                        <a:t>.\script.</a:t>
                      </a:r>
                      <a:r>
                        <a:rPr lang="en-US" sz="1100" baseline="0" dirty="0" smtClean="0">
                          <a:solidFill>
                            <a:schemeClr val="bg1"/>
                          </a:solidFill>
                          <a:latin typeface="Lucida Console" pitchFamily="49" charset="0"/>
                        </a:rPr>
                        <a:t>ps1 -user Jon –server server1</a:t>
                      </a:r>
                      <a:endParaRPr lang="en-US" sz="1100" dirty="0" smtClean="0">
                        <a:solidFill>
                          <a:schemeClr val="bg1"/>
                        </a:solidFill>
                        <a:latin typeface="Lucida Console" pitchFamily="49" charset="0"/>
                      </a:endParaRPr>
                    </a:p>
                  </a:txBody>
                  <a:tcPr>
                    <a:solidFill>
                      <a:srgbClr val="0070C0"/>
                    </a:solidFill>
                  </a:tcPr>
                </a:tc>
              </a:tr>
              <a:tr h="357532">
                <a:tc>
                  <a:txBody>
                    <a:bodyPr/>
                    <a:lstStyle/>
                    <a:p>
                      <a:r>
                        <a:rPr lang="en-US" sz="1600" dirty="0" smtClean="0"/>
                        <a:t>Accessed in script by $</a:t>
                      </a:r>
                      <a:r>
                        <a:rPr lang="en-US" sz="1600" dirty="0" err="1" smtClean="0"/>
                        <a:t>args</a:t>
                      </a:r>
                      <a:r>
                        <a:rPr lang="en-US" sz="1600" baseline="0" dirty="0" smtClean="0"/>
                        <a:t> array</a:t>
                      </a:r>
                      <a:endParaRPr lang="en-US" sz="1600" dirty="0"/>
                    </a:p>
                  </a:txBody>
                  <a:tcPr/>
                </a:tc>
                <a:tc>
                  <a:txBody>
                    <a:bodyPr/>
                    <a:lstStyle/>
                    <a:p>
                      <a:r>
                        <a:rPr lang="en-US" sz="1600" dirty="0" smtClean="0"/>
                        <a:t>User Parameter</a:t>
                      </a:r>
                      <a:r>
                        <a:rPr lang="en-US" sz="1600" baseline="0" dirty="0" smtClean="0"/>
                        <a:t> name directly in script</a:t>
                      </a:r>
                      <a:endParaRPr lang="en-US" sz="1600" dirty="0"/>
                    </a:p>
                  </a:txBody>
                  <a:tcPr/>
                </a:tc>
              </a:tr>
              <a:tr h="357532">
                <a:tc>
                  <a:txBody>
                    <a:bodyPr/>
                    <a:lstStyle/>
                    <a:p>
                      <a:r>
                        <a:rPr lang="en-US" sz="1100" baseline="0" dirty="0" smtClean="0">
                          <a:solidFill>
                            <a:schemeClr val="bg1"/>
                          </a:solidFill>
                          <a:latin typeface="Lucida Console" pitchFamily="49" charset="0"/>
                        </a:rPr>
                        <a:t>$</a:t>
                      </a:r>
                      <a:r>
                        <a:rPr lang="en-US" sz="1100" baseline="0" dirty="0" err="1" smtClean="0">
                          <a:solidFill>
                            <a:schemeClr val="bg1"/>
                          </a:solidFill>
                          <a:latin typeface="Lucida Console" pitchFamily="49" charset="0"/>
                        </a:rPr>
                        <a:t>servername</a:t>
                      </a:r>
                      <a:r>
                        <a:rPr lang="en-US" sz="1100" baseline="0" dirty="0" smtClean="0">
                          <a:solidFill>
                            <a:schemeClr val="bg1"/>
                          </a:solidFill>
                          <a:latin typeface="Lucida Console" pitchFamily="49" charset="0"/>
                        </a:rPr>
                        <a:t> = $</a:t>
                      </a:r>
                      <a:r>
                        <a:rPr lang="en-US" sz="1100" baseline="0" dirty="0" err="1" smtClean="0">
                          <a:solidFill>
                            <a:schemeClr val="bg1"/>
                          </a:solidFill>
                          <a:latin typeface="Lucida Console" pitchFamily="49" charset="0"/>
                        </a:rPr>
                        <a:t>args</a:t>
                      </a:r>
                      <a:r>
                        <a:rPr lang="en-US" sz="1100" baseline="0" dirty="0" smtClean="0">
                          <a:solidFill>
                            <a:schemeClr val="bg1"/>
                          </a:solidFill>
                          <a:latin typeface="Lucida Console" pitchFamily="49" charset="0"/>
                        </a:rPr>
                        <a:t>[0]</a:t>
                      </a:r>
                    </a:p>
                    <a:p>
                      <a:r>
                        <a:rPr lang="en-US" sz="1100" baseline="0" dirty="0" smtClean="0">
                          <a:solidFill>
                            <a:schemeClr val="bg1"/>
                          </a:solidFill>
                          <a:latin typeface="Lucida Console" pitchFamily="49" charset="0"/>
                        </a:rPr>
                        <a:t>$username = $</a:t>
                      </a:r>
                      <a:r>
                        <a:rPr lang="en-US" sz="1100" baseline="0" dirty="0" err="1" smtClean="0">
                          <a:solidFill>
                            <a:schemeClr val="bg1"/>
                          </a:solidFill>
                          <a:latin typeface="Lucida Console" pitchFamily="49" charset="0"/>
                        </a:rPr>
                        <a:t>args</a:t>
                      </a:r>
                      <a:r>
                        <a:rPr lang="en-US" sz="1100" baseline="0" dirty="0" smtClean="0">
                          <a:solidFill>
                            <a:schemeClr val="bg1"/>
                          </a:solidFill>
                          <a:latin typeface="Lucida Console" pitchFamily="49" charset="0"/>
                        </a:rPr>
                        <a:t>[1]</a:t>
                      </a:r>
                      <a:endParaRPr lang="en-US" sz="1100" baseline="0" dirty="0">
                        <a:solidFill>
                          <a:schemeClr val="bg1"/>
                        </a:solidFill>
                        <a:latin typeface="Lucida Console" pitchFamily="49" charset="0"/>
                      </a:endParaRPr>
                    </a:p>
                  </a:txBody>
                  <a:tcPr>
                    <a:solidFill>
                      <a:srgbClr val="0070C0"/>
                    </a:solidFill>
                  </a:tcPr>
                </a:tc>
                <a:tc>
                  <a:txBody>
                    <a:bodyPr/>
                    <a:lstStyle/>
                    <a:p>
                      <a:r>
                        <a:rPr lang="en-US" sz="1100" baseline="0" dirty="0" err="1" smtClean="0">
                          <a:solidFill>
                            <a:schemeClr val="bg1"/>
                          </a:solidFill>
                          <a:latin typeface="Lucida Console" pitchFamily="49" charset="0"/>
                        </a:rPr>
                        <a:t>Param</a:t>
                      </a:r>
                      <a:r>
                        <a:rPr lang="en-US" sz="1100" baseline="0" dirty="0" smtClean="0">
                          <a:solidFill>
                            <a:schemeClr val="bg1"/>
                          </a:solidFill>
                          <a:latin typeface="Lucida Console" pitchFamily="49" charset="0"/>
                        </a:rPr>
                        <a:t>($server, $user)</a:t>
                      </a:r>
                    </a:p>
                    <a:p>
                      <a:r>
                        <a:rPr lang="en-US" sz="1100" baseline="0" dirty="0" smtClean="0">
                          <a:solidFill>
                            <a:schemeClr val="bg1"/>
                          </a:solidFill>
                          <a:latin typeface="Lucida Console" pitchFamily="49" charset="0"/>
                        </a:rPr>
                        <a:t>Write-Host $server</a:t>
                      </a:r>
                    </a:p>
                    <a:p>
                      <a:r>
                        <a:rPr lang="en-US" sz="1100" baseline="0" dirty="0" smtClean="0">
                          <a:solidFill>
                            <a:schemeClr val="bg1"/>
                          </a:solidFill>
                          <a:latin typeface="Lucida Console" pitchFamily="49" charset="0"/>
                        </a:rPr>
                        <a:t>Write-Host $user</a:t>
                      </a:r>
                      <a:endParaRPr lang="en-US" sz="1100" baseline="0" dirty="0">
                        <a:solidFill>
                          <a:schemeClr val="bg1"/>
                        </a:solidFill>
                        <a:latin typeface="Lucida Console" pitchFamily="49" charset="0"/>
                      </a:endParaRPr>
                    </a:p>
                  </a:txBody>
                  <a:tcPr>
                    <a:solidFill>
                      <a:srgbClr val="0070C0"/>
                    </a:solidFill>
                  </a:tcPr>
                </a:tc>
              </a:tr>
            </a:tbl>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4 Lab: Scripting</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262961235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 – Using Variables</a:t>
            </a:r>
            <a:endParaRPr lang="en-US" dirty="0"/>
          </a:p>
        </p:txBody>
      </p:sp>
      <p:sp>
        <p:nvSpPr>
          <p:cNvPr id="5" name="Content Placeholder 2"/>
          <p:cNvSpPr txBox="1">
            <a:spLocks/>
          </p:cNvSpPr>
          <p:nvPr/>
        </p:nvSpPr>
        <p:spPr bwMode="auto">
          <a:xfrm>
            <a:off x="917575" y="838200"/>
            <a:ext cx="7369175" cy="5257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182880" bIns="0" numCol="1" anchor="t" anchorCtr="0" compatLnSpc="1">
            <a:prstTxWarp prst="textNoShape">
              <a:avLst/>
            </a:prstTxWarp>
          </a:bodyPr>
          <a:lstStyle/>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smtClean="0">
              <a:ln>
                <a:noFill/>
              </a:ln>
              <a:solidFill>
                <a:schemeClr val="tx1"/>
              </a:solidFill>
              <a:effectLst/>
              <a:uLnTx/>
              <a:uFillTx/>
              <a:latin typeface="+mn-lt"/>
              <a:ea typeface="ＭＳ Ｐゴシック" pitchFamily="-106" charset="-128"/>
              <a:cs typeface="ＭＳ Ｐゴシック" charset="-128"/>
            </a:endParaRPr>
          </a:p>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dirty="0">
              <a:ln>
                <a:noFill/>
              </a:ln>
              <a:solidFill>
                <a:schemeClr val="tx1"/>
              </a:solidFill>
              <a:effectLst/>
              <a:uLnTx/>
              <a:uFillTx/>
              <a:latin typeface="+mn-lt"/>
              <a:ea typeface="ＭＳ Ｐゴシック" pitchFamily="-106" charset="-128"/>
              <a:cs typeface="ＭＳ Ｐゴシック" charset="-128"/>
            </a:endParaRPr>
          </a:p>
        </p:txBody>
      </p:sp>
      <p:sp>
        <p:nvSpPr>
          <p:cNvPr id="6" name="TextBox 5"/>
          <p:cNvSpPr txBox="1"/>
          <p:nvPr/>
        </p:nvSpPr>
        <p:spPr>
          <a:xfrm>
            <a:off x="1524000" y="1595735"/>
            <a:ext cx="6477000" cy="830997"/>
          </a:xfrm>
          <a:prstGeom prst="rect">
            <a:avLst/>
          </a:prstGeom>
          <a:noFill/>
        </p:spPr>
        <p:txBody>
          <a:bodyPr wrap="square" rtlCol="0">
            <a:spAutoFit/>
          </a:bodyPr>
          <a:lstStyle/>
          <a:p>
            <a:r>
              <a:rPr lang="en-US" sz="1200" b="1" dirty="0" smtClean="0"/>
              <a:t>Here’s your task:</a:t>
            </a:r>
          </a:p>
          <a:p>
            <a:r>
              <a:rPr lang="en-US" sz="1200" dirty="0" smtClean="0"/>
              <a:t>Create a variable named $</a:t>
            </a:r>
            <a:r>
              <a:rPr lang="en-US" sz="1200" dirty="0" err="1" smtClean="0"/>
              <a:t>var</a:t>
            </a:r>
            <a:r>
              <a:rPr lang="en-US" sz="1200" dirty="0" smtClean="0"/>
              <a:t> and have it contain the phrase “Hello World.” Then, create</a:t>
            </a:r>
          </a:p>
          <a:p>
            <a:r>
              <a:rPr lang="en-US" sz="1200" dirty="0" smtClean="0"/>
              <a:t>a second variable named $var2 which contains the phrase “I say,” a space, and then the</a:t>
            </a:r>
          </a:p>
          <a:p>
            <a:r>
              <a:rPr lang="en-US" sz="1200" dirty="0" smtClean="0"/>
              <a:t>contents of $var..</a:t>
            </a:r>
            <a:endParaRPr lang="en-US" sz="1200" dirty="0"/>
          </a:p>
        </p:txBody>
      </p:sp>
      <p:pic>
        <p:nvPicPr>
          <p:cNvPr id="7" name="Picture 4" descr="C:\Users\u0148347\AppData\Local\Microsoft\Windows\Temporary Internet Files\Content.IE5\IKLUXKU9\MC900432658[1].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066801" y="1636068"/>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p:cNvSpPr txBox="1"/>
          <p:nvPr/>
        </p:nvSpPr>
        <p:spPr>
          <a:xfrm>
            <a:off x="914400" y="1143000"/>
            <a:ext cx="7391400" cy="369332"/>
          </a:xfrm>
          <a:prstGeom prst="rect">
            <a:avLst/>
          </a:prstGeom>
          <a:solidFill>
            <a:schemeClr val="bg1">
              <a:lumMod val="85000"/>
            </a:schemeClr>
          </a:solidFill>
        </p:spPr>
        <p:txBody>
          <a:bodyPr wrap="square" rtlCol="0">
            <a:spAutoFit/>
          </a:bodyPr>
          <a:lstStyle/>
          <a:p>
            <a:r>
              <a:rPr lang="en-US" b="1" dirty="0" smtClean="0"/>
              <a:t>Task #1 (10 min)</a:t>
            </a:r>
            <a:endParaRPr lang="en-US" b="1" dirty="0"/>
          </a:p>
        </p:txBody>
      </p:sp>
      <p:grpSp>
        <p:nvGrpSpPr>
          <p:cNvPr id="18" name="Group 17"/>
          <p:cNvGrpSpPr/>
          <p:nvPr/>
        </p:nvGrpSpPr>
        <p:grpSpPr>
          <a:xfrm>
            <a:off x="1066800" y="2819400"/>
            <a:ext cx="6934199" cy="646331"/>
            <a:chOff x="1066801" y="2321867"/>
            <a:chExt cx="6934199" cy="646331"/>
          </a:xfrm>
        </p:grpSpPr>
        <p:pic>
          <p:nvPicPr>
            <p:cNvPr id="19" name="Picture 18"/>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20" name="TextBox 19"/>
            <p:cNvSpPr txBox="1"/>
            <p:nvPr/>
          </p:nvSpPr>
          <p:spPr>
            <a:xfrm>
              <a:off x="1524000" y="2321867"/>
              <a:ext cx="6477000" cy="646331"/>
            </a:xfrm>
            <a:prstGeom prst="rect">
              <a:avLst/>
            </a:prstGeom>
            <a:noFill/>
          </p:spPr>
          <p:txBody>
            <a:bodyPr wrap="square" rtlCol="0">
              <a:spAutoFit/>
            </a:bodyPr>
            <a:lstStyle/>
            <a:p>
              <a:r>
                <a:rPr lang="en-US" sz="1200" b="1" dirty="0" smtClean="0"/>
                <a:t>Here’s a tip:</a:t>
              </a:r>
            </a:p>
            <a:p>
              <a:r>
                <a:rPr lang="en-US" sz="1200" dirty="0" smtClean="0"/>
                <a:t>You may not have learned this yet, but when </a:t>
              </a:r>
              <a:r>
                <a:rPr lang="en-US" sz="1200" dirty="0" err="1" smtClean="0"/>
                <a:t>PowerShell</a:t>
              </a:r>
              <a:r>
                <a:rPr lang="en-US" sz="1200" dirty="0" smtClean="0"/>
                <a:t> sees a variable inside </a:t>
              </a:r>
              <a:r>
                <a:rPr lang="en-US" sz="1200" i="1" dirty="0" smtClean="0"/>
                <a:t>double quotes, it </a:t>
              </a:r>
              <a:r>
                <a:rPr lang="en-US" sz="1200" dirty="0" smtClean="0"/>
                <a:t>replaces the variable with its contents. It does not do this for </a:t>
              </a:r>
              <a:r>
                <a:rPr lang="en-US" sz="1200" i="1" dirty="0" smtClean="0"/>
                <a:t>single quotes.</a:t>
              </a:r>
              <a:r>
                <a:rPr lang="en-US" sz="1200" dirty="0" smtClean="0"/>
                <a:t>.</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2 – Using Arrays  </a:t>
            </a:r>
            <a:endParaRPr lang="en-US" dirty="0"/>
          </a:p>
        </p:txBody>
      </p:sp>
      <p:sp>
        <p:nvSpPr>
          <p:cNvPr id="5" name="Content Placeholder 2"/>
          <p:cNvSpPr txBox="1">
            <a:spLocks/>
          </p:cNvSpPr>
          <p:nvPr/>
        </p:nvSpPr>
        <p:spPr bwMode="auto">
          <a:xfrm>
            <a:off x="917575" y="838200"/>
            <a:ext cx="7369175" cy="5257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182880" bIns="0" numCol="1" anchor="t" anchorCtr="0" compatLnSpc="1">
            <a:prstTxWarp prst="textNoShape">
              <a:avLst/>
            </a:prstTxWarp>
          </a:bodyPr>
          <a:lstStyle/>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smtClean="0">
              <a:ln>
                <a:noFill/>
              </a:ln>
              <a:solidFill>
                <a:schemeClr val="tx1"/>
              </a:solidFill>
              <a:effectLst/>
              <a:uLnTx/>
              <a:uFillTx/>
              <a:latin typeface="+mn-lt"/>
              <a:ea typeface="ＭＳ Ｐゴシック" pitchFamily="-106" charset="-128"/>
              <a:cs typeface="ＭＳ Ｐゴシック" charset="-128"/>
            </a:endParaRPr>
          </a:p>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dirty="0">
              <a:ln>
                <a:noFill/>
              </a:ln>
              <a:solidFill>
                <a:schemeClr val="tx1"/>
              </a:solidFill>
              <a:effectLst/>
              <a:uLnTx/>
              <a:uFillTx/>
              <a:latin typeface="+mn-lt"/>
              <a:ea typeface="ＭＳ Ｐゴシック" pitchFamily="-106" charset="-128"/>
              <a:cs typeface="ＭＳ Ｐゴシック" charset="-128"/>
            </a:endParaRPr>
          </a:p>
        </p:txBody>
      </p:sp>
      <p:sp>
        <p:nvSpPr>
          <p:cNvPr id="6" name="TextBox 5"/>
          <p:cNvSpPr txBox="1"/>
          <p:nvPr/>
        </p:nvSpPr>
        <p:spPr>
          <a:xfrm>
            <a:off x="1524000" y="1595735"/>
            <a:ext cx="6477000" cy="830997"/>
          </a:xfrm>
          <a:prstGeom prst="rect">
            <a:avLst/>
          </a:prstGeom>
          <a:noFill/>
        </p:spPr>
        <p:txBody>
          <a:bodyPr wrap="square" rtlCol="0">
            <a:spAutoFit/>
          </a:bodyPr>
          <a:lstStyle/>
          <a:p>
            <a:r>
              <a:rPr lang="en-US" sz="1200" b="1" dirty="0" smtClean="0"/>
              <a:t>Here’s your task:</a:t>
            </a:r>
          </a:p>
          <a:p>
            <a:r>
              <a:rPr lang="en-US" sz="1200" dirty="0" smtClean="0"/>
              <a:t>Create an array named $</a:t>
            </a:r>
            <a:r>
              <a:rPr lang="en-US" sz="1200" dirty="0" err="1" smtClean="0"/>
              <a:t>arrColor</a:t>
            </a:r>
            <a:r>
              <a:rPr lang="en-US" sz="1200" dirty="0" smtClean="0"/>
              <a:t>, containing the words “one,” “two,” and “three.” Display</a:t>
            </a:r>
          </a:p>
          <a:p>
            <a:r>
              <a:rPr lang="en-US" sz="1200" dirty="0" smtClean="0"/>
              <a:t>only the elements of $</a:t>
            </a:r>
            <a:r>
              <a:rPr lang="en-US" sz="1200" dirty="0" err="1" smtClean="0"/>
              <a:t>arrColor</a:t>
            </a:r>
            <a:r>
              <a:rPr lang="en-US" sz="1200" dirty="0" smtClean="0"/>
              <a:t> which are fewer than four characters in length, and have them</a:t>
            </a:r>
          </a:p>
          <a:p>
            <a:r>
              <a:rPr lang="en-US" sz="1200" dirty="0" smtClean="0"/>
              <a:t>displayed in green.</a:t>
            </a:r>
            <a:endParaRPr lang="en-US" sz="1200" dirty="0"/>
          </a:p>
        </p:txBody>
      </p:sp>
      <p:pic>
        <p:nvPicPr>
          <p:cNvPr id="7" name="Picture 4" descr="C:\Users\u0148347\AppData\Local\Microsoft\Windows\Temporary Internet Files\Content.IE5\IKLUXKU9\MC900432658[1].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066801" y="1636068"/>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p:cNvSpPr txBox="1"/>
          <p:nvPr/>
        </p:nvSpPr>
        <p:spPr>
          <a:xfrm>
            <a:off x="914400" y="1143000"/>
            <a:ext cx="7391400" cy="369332"/>
          </a:xfrm>
          <a:prstGeom prst="rect">
            <a:avLst/>
          </a:prstGeom>
          <a:solidFill>
            <a:schemeClr val="bg1">
              <a:lumMod val="85000"/>
            </a:schemeClr>
          </a:solidFill>
        </p:spPr>
        <p:txBody>
          <a:bodyPr wrap="square" rtlCol="0">
            <a:spAutoFit/>
          </a:bodyPr>
          <a:lstStyle/>
          <a:p>
            <a:r>
              <a:rPr lang="en-US" b="1" dirty="0" smtClean="0"/>
              <a:t>Task #2 (10 min)</a:t>
            </a:r>
            <a:endParaRPr lang="en-US" b="1" dirty="0"/>
          </a:p>
        </p:txBody>
      </p:sp>
      <p:grpSp>
        <p:nvGrpSpPr>
          <p:cNvPr id="3" name="Group 17"/>
          <p:cNvGrpSpPr/>
          <p:nvPr/>
        </p:nvGrpSpPr>
        <p:grpSpPr>
          <a:xfrm>
            <a:off x="1143001" y="2590800"/>
            <a:ext cx="6934199" cy="1200329"/>
            <a:chOff x="1066801" y="2321867"/>
            <a:chExt cx="6934199" cy="1200329"/>
          </a:xfrm>
        </p:grpSpPr>
        <p:pic>
          <p:nvPicPr>
            <p:cNvPr id="19" name="Picture 18"/>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20" name="TextBox 19"/>
            <p:cNvSpPr txBox="1"/>
            <p:nvPr/>
          </p:nvSpPr>
          <p:spPr>
            <a:xfrm>
              <a:off x="1524000" y="2321867"/>
              <a:ext cx="6477000" cy="1200329"/>
            </a:xfrm>
            <a:prstGeom prst="rect">
              <a:avLst/>
            </a:prstGeom>
            <a:noFill/>
          </p:spPr>
          <p:txBody>
            <a:bodyPr wrap="square" rtlCol="0">
              <a:spAutoFit/>
            </a:bodyPr>
            <a:lstStyle/>
            <a:p>
              <a:r>
                <a:rPr lang="en-US" sz="1200" b="1" dirty="0" smtClean="0"/>
                <a:t>Here’s a tip:</a:t>
              </a:r>
            </a:p>
            <a:p>
              <a:r>
                <a:rPr lang="en-US" sz="1200" dirty="0" smtClean="0"/>
                <a:t>You’ll need to use three </a:t>
              </a:r>
              <a:r>
                <a:rPr lang="en-US" sz="1200" dirty="0" err="1" smtClean="0"/>
                <a:t>cmdlets</a:t>
              </a:r>
              <a:r>
                <a:rPr lang="en-US" sz="1200" dirty="0" smtClean="0"/>
                <a:t> in your final command‐line in order to make this work.</a:t>
              </a:r>
            </a:p>
            <a:p>
              <a:endParaRPr lang="en-US" sz="1200" dirty="0" smtClean="0"/>
            </a:p>
            <a:p>
              <a:r>
                <a:rPr lang="en-US" sz="1200" b="1" dirty="0" smtClean="0"/>
                <a:t>Here’s a tip:</a:t>
              </a:r>
            </a:p>
            <a:p>
              <a:r>
                <a:rPr lang="en-US" sz="1200" dirty="0" smtClean="0"/>
                <a:t>String types have a property which indicated how many characters the string contains.</a:t>
              </a:r>
            </a:p>
            <a:p>
              <a:r>
                <a:rPr lang="en-US" sz="1200" dirty="0" smtClean="0"/>
                <a:t>Pipe a string to Get‐Member to try and locate this property and discover its name.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3 – Using Scripting Constructs </a:t>
            </a:r>
            <a:endParaRPr lang="en-US" dirty="0"/>
          </a:p>
        </p:txBody>
      </p:sp>
      <p:sp>
        <p:nvSpPr>
          <p:cNvPr id="4" name="Title 1"/>
          <p:cNvSpPr txBox="1">
            <a:spLocks/>
          </p:cNvSpPr>
          <p:nvPr/>
        </p:nvSpPr>
        <p:spPr bwMode="auto">
          <a:xfrm>
            <a:off x="914400" y="685800"/>
            <a:ext cx="7369175"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2800" b="0" i="0" u="none" strike="noStrike" kern="0" cap="none" spc="0" normalizeH="0" baseline="0" noProof="0" dirty="0">
              <a:ln>
                <a:noFill/>
              </a:ln>
              <a:solidFill>
                <a:schemeClr val="tx2"/>
              </a:solidFill>
              <a:effectLst/>
              <a:uLnTx/>
              <a:uFillTx/>
              <a:latin typeface="+mj-lt"/>
              <a:ea typeface="ＭＳ Ｐゴシック" pitchFamily="-106" charset="-128"/>
              <a:cs typeface="ＭＳ Ｐゴシック" charset="-128"/>
            </a:endParaRPr>
          </a:p>
        </p:txBody>
      </p:sp>
      <p:sp>
        <p:nvSpPr>
          <p:cNvPr id="5" name="Content Placeholder 2"/>
          <p:cNvSpPr txBox="1">
            <a:spLocks/>
          </p:cNvSpPr>
          <p:nvPr/>
        </p:nvSpPr>
        <p:spPr bwMode="auto">
          <a:xfrm>
            <a:off x="917575" y="838200"/>
            <a:ext cx="7369175" cy="5257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182880" bIns="0" numCol="1" anchor="t" anchorCtr="0" compatLnSpc="1">
            <a:prstTxWarp prst="textNoShape">
              <a:avLst/>
            </a:prstTxWarp>
          </a:bodyPr>
          <a:lstStyle/>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smtClean="0">
              <a:ln>
                <a:noFill/>
              </a:ln>
              <a:solidFill>
                <a:schemeClr val="tx1"/>
              </a:solidFill>
              <a:effectLst/>
              <a:uLnTx/>
              <a:uFillTx/>
              <a:latin typeface="+mn-lt"/>
              <a:ea typeface="ＭＳ Ｐゴシック" pitchFamily="-106" charset="-128"/>
              <a:cs typeface="ＭＳ Ｐゴシック" charset="-128"/>
            </a:endParaRPr>
          </a:p>
          <a:p>
            <a:pPr marL="0" marR="0" lvl="0" indent="0" algn="l" defTabSz="914400" rtl="0" eaLnBrk="0" fontAlgn="base" latinLnBrk="0" hangingPunct="0">
              <a:lnSpc>
                <a:spcPct val="100000"/>
              </a:lnSpc>
              <a:spcBef>
                <a:spcPct val="50000"/>
              </a:spcBef>
              <a:spcAft>
                <a:spcPct val="0"/>
              </a:spcAft>
              <a:buClr>
                <a:schemeClr val="tx2"/>
              </a:buClr>
              <a:buSzTx/>
              <a:buFontTx/>
              <a:buNone/>
              <a:tabLst/>
              <a:defRPr/>
            </a:pPr>
            <a:endParaRPr kumimoji="0" lang="en-US" sz="2400" b="0" i="0" u="none" strike="noStrike" kern="0" cap="none" spc="0" normalizeH="0" baseline="0" noProof="0" dirty="0">
              <a:ln>
                <a:noFill/>
              </a:ln>
              <a:solidFill>
                <a:schemeClr val="tx1"/>
              </a:solidFill>
              <a:effectLst/>
              <a:uLnTx/>
              <a:uFillTx/>
              <a:latin typeface="+mn-lt"/>
              <a:ea typeface="ＭＳ Ｐゴシック" pitchFamily="-106" charset="-128"/>
              <a:cs typeface="ＭＳ Ｐゴシック" charset="-128"/>
            </a:endParaRPr>
          </a:p>
        </p:txBody>
      </p:sp>
      <p:sp>
        <p:nvSpPr>
          <p:cNvPr id="6" name="TextBox 5"/>
          <p:cNvSpPr txBox="1"/>
          <p:nvPr/>
        </p:nvSpPr>
        <p:spPr>
          <a:xfrm>
            <a:off x="1524000" y="1595735"/>
            <a:ext cx="6477000" cy="1384995"/>
          </a:xfrm>
          <a:prstGeom prst="rect">
            <a:avLst/>
          </a:prstGeom>
          <a:noFill/>
        </p:spPr>
        <p:txBody>
          <a:bodyPr wrap="square" rtlCol="0">
            <a:spAutoFit/>
          </a:bodyPr>
          <a:lstStyle/>
          <a:p>
            <a:r>
              <a:rPr lang="en-US" sz="1200" b="1" dirty="0" smtClean="0"/>
              <a:t>Here’s your task:</a:t>
            </a:r>
          </a:p>
          <a:p>
            <a:r>
              <a:rPr lang="en-US" sz="1200" dirty="0" smtClean="0"/>
              <a:t>Write a script that will search for an event log filename system, and then retrieves the</a:t>
            </a:r>
          </a:p>
          <a:p>
            <a:r>
              <a:rPr lang="en-US" sz="1200" dirty="0" smtClean="0"/>
              <a:t>newest 50 events from that event log.</a:t>
            </a:r>
          </a:p>
          <a:p>
            <a:endParaRPr lang="en-US" sz="1200" dirty="0" smtClean="0"/>
          </a:p>
          <a:p>
            <a:r>
              <a:rPr lang="en-US" sz="1200" dirty="0" smtClean="0"/>
              <a:t>For each event, examine the category. If the category is (0), output the event’s “time</a:t>
            </a:r>
          </a:p>
          <a:p>
            <a:r>
              <a:rPr lang="en-US" sz="1200" dirty="0" smtClean="0"/>
              <a:t>written” in green. If the category is (101), output the time in yellow. If the category is</a:t>
            </a:r>
          </a:p>
          <a:p>
            <a:r>
              <a:rPr lang="en-US" sz="1200" dirty="0" smtClean="0"/>
              <a:t>(103), output in Red. For all other categories, output in white.</a:t>
            </a:r>
            <a:endParaRPr lang="en-US" sz="1200" dirty="0"/>
          </a:p>
        </p:txBody>
      </p:sp>
      <p:pic>
        <p:nvPicPr>
          <p:cNvPr id="7" name="Picture 4" descr="C:\Users\u0148347\AppData\Local\Microsoft\Windows\Temporary Internet Files\Content.IE5\IKLUXKU9\MC900432658[1].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066801" y="1636068"/>
            <a:ext cx="380999" cy="380999"/>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p:cNvSpPr txBox="1"/>
          <p:nvPr/>
        </p:nvSpPr>
        <p:spPr>
          <a:xfrm>
            <a:off x="914400" y="1143000"/>
            <a:ext cx="7391400" cy="369332"/>
          </a:xfrm>
          <a:prstGeom prst="rect">
            <a:avLst/>
          </a:prstGeom>
          <a:solidFill>
            <a:schemeClr val="bg1">
              <a:lumMod val="85000"/>
            </a:schemeClr>
          </a:solidFill>
        </p:spPr>
        <p:txBody>
          <a:bodyPr wrap="square" rtlCol="0">
            <a:spAutoFit/>
          </a:bodyPr>
          <a:lstStyle/>
          <a:p>
            <a:r>
              <a:rPr lang="en-US" b="1" dirty="0" smtClean="0"/>
              <a:t>Task #3 (10 min)</a:t>
            </a:r>
            <a:endParaRPr lang="en-US" b="1" dirty="0"/>
          </a:p>
        </p:txBody>
      </p:sp>
      <p:grpSp>
        <p:nvGrpSpPr>
          <p:cNvPr id="3" name="Group 17"/>
          <p:cNvGrpSpPr/>
          <p:nvPr/>
        </p:nvGrpSpPr>
        <p:grpSpPr>
          <a:xfrm>
            <a:off x="1143001" y="3200400"/>
            <a:ext cx="6934199" cy="1569660"/>
            <a:chOff x="1066801" y="2321867"/>
            <a:chExt cx="6934199" cy="1569660"/>
          </a:xfrm>
        </p:grpSpPr>
        <p:pic>
          <p:nvPicPr>
            <p:cNvPr id="19" name="Picture 18"/>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066801" y="2362200"/>
              <a:ext cx="381000" cy="381000"/>
            </a:xfrm>
            <a:prstGeom prst="rect">
              <a:avLst/>
            </a:prstGeom>
          </p:spPr>
        </p:pic>
        <p:sp>
          <p:nvSpPr>
            <p:cNvPr id="20" name="TextBox 19"/>
            <p:cNvSpPr txBox="1"/>
            <p:nvPr/>
          </p:nvSpPr>
          <p:spPr>
            <a:xfrm>
              <a:off x="1524000" y="2321867"/>
              <a:ext cx="6477000" cy="1569660"/>
            </a:xfrm>
            <a:prstGeom prst="rect">
              <a:avLst/>
            </a:prstGeom>
            <a:noFill/>
          </p:spPr>
          <p:txBody>
            <a:bodyPr wrap="square" rtlCol="0">
              <a:spAutoFit/>
            </a:bodyPr>
            <a:lstStyle/>
            <a:p>
              <a:r>
                <a:rPr lang="en-US" sz="1200" b="1" dirty="0" smtClean="0"/>
                <a:t>Here’s a tip:</a:t>
              </a:r>
            </a:p>
            <a:p>
              <a:r>
                <a:rPr lang="en-US" sz="1200" dirty="0" smtClean="0"/>
                <a:t>Use Get‐Member to find the property names you need.</a:t>
              </a:r>
            </a:p>
            <a:p>
              <a:endParaRPr lang="en-US" sz="1200" dirty="0" smtClean="0"/>
            </a:p>
            <a:p>
              <a:r>
                <a:rPr lang="en-US" sz="1200" dirty="0" smtClean="0"/>
                <a:t>Use Get‐</a:t>
              </a:r>
              <a:r>
                <a:rPr lang="en-US" sz="1200" dirty="0" err="1" smtClean="0"/>
                <a:t>EventLog</a:t>
              </a:r>
              <a:r>
                <a:rPr lang="en-US" sz="1200" dirty="0" smtClean="0"/>
                <a:t>, piped to Format‐List, to display all the properties so that you can see</a:t>
              </a:r>
            </a:p>
            <a:p>
              <a:r>
                <a:rPr lang="en-US" sz="1200" dirty="0" smtClean="0"/>
                <a:t>what values go into these properties.</a:t>
              </a:r>
            </a:p>
            <a:p>
              <a:endParaRPr lang="en-US" sz="1200" dirty="0" smtClean="0"/>
            </a:p>
            <a:p>
              <a:r>
                <a:rPr lang="en-US" sz="1200" dirty="0" smtClean="0"/>
                <a:t>Use the scripting constructs you just learned, and take things step‐by‐step to construct a</a:t>
              </a:r>
            </a:p>
            <a:p>
              <a:r>
                <a:rPr lang="en-US" sz="1200" dirty="0" smtClean="0"/>
                <a:t>script that accomplishes the task as described.</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5: Security</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97869488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Execution Policy</a:t>
            </a:r>
            <a:endParaRPr lang="en-US" dirty="0"/>
          </a:p>
        </p:txBody>
      </p:sp>
      <p:sp>
        <p:nvSpPr>
          <p:cNvPr id="3" name="Content Placeholder 2"/>
          <p:cNvSpPr>
            <a:spLocks noGrp="1"/>
          </p:cNvSpPr>
          <p:nvPr>
            <p:ph idx="1"/>
          </p:nvPr>
        </p:nvSpPr>
        <p:spPr/>
        <p:txBody>
          <a:bodyPr/>
          <a:lstStyle/>
          <a:p>
            <a:r>
              <a:rPr lang="en-US" dirty="0"/>
              <a:t>Built in security mechanism to make it a trustworthy scripting </a:t>
            </a:r>
            <a:r>
              <a:rPr lang="en-US" dirty="0" smtClean="0"/>
              <a:t>environment.</a:t>
            </a:r>
          </a:p>
          <a:p>
            <a:r>
              <a:rPr lang="en-US" dirty="0" smtClean="0"/>
              <a:t>Example</a:t>
            </a:r>
          </a:p>
          <a:p>
            <a:pPr marL="342900" lvl="1" indent="0">
              <a:buNone/>
            </a:pPr>
            <a:r>
              <a:rPr lang="en-US" dirty="0">
                <a:solidFill>
                  <a:srgbClr val="FF0000"/>
                </a:solidFill>
              </a:rPr>
              <a:t>Get-</a:t>
            </a:r>
            <a:r>
              <a:rPr lang="en-US" dirty="0" err="1">
                <a:solidFill>
                  <a:srgbClr val="FF0000"/>
                </a:solidFill>
              </a:rPr>
              <a:t>ExecutionPolicy</a:t>
            </a:r>
            <a:r>
              <a:rPr lang="en-US" dirty="0"/>
              <a:t> = Returns current setting</a:t>
            </a:r>
          </a:p>
          <a:p>
            <a:pPr marL="342900" lvl="1" indent="0">
              <a:buNone/>
            </a:pPr>
            <a:r>
              <a:rPr lang="en-US" dirty="0">
                <a:solidFill>
                  <a:srgbClr val="FF0000"/>
                </a:solidFill>
              </a:rPr>
              <a:t>Set-ExecutionPolicy</a:t>
            </a:r>
            <a:r>
              <a:rPr lang="en-US" dirty="0"/>
              <a:t> = </a:t>
            </a:r>
            <a:r>
              <a:rPr lang="en-US" dirty="0" smtClean="0"/>
              <a:t>Set </a:t>
            </a:r>
            <a:r>
              <a:rPr lang="en-US" dirty="0"/>
              <a:t>the appropriate </a:t>
            </a:r>
            <a:r>
              <a:rPr lang="en-US" dirty="0" smtClean="0"/>
              <a:t>value</a:t>
            </a:r>
          </a:p>
          <a:p>
            <a:pPr marL="342900" lvl="1" indent="0">
              <a:buNone/>
            </a:pPr>
            <a:r>
              <a:rPr lang="en-US" dirty="0" smtClean="0"/>
              <a:t>ByPass</a:t>
            </a:r>
          </a:p>
          <a:p>
            <a:r>
              <a:rPr lang="en-US" b="1" dirty="0"/>
              <a:t>Remote signed</a:t>
            </a:r>
            <a:r>
              <a:rPr lang="en-US" dirty="0"/>
              <a:t> = Downloaded scripts from the Internet must be signed by a trusted publisher before they can be run.</a:t>
            </a:r>
          </a:p>
          <a:p>
            <a:r>
              <a:rPr lang="en-US" b="1" dirty="0"/>
              <a:t>All signed</a:t>
            </a:r>
            <a:r>
              <a:rPr lang="en-US" dirty="0"/>
              <a:t> = Only scripts signed by a trusted publisher can be run.  And any scripts not signed will not be run.</a:t>
            </a:r>
          </a:p>
          <a:p>
            <a:endParaRPr lang="en-US" dirty="0"/>
          </a:p>
        </p:txBody>
      </p:sp>
    </p:spTree>
    <p:extLst>
      <p:ext uri="{BB962C8B-B14F-4D97-AF65-F5344CB8AC3E}">
        <p14:creationId xmlns="" xmlns:p14="http://schemas.microsoft.com/office/powerpoint/2010/main" val="272439732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5 Lab: Security</a:t>
            </a:r>
            <a:endParaRPr lang="en-US" dirty="0"/>
          </a:p>
        </p:txBody>
      </p:sp>
      <p:sp>
        <p:nvSpPr>
          <p:cNvPr id="5" name="Subtitle 4"/>
          <p:cNvSpPr>
            <a:spLocks noGrp="1"/>
          </p:cNvSpPr>
          <p:nvPr>
            <p:ph type="subTitle" idx="1"/>
          </p:nvPr>
        </p:nvSpPr>
        <p:spPr/>
        <p:txBody>
          <a:bodyPr/>
          <a:lstStyle/>
          <a:p>
            <a:r>
              <a:rPr lang="en-US" dirty="0" smtClean="0"/>
              <a:t>Wendy Peterson</a:t>
            </a:r>
            <a:endParaRPr lang="en-US" dirty="0"/>
          </a:p>
        </p:txBody>
      </p:sp>
    </p:spTree>
    <p:extLst>
      <p:ext uri="{BB962C8B-B14F-4D97-AF65-F5344CB8AC3E}">
        <p14:creationId xmlns="" xmlns:p14="http://schemas.microsoft.com/office/powerpoint/2010/main" val="9754599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6: Object Models</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146344906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t>
            </a:r>
            <a:r>
              <a:rPr lang="en-US" dirty="0" err="1" smtClean="0"/>
              <a:t>Net</a:t>
            </a:r>
            <a:r>
              <a:rPr lang="en-US" dirty="0" smtClean="0"/>
              <a:t> framework</a:t>
            </a:r>
            <a:endParaRPr lang="en-US" dirty="0"/>
          </a:p>
        </p:txBody>
      </p:sp>
      <p:sp>
        <p:nvSpPr>
          <p:cNvPr id="3" name="Content Placeholder 2"/>
          <p:cNvSpPr>
            <a:spLocks noGrp="1"/>
          </p:cNvSpPr>
          <p:nvPr>
            <p:ph idx="1"/>
          </p:nvPr>
        </p:nvSpPr>
        <p:spPr/>
        <p:txBody>
          <a:bodyPr/>
          <a:lstStyle/>
          <a:p>
            <a:r>
              <a:rPr lang="en-US" sz="2000" b="1" dirty="0" err="1" smtClean="0"/>
              <a:t>.Net</a:t>
            </a:r>
            <a:r>
              <a:rPr lang="en-US" sz="2000" b="1" dirty="0" smtClean="0"/>
              <a:t> framework </a:t>
            </a:r>
            <a:r>
              <a:rPr lang="en-US" dirty="0" smtClean="0"/>
              <a:t>– </a:t>
            </a:r>
          </a:p>
          <a:p>
            <a:pPr lvl="1"/>
            <a:r>
              <a:rPr lang="en-US" sz="1600" b="1" dirty="0" smtClean="0"/>
              <a:t>What is it? </a:t>
            </a:r>
            <a:r>
              <a:rPr lang="en-US" sz="1600" dirty="0" smtClean="0"/>
              <a:t>Middleware to access lower level Operating System's low level code at a cost of performance but in a simpler object oriented way.</a:t>
            </a:r>
          </a:p>
          <a:p>
            <a:pPr lvl="1"/>
            <a:r>
              <a:rPr lang="en-US" sz="1600" b="1" dirty="0" smtClean="0"/>
              <a:t>Prior to </a:t>
            </a:r>
            <a:r>
              <a:rPr lang="en-US" sz="1600" b="1" dirty="0" err="1" smtClean="0"/>
              <a:t>.Net</a:t>
            </a:r>
            <a:r>
              <a:rPr lang="en-US" sz="1600" b="1" dirty="0" smtClean="0"/>
              <a:t>  framework</a:t>
            </a:r>
            <a:r>
              <a:rPr lang="en-US" sz="1600" dirty="0" smtClean="0"/>
              <a:t> </a:t>
            </a:r>
            <a:r>
              <a:rPr lang="en-US" sz="1600" dirty="0" err="1" smtClean="0"/>
              <a:t>developerss</a:t>
            </a:r>
            <a:r>
              <a:rPr lang="en-US" sz="1600" dirty="0" smtClean="0"/>
              <a:t> had to be very familiar with windows internals and the win32 </a:t>
            </a:r>
            <a:r>
              <a:rPr lang="en-US" sz="1600" dirty="0" err="1" smtClean="0"/>
              <a:t>api</a:t>
            </a:r>
            <a:r>
              <a:rPr lang="en-US" sz="1600" dirty="0" smtClean="0"/>
              <a:t> subsystem.</a:t>
            </a:r>
          </a:p>
          <a:p>
            <a:pPr lvl="1"/>
            <a:r>
              <a:rPr lang="en-US" sz="1600" b="1" dirty="0" smtClean="0"/>
              <a:t>After </a:t>
            </a:r>
            <a:r>
              <a:rPr lang="en-US" sz="1600" b="1" dirty="0" err="1" smtClean="0"/>
              <a:t>.Net</a:t>
            </a:r>
            <a:r>
              <a:rPr lang="en-US" sz="1600" b="1" dirty="0" smtClean="0"/>
              <a:t> framework </a:t>
            </a:r>
            <a:r>
              <a:rPr lang="en-US" sz="1600" dirty="0" err="1" smtClean="0"/>
              <a:t>scripters</a:t>
            </a:r>
            <a:r>
              <a:rPr lang="en-US" sz="1600" dirty="0" smtClean="0"/>
              <a:t> only need to understand object orientated techniques and to MSDN.</a:t>
            </a:r>
            <a:endParaRPr lang="en-US" sz="16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Windows forms </a:t>
            </a:r>
            <a:endParaRPr lang="en-US" dirty="0"/>
          </a:p>
        </p:txBody>
      </p:sp>
      <p:sp>
        <p:nvSpPr>
          <p:cNvPr id="3" name="Content Placeholder 2"/>
          <p:cNvSpPr>
            <a:spLocks noGrp="1"/>
          </p:cNvSpPr>
          <p:nvPr>
            <p:ph idx="1"/>
          </p:nvPr>
        </p:nvSpPr>
        <p:spPr/>
        <p:txBody>
          <a:bodyPr/>
          <a:lstStyle/>
          <a:p>
            <a:r>
              <a:rPr lang="en-US" dirty="0" smtClean="0"/>
              <a:t> Is an object created by using objects from </a:t>
            </a:r>
            <a:r>
              <a:rPr lang="en-US" dirty="0" err="1" smtClean="0"/>
              <a:t>.Net</a:t>
            </a:r>
            <a:r>
              <a:rPr lang="en-US" dirty="0" smtClean="0"/>
              <a:t> Framework</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Objects - COM </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r>
              <a:rPr lang="en-US" dirty="0" smtClean="0"/>
              <a:t>Neat! </a:t>
            </a:r>
          </a:p>
          <a:p>
            <a:pPr lvl="1">
              <a:buNone/>
            </a:pPr>
            <a:r>
              <a:rPr lang="en-US" sz="1400" dirty="0" smtClean="0"/>
              <a:t>	</a:t>
            </a:r>
            <a:r>
              <a:rPr lang="en-US" sz="1400" dirty="0" smtClean="0">
                <a:latin typeface="Consolas" pitchFamily="49" charset="0"/>
                <a:cs typeface="Consolas" pitchFamily="49" charset="0"/>
              </a:rPr>
              <a:t>$s = </a:t>
            </a:r>
            <a:r>
              <a:rPr lang="en-US" sz="1400" b="1" dirty="0" smtClean="0">
                <a:latin typeface="Consolas" pitchFamily="49" charset="0"/>
                <a:cs typeface="Consolas" pitchFamily="49" charset="0"/>
              </a:rPr>
              <a:t>New-Object </a:t>
            </a:r>
            <a:r>
              <a:rPr lang="en-US" sz="1400" b="1" i="1" dirty="0" smtClean="0">
                <a:latin typeface="Consolas" pitchFamily="49" charset="0"/>
                <a:cs typeface="Consolas" pitchFamily="49" charset="0"/>
              </a:rPr>
              <a:t>-</a:t>
            </a:r>
            <a:r>
              <a:rPr lang="en-US" sz="1400" b="1" i="1" dirty="0" err="1" smtClean="0">
                <a:latin typeface="Consolas" pitchFamily="49" charset="0"/>
                <a:cs typeface="Consolas" pitchFamily="49" charset="0"/>
              </a:rPr>
              <a:t>ComObject</a:t>
            </a:r>
            <a:r>
              <a:rPr lang="en-US" sz="1400" b="1" i="1" dirty="0" smtClean="0">
                <a:latin typeface="Consolas" pitchFamily="49" charset="0"/>
                <a:cs typeface="Consolas" pitchFamily="49" charset="0"/>
              </a:rPr>
              <a:t> </a:t>
            </a:r>
            <a:r>
              <a:rPr lang="en-US" sz="1400" b="1" i="1" dirty="0" err="1" smtClean="0">
                <a:latin typeface="Consolas" pitchFamily="49" charset="0"/>
                <a:cs typeface="Consolas" pitchFamily="49" charset="0"/>
              </a:rPr>
              <a:t>SAPI.SpVoice</a:t>
            </a:r>
            <a:endParaRPr lang="en-US" sz="1400" b="1" i="1" dirty="0" smtClean="0">
              <a:latin typeface="Consolas" pitchFamily="49" charset="0"/>
              <a:cs typeface="Consolas" pitchFamily="49" charset="0"/>
            </a:endParaRPr>
          </a:p>
          <a:p>
            <a:pPr lvl="1">
              <a:buNone/>
            </a:pPr>
            <a:r>
              <a:rPr lang="en-US" sz="1400" dirty="0" smtClean="0">
                <a:latin typeface="Consolas" pitchFamily="49" charset="0"/>
                <a:cs typeface="Consolas" pitchFamily="49" charset="0"/>
              </a:rPr>
              <a:t>	$</a:t>
            </a:r>
            <a:r>
              <a:rPr lang="en-US" sz="1400" dirty="0" err="1" smtClean="0">
                <a:latin typeface="Consolas" pitchFamily="49" charset="0"/>
                <a:cs typeface="Consolas" pitchFamily="49" charset="0"/>
              </a:rPr>
              <a:t>s.rate</a:t>
            </a:r>
            <a:r>
              <a:rPr lang="en-US" sz="1400" dirty="0" smtClean="0">
                <a:latin typeface="Consolas" pitchFamily="49" charset="0"/>
                <a:cs typeface="Consolas" pitchFamily="49" charset="0"/>
              </a:rPr>
              <a:t> = -10 </a:t>
            </a:r>
          </a:p>
          <a:p>
            <a:pPr lvl="1">
              <a:buNone/>
            </a:pPr>
            <a:r>
              <a:rPr lang="en-US" sz="1400" dirty="0" smtClean="0">
                <a:latin typeface="Consolas" pitchFamily="49" charset="0"/>
                <a:cs typeface="Consolas" pitchFamily="49" charset="0"/>
              </a:rPr>
              <a:t>	$</a:t>
            </a:r>
            <a:r>
              <a:rPr lang="en-US" sz="1400" dirty="0" err="1" smtClean="0">
                <a:latin typeface="Consolas" pitchFamily="49" charset="0"/>
                <a:cs typeface="Consolas" pitchFamily="49" charset="0"/>
              </a:rPr>
              <a:t>s.speak</a:t>
            </a:r>
            <a:r>
              <a:rPr lang="en-US" sz="1400" dirty="0" smtClean="0">
                <a:latin typeface="Consolas" pitchFamily="49" charset="0"/>
                <a:cs typeface="Consolas" pitchFamily="49" charset="0"/>
              </a:rPr>
              <a:t>("Too much pop makes you drunk")</a:t>
            </a:r>
            <a:endParaRPr lang="en-US" sz="1400" dirty="0">
              <a:latin typeface="Consolas" pitchFamily="49" charset="0"/>
              <a:cs typeface="Consolas"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and Object</a:t>
            </a:r>
            <a:endParaRPr lang="en-US" dirty="0"/>
          </a:p>
        </p:txBody>
      </p:sp>
      <p:sp>
        <p:nvSpPr>
          <p:cNvPr id="3" name="Content Placeholder 2"/>
          <p:cNvSpPr>
            <a:spLocks noGrp="1"/>
          </p:cNvSpPr>
          <p:nvPr>
            <p:ph idx="1"/>
          </p:nvPr>
        </p:nvSpPr>
        <p:spPr/>
        <p:txBody>
          <a:bodyPr/>
          <a:lstStyle/>
          <a:p>
            <a:pPr lvl="1" fontAlgn="ctr"/>
            <a:r>
              <a:rPr lang="en-US" dirty="0" smtClean="0"/>
              <a:t>Class - is a template of an object</a:t>
            </a:r>
          </a:p>
          <a:p>
            <a:pPr lvl="4" fontAlgn="ctr"/>
            <a:r>
              <a:rPr lang="en-US" dirty="0" smtClean="0"/>
              <a:t>Examples</a:t>
            </a:r>
          </a:p>
          <a:p>
            <a:pPr lvl="1" fontAlgn="ctr"/>
            <a:r>
              <a:rPr lang="en-US" dirty="0" smtClean="0"/>
              <a:t>Object - is an instance of a class.</a:t>
            </a:r>
          </a:p>
          <a:p>
            <a:pPr lvl="4" fontAlgn="ctr"/>
            <a:r>
              <a:rPr lang="en-US" dirty="0" smtClean="0"/>
              <a:t>Examples</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WMI</a:t>
            </a:r>
            <a:endParaRPr lang="en-US" dirty="0"/>
          </a:p>
        </p:txBody>
      </p:sp>
      <p:sp>
        <p:nvSpPr>
          <p:cNvPr id="3" name="Content Placeholder 2"/>
          <p:cNvSpPr>
            <a:spLocks noGrp="1"/>
          </p:cNvSpPr>
          <p:nvPr>
            <p:ph idx="1"/>
          </p:nvPr>
        </p:nvSpPr>
        <p:spPr/>
        <p:txBody>
          <a:bodyPr/>
          <a:lstStyle/>
          <a:p>
            <a:r>
              <a:rPr lang="en-US" dirty="0" smtClean="0"/>
              <a:t>WMI- is the implementation of 2 standards: CIM and WBEM and uses namespace or logical grouping of objects of a similar technology.</a:t>
            </a:r>
          </a:p>
          <a:p>
            <a:pPr lvl="3" fontAlgn="ctr"/>
            <a:r>
              <a:rPr lang="en-US" dirty="0" smtClean="0"/>
              <a:t>CIM stands for Common Information Model.</a:t>
            </a:r>
          </a:p>
          <a:p>
            <a:pPr lvl="3" fontAlgn="ctr"/>
            <a:r>
              <a:rPr lang="en-US" dirty="0" smtClean="0"/>
              <a:t>WBEM is a standard for making this available remotely.</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a:t>
            </a:r>
            <a:r>
              <a:rPr lang="en-US" dirty="0" err="1" smtClean="0"/>
              <a:t>WMIobject</a:t>
            </a:r>
            <a:endParaRPr lang="en-US" dirty="0"/>
          </a:p>
        </p:txBody>
      </p:sp>
      <p:sp>
        <p:nvSpPr>
          <p:cNvPr id="3" name="Content Placeholder 2"/>
          <p:cNvSpPr>
            <a:spLocks noGrp="1"/>
          </p:cNvSpPr>
          <p:nvPr>
            <p:ph idx="1"/>
          </p:nvPr>
        </p:nvSpPr>
        <p:spPr/>
        <p:txBody>
          <a:bodyPr/>
          <a:lstStyle/>
          <a:p>
            <a:pPr fontAlgn="ctr"/>
            <a:r>
              <a:rPr lang="en-US" dirty="0" smtClean="0"/>
              <a:t>Get-</a:t>
            </a:r>
            <a:r>
              <a:rPr lang="en-US" dirty="0" err="1" smtClean="0"/>
              <a:t>WMIobject</a:t>
            </a:r>
            <a:r>
              <a:rPr lang="en-US" dirty="0" smtClean="0"/>
              <a:t>- is </a:t>
            </a:r>
            <a:r>
              <a:rPr lang="en-US" dirty="0" err="1" smtClean="0"/>
              <a:t>cmdlet</a:t>
            </a:r>
            <a:r>
              <a:rPr lang="en-US" dirty="0" smtClean="0"/>
              <a:t> that gets instances of WMI classes.</a:t>
            </a:r>
          </a:p>
          <a:p>
            <a:pPr lvl="3" fontAlgn="ctr"/>
            <a:r>
              <a:rPr lang="en-US" dirty="0" smtClean="0"/>
              <a:t>Get-</a:t>
            </a:r>
            <a:r>
              <a:rPr lang="en-US" dirty="0" err="1" smtClean="0"/>
              <a:t>WMIObject</a:t>
            </a:r>
            <a:r>
              <a:rPr lang="en-US" dirty="0" smtClean="0"/>
              <a:t> </a:t>
            </a:r>
            <a:r>
              <a:rPr lang="en-US" dirty="0" err="1" smtClean="0"/>
              <a:t>cmdlet</a:t>
            </a:r>
            <a:r>
              <a:rPr lang="en-US" dirty="0" smtClean="0"/>
              <a:t> does not use </a:t>
            </a:r>
            <a:r>
              <a:rPr lang="en-US" dirty="0" err="1" smtClean="0"/>
              <a:t>Powershell</a:t>
            </a:r>
            <a:r>
              <a:rPr lang="en-US" dirty="0" smtClean="0"/>
              <a:t> </a:t>
            </a:r>
            <a:r>
              <a:rPr lang="en-US" dirty="0" err="1" smtClean="0"/>
              <a:t>remoting</a:t>
            </a:r>
            <a:r>
              <a:rPr lang="en-US" dirty="0" smtClean="0"/>
              <a:t> infrastructure to perform remote operations.</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6 Lab: Object Models</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38135321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7: PowerShell </a:t>
            </a:r>
            <a:r>
              <a:rPr lang="en-US" dirty="0" err="1" smtClean="0"/>
              <a:t>Remoting</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14634490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Remoting</a:t>
            </a:r>
            <a:r>
              <a:rPr lang="en-US" dirty="0" smtClean="0"/>
              <a:t> Technologies</a:t>
            </a:r>
            <a:endParaRPr lang="en-US" dirty="0"/>
          </a:p>
        </p:txBody>
      </p:sp>
      <p:sp>
        <p:nvSpPr>
          <p:cNvPr id="3" name="Content Placeholder 2"/>
          <p:cNvSpPr>
            <a:spLocks noGrp="1"/>
          </p:cNvSpPr>
          <p:nvPr>
            <p:ph idx="1"/>
          </p:nvPr>
        </p:nvSpPr>
        <p:spPr/>
        <p:txBody>
          <a:bodyPr/>
          <a:lstStyle/>
          <a:p>
            <a:pPr fontAlgn="ctr"/>
            <a:r>
              <a:rPr lang="en-US" dirty="0" smtClean="0"/>
              <a:t>Remote Procedure Call (RPC) </a:t>
            </a:r>
            <a:r>
              <a:rPr lang="en-US" dirty="0"/>
              <a:t>and DCOM</a:t>
            </a:r>
          </a:p>
          <a:p>
            <a:pPr fontAlgn="ctr"/>
            <a:r>
              <a:rPr lang="en-US" dirty="0"/>
              <a:t>WMI</a:t>
            </a:r>
          </a:p>
          <a:p>
            <a:pPr fontAlgn="ctr"/>
            <a:r>
              <a:rPr lang="en-US" dirty="0"/>
              <a:t>WS-MAN (Web Services Management) = </a:t>
            </a:r>
            <a:r>
              <a:rPr lang="en-US" dirty="0" err="1"/>
              <a:t>Powershell</a:t>
            </a:r>
            <a:r>
              <a:rPr lang="en-US" dirty="0"/>
              <a:t> </a:t>
            </a:r>
            <a:r>
              <a:rPr lang="en-US" dirty="0" err="1" smtClean="0"/>
              <a:t>Remoting</a:t>
            </a:r>
            <a:endParaRPr lang="en-US" dirty="0" smtClean="0"/>
          </a:p>
          <a:p>
            <a:pPr fontAlgn="ctr"/>
            <a:r>
              <a:rPr lang="en-US" dirty="0" smtClean="0"/>
              <a:t>Windows Remote Management (</a:t>
            </a:r>
            <a:r>
              <a:rPr lang="en-US" dirty="0" err="1" smtClean="0"/>
              <a:t>WinRM</a:t>
            </a:r>
            <a:r>
              <a:rPr lang="en-US" dirty="0" smtClean="0"/>
              <a:t>) is Microsoft’s implementation of WS-Management protocol</a:t>
            </a:r>
          </a:p>
          <a:p>
            <a:pPr fontAlgn="ctr"/>
            <a:r>
              <a:rPr lang="en-US" dirty="0" smtClean="0"/>
              <a:t>Whatever runs locally should be able to be run anywhere.</a:t>
            </a:r>
            <a:endParaRPr lang="en-US" dirty="0"/>
          </a:p>
          <a:p>
            <a:endParaRPr lang="en-US" dirty="0"/>
          </a:p>
        </p:txBody>
      </p:sp>
    </p:spTree>
    <p:extLst>
      <p:ext uri="{BB962C8B-B14F-4D97-AF65-F5344CB8AC3E}">
        <p14:creationId xmlns="" xmlns:p14="http://schemas.microsoft.com/office/powerpoint/2010/main" val="115877734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WMI</a:t>
            </a:r>
            <a:endParaRPr lang="en-US" dirty="0"/>
          </a:p>
        </p:txBody>
      </p:sp>
      <p:sp>
        <p:nvSpPr>
          <p:cNvPr id="3" name="Content Placeholder 2"/>
          <p:cNvSpPr>
            <a:spLocks noGrp="1"/>
          </p:cNvSpPr>
          <p:nvPr>
            <p:ph idx="1"/>
          </p:nvPr>
        </p:nvSpPr>
        <p:spPr/>
        <p:txBody>
          <a:bodyPr/>
          <a:lstStyle/>
          <a:p>
            <a:r>
              <a:rPr lang="en-US" dirty="0" smtClean="0"/>
              <a:t>WMI can be accessed by the following command:</a:t>
            </a:r>
          </a:p>
          <a:p>
            <a:pPr lvl="1"/>
            <a:r>
              <a:rPr lang="en-US" dirty="0">
                <a:solidFill>
                  <a:srgbClr val="FF0000"/>
                </a:solidFill>
              </a:rPr>
              <a:t>Get-</a:t>
            </a:r>
            <a:r>
              <a:rPr lang="en-US" dirty="0" err="1">
                <a:solidFill>
                  <a:srgbClr val="FF0000"/>
                </a:solidFill>
              </a:rPr>
              <a:t>WMIObject</a:t>
            </a:r>
            <a:r>
              <a:rPr lang="en-US" dirty="0">
                <a:solidFill>
                  <a:srgbClr val="FF0000"/>
                </a:solidFill>
              </a:rPr>
              <a:t> </a:t>
            </a:r>
            <a:r>
              <a:rPr lang="en-US" dirty="0" err="1"/>
              <a:t>cmdlet</a:t>
            </a:r>
            <a:endParaRPr lang="en-US" dirty="0"/>
          </a:p>
        </p:txBody>
      </p:sp>
    </p:spTree>
    <p:extLst>
      <p:ext uri="{BB962C8B-B14F-4D97-AF65-F5344CB8AC3E}">
        <p14:creationId xmlns="" xmlns:p14="http://schemas.microsoft.com/office/powerpoint/2010/main" val="395812296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Computername</a:t>
            </a:r>
            <a:r>
              <a:rPr lang="en-US" dirty="0" smtClean="0"/>
              <a:t> Parameter</a:t>
            </a:r>
            <a:endParaRPr lang="en-US" dirty="0"/>
          </a:p>
        </p:txBody>
      </p:sp>
      <p:sp>
        <p:nvSpPr>
          <p:cNvPr id="3" name="Content Placeholder 2"/>
          <p:cNvSpPr>
            <a:spLocks noGrp="1"/>
          </p:cNvSpPr>
          <p:nvPr>
            <p:ph idx="1"/>
          </p:nvPr>
        </p:nvSpPr>
        <p:spPr/>
        <p:txBody>
          <a:bodyPr/>
          <a:lstStyle/>
          <a:p>
            <a:r>
              <a:rPr lang="en-US" dirty="0" smtClean="0"/>
              <a:t>Pa</a:t>
            </a:r>
            <a:r>
              <a:rPr lang="en-US" dirty="0"/>
              <a:t>rameter used to connect to clients</a:t>
            </a:r>
          </a:p>
          <a:p>
            <a:pPr fontAlgn="ctr"/>
            <a:r>
              <a:rPr lang="en-US" sz="2000" dirty="0">
                <a:solidFill>
                  <a:srgbClr val="FF0000"/>
                </a:solidFill>
                <a:cs typeface="ＭＳ Ｐゴシック" charset="0"/>
              </a:rPr>
              <a:t>Get-Process</a:t>
            </a:r>
            <a:r>
              <a:rPr lang="en-US" dirty="0" smtClean="0"/>
              <a:t> </a:t>
            </a:r>
            <a:r>
              <a:rPr lang="en-US" dirty="0"/>
              <a:t>with -</a:t>
            </a:r>
            <a:r>
              <a:rPr lang="en-US" dirty="0" err="1"/>
              <a:t>computername</a:t>
            </a:r>
            <a:r>
              <a:rPr lang="en-US" dirty="0"/>
              <a:t> = uses RPC and DCOM to connect to client</a:t>
            </a:r>
          </a:p>
          <a:p>
            <a:pPr fontAlgn="ctr"/>
            <a:r>
              <a:rPr lang="en-US" sz="2000" dirty="0">
                <a:solidFill>
                  <a:srgbClr val="FF0000"/>
                </a:solidFill>
                <a:cs typeface="ＭＳ Ｐゴシック" charset="0"/>
              </a:rPr>
              <a:t>Get-</a:t>
            </a:r>
            <a:r>
              <a:rPr lang="en-US" sz="2000" dirty="0" err="1">
                <a:solidFill>
                  <a:srgbClr val="FF0000"/>
                </a:solidFill>
                <a:cs typeface="ＭＳ Ｐゴシック" charset="0"/>
              </a:rPr>
              <a:t>WMIObject</a:t>
            </a:r>
            <a:r>
              <a:rPr lang="en-US" dirty="0"/>
              <a:t> uses WMI </a:t>
            </a:r>
            <a:r>
              <a:rPr lang="en-US" dirty="0" err="1"/>
              <a:t>remoting</a:t>
            </a:r>
            <a:r>
              <a:rPr lang="en-US" dirty="0"/>
              <a:t> technology</a:t>
            </a:r>
          </a:p>
          <a:p>
            <a:pPr fontAlgn="ctr"/>
            <a:r>
              <a:rPr lang="en-US" sz="2000" dirty="0">
                <a:solidFill>
                  <a:srgbClr val="FF0000"/>
                </a:solidFill>
                <a:cs typeface="ＭＳ Ｐゴシック" charset="0"/>
              </a:rPr>
              <a:t>Enter-</a:t>
            </a:r>
            <a:r>
              <a:rPr lang="en-US" sz="2000" dirty="0" err="1">
                <a:solidFill>
                  <a:srgbClr val="FF0000"/>
                </a:solidFill>
                <a:cs typeface="ＭＳ Ｐゴシック" charset="0"/>
              </a:rPr>
              <a:t>PSSession</a:t>
            </a:r>
            <a:r>
              <a:rPr lang="en-US" dirty="0"/>
              <a:t> uses </a:t>
            </a:r>
            <a:r>
              <a:rPr lang="en-US" dirty="0" err="1"/>
              <a:t>Powershell</a:t>
            </a:r>
            <a:r>
              <a:rPr lang="en-US" dirty="0"/>
              <a:t> </a:t>
            </a:r>
            <a:r>
              <a:rPr lang="en-US" dirty="0" err="1" smtClean="0"/>
              <a:t>remoting</a:t>
            </a:r>
            <a:endParaRPr lang="en-US" dirty="0"/>
          </a:p>
        </p:txBody>
      </p:sp>
    </p:spTree>
    <p:extLst>
      <p:ext uri="{BB962C8B-B14F-4D97-AF65-F5344CB8AC3E}">
        <p14:creationId xmlns="" xmlns:p14="http://schemas.microsoft.com/office/powerpoint/2010/main" val="21492166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and other operating systems</a:t>
            </a:r>
            <a:endParaRPr lang="en-US" dirty="0"/>
          </a:p>
        </p:txBody>
      </p:sp>
      <p:sp>
        <p:nvSpPr>
          <p:cNvPr id="3" name="Content Placeholder 2"/>
          <p:cNvSpPr>
            <a:spLocks noGrp="1"/>
          </p:cNvSpPr>
          <p:nvPr>
            <p:ph idx="1"/>
          </p:nvPr>
        </p:nvSpPr>
        <p:spPr/>
        <p:txBody>
          <a:bodyPr/>
          <a:lstStyle/>
          <a:p>
            <a:r>
              <a:rPr lang="en-US" dirty="0"/>
              <a:t> If the hardware supports WS-MAN, then certain </a:t>
            </a:r>
            <a:r>
              <a:rPr lang="en-US" dirty="0" err="1"/>
              <a:t>scenerios</a:t>
            </a:r>
            <a:r>
              <a:rPr lang="en-US" dirty="0"/>
              <a:t> can be managed directly by </a:t>
            </a:r>
            <a:r>
              <a:rPr lang="en-US" dirty="0" err="1"/>
              <a:t>Powershell</a:t>
            </a:r>
            <a:r>
              <a:rPr lang="en-US" dirty="0"/>
              <a:t>.  Windows Remote Management is used</a:t>
            </a:r>
            <a:r>
              <a:rPr lang="en-US" dirty="0" smtClean="0"/>
              <a:t>.</a:t>
            </a:r>
          </a:p>
          <a:p>
            <a:pPr lvl="1" fontAlgn="ctr"/>
            <a:r>
              <a:rPr lang="en-US" dirty="0"/>
              <a:t>Power control </a:t>
            </a:r>
          </a:p>
          <a:p>
            <a:pPr lvl="1" fontAlgn="ctr"/>
            <a:r>
              <a:rPr lang="en-US" dirty="0"/>
              <a:t>HW/SW inventory</a:t>
            </a:r>
          </a:p>
          <a:p>
            <a:pPr lvl="1" fontAlgn="ctr"/>
            <a:r>
              <a:rPr lang="en-US" dirty="0"/>
              <a:t>Alerts</a:t>
            </a:r>
          </a:p>
          <a:p>
            <a:pPr lvl="1" fontAlgn="ctr"/>
            <a:r>
              <a:rPr lang="en-US" dirty="0"/>
              <a:t>Manage bios</a:t>
            </a:r>
          </a:p>
          <a:p>
            <a:pPr lvl="1" fontAlgn="ctr"/>
            <a:r>
              <a:rPr lang="en-US" dirty="0"/>
              <a:t>Software and firmware updates</a:t>
            </a:r>
          </a:p>
          <a:p>
            <a:pPr lvl="1" fontAlgn="ctr"/>
            <a:r>
              <a:rPr lang="en-US" dirty="0"/>
              <a:t>Health monitoring</a:t>
            </a:r>
          </a:p>
          <a:p>
            <a:pPr lvl="1"/>
            <a:endParaRPr lang="en-US" dirty="0"/>
          </a:p>
        </p:txBody>
      </p:sp>
    </p:spTree>
    <p:extLst>
      <p:ext uri="{BB962C8B-B14F-4D97-AF65-F5344CB8AC3E}">
        <p14:creationId xmlns="" xmlns:p14="http://schemas.microsoft.com/office/powerpoint/2010/main" val="372159565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Configuring </a:t>
            </a:r>
            <a:r>
              <a:rPr lang="en-US" dirty="0" err="1" smtClean="0"/>
              <a:t>Powershell</a:t>
            </a:r>
            <a:r>
              <a:rPr lang="en-US" dirty="0" smtClean="0"/>
              <a:t> </a:t>
            </a:r>
            <a:r>
              <a:rPr lang="en-US" dirty="0" err="1" smtClean="0"/>
              <a:t>Remoting</a:t>
            </a:r>
            <a:endParaRPr lang="en-US" dirty="0"/>
          </a:p>
        </p:txBody>
      </p:sp>
      <p:sp>
        <p:nvSpPr>
          <p:cNvPr id="3" name="Content Placeholder 2"/>
          <p:cNvSpPr>
            <a:spLocks noGrp="1"/>
          </p:cNvSpPr>
          <p:nvPr>
            <p:ph idx="1"/>
          </p:nvPr>
        </p:nvSpPr>
        <p:spPr/>
        <p:txBody>
          <a:bodyPr/>
          <a:lstStyle/>
          <a:p>
            <a:r>
              <a:rPr lang="en-US" dirty="0"/>
              <a:t>From </a:t>
            </a:r>
            <a:r>
              <a:rPr lang="en-US" dirty="0" err="1"/>
              <a:t>powershell</a:t>
            </a:r>
            <a:r>
              <a:rPr lang="en-US" dirty="0"/>
              <a:t> run </a:t>
            </a:r>
            <a:r>
              <a:rPr lang="en-US" dirty="0" smtClean="0"/>
              <a:t>Enable-</a:t>
            </a:r>
            <a:r>
              <a:rPr lang="en-US" dirty="0" err="1" smtClean="0"/>
              <a:t>PSRemoting</a:t>
            </a:r>
            <a:endParaRPr lang="en-US" dirty="0" smtClean="0"/>
          </a:p>
          <a:p>
            <a:r>
              <a:rPr lang="en-US" dirty="0" smtClean="0"/>
              <a:t>This performs the following:</a:t>
            </a:r>
          </a:p>
          <a:p>
            <a:pPr lvl="1"/>
            <a:r>
              <a:rPr lang="en-US" dirty="0"/>
              <a:t>Runs the Set-</a:t>
            </a:r>
            <a:r>
              <a:rPr lang="en-US" dirty="0" err="1"/>
              <a:t>WSManQuickConfig</a:t>
            </a:r>
            <a:r>
              <a:rPr lang="en-US" dirty="0"/>
              <a:t> </a:t>
            </a:r>
            <a:r>
              <a:rPr lang="en-US" dirty="0" err="1"/>
              <a:t>cmdlet</a:t>
            </a:r>
            <a:endParaRPr lang="en-US" dirty="0"/>
          </a:p>
          <a:p>
            <a:pPr lvl="1"/>
            <a:r>
              <a:rPr lang="en-US" dirty="0"/>
              <a:t>Starts the </a:t>
            </a:r>
            <a:r>
              <a:rPr lang="en-US" dirty="0" err="1"/>
              <a:t>WinRM</a:t>
            </a:r>
            <a:r>
              <a:rPr lang="en-US" dirty="0"/>
              <a:t> Service and sets it to Automatic</a:t>
            </a:r>
          </a:p>
          <a:p>
            <a:pPr lvl="1"/>
            <a:r>
              <a:rPr lang="en-US" dirty="0"/>
              <a:t>Creates a listener to accept requests on any IP address</a:t>
            </a:r>
          </a:p>
          <a:p>
            <a:pPr lvl="1"/>
            <a:r>
              <a:rPr lang="en-US" dirty="0"/>
              <a:t>Enables a firewall exception for WS-Management communications</a:t>
            </a:r>
          </a:p>
          <a:p>
            <a:pPr lvl="1"/>
            <a:r>
              <a:rPr lang="en-US" dirty="0"/>
              <a:t>Enables all registered </a:t>
            </a:r>
            <a:r>
              <a:rPr lang="en-US" dirty="0" err="1"/>
              <a:t>Powershell</a:t>
            </a:r>
            <a:r>
              <a:rPr lang="en-US" dirty="0"/>
              <a:t> sessions configurations to receive instructions from a remote computer</a:t>
            </a:r>
            <a:r>
              <a:rPr lang="en-US" dirty="0" smtClean="0"/>
              <a:t>.</a:t>
            </a:r>
          </a:p>
          <a:p>
            <a:pPr lvl="1"/>
            <a:r>
              <a:rPr lang="en-US" dirty="0" smtClean="0"/>
              <a:t>Only need to run this command once.</a:t>
            </a:r>
            <a:endParaRPr lang="en-US" dirty="0"/>
          </a:p>
          <a:p>
            <a:r>
              <a:rPr lang="en-US" dirty="0"/>
              <a:t>Could also set this up using GPOs.</a:t>
            </a:r>
          </a:p>
          <a:p>
            <a:pPr lvl="1"/>
            <a:r>
              <a:rPr lang="en-US" dirty="0"/>
              <a:t>To test run </a:t>
            </a:r>
            <a:r>
              <a:rPr lang="en-US" dirty="0" err="1">
                <a:solidFill>
                  <a:srgbClr val="FF0000"/>
                </a:solidFill>
              </a:rPr>
              <a:t>winrm</a:t>
            </a:r>
            <a:r>
              <a:rPr lang="en-US" dirty="0">
                <a:solidFill>
                  <a:srgbClr val="FF0000"/>
                </a:solidFill>
              </a:rPr>
              <a:t> id -r:&lt;</a:t>
            </a:r>
            <a:r>
              <a:rPr lang="en-US" dirty="0" err="1">
                <a:solidFill>
                  <a:srgbClr val="FF0000"/>
                </a:solidFill>
              </a:rPr>
              <a:t>servername</a:t>
            </a:r>
            <a:r>
              <a:rPr lang="en-US" dirty="0">
                <a:solidFill>
                  <a:srgbClr val="FF0000"/>
                </a:solidFill>
              </a:rPr>
              <a:t>&gt;</a:t>
            </a:r>
          </a:p>
          <a:p>
            <a:pPr lvl="1"/>
            <a:endParaRPr lang="en-US" dirty="0"/>
          </a:p>
        </p:txBody>
      </p:sp>
    </p:spTree>
    <p:extLst>
      <p:ext uri="{BB962C8B-B14F-4D97-AF65-F5344CB8AC3E}">
        <p14:creationId xmlns="" xmlns:p14="http://schemas.microsoft.com/office/powerpoint/2010/main" val="32136568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 Sessions</a:t>
            </a:r>
            <a:endParaRPr lang="en-US" dirty="0"/>
          </a:p>
        </p:txBody>
      </p:sp>
      <p:sp>
        <p:nvSpPr>
          <p:cNvPr id="3" name="Content Placeholder 2"/>
          <p:cNvSpPr>
            <a:spLocks noGrp="1"/>
          </p:cNvSpPr>
          <p:nvPr>
            <p:ph idx="1"/>
          </p:nvPr>
        </p:nvSpPr>
        <p:spPr/>
        <p:txBody>
          <a:bodyPr/>
          <a:lstStyle/>
          <a:p>
            <a:r>
              <a:rPr lang="en-US" dirty="0"/>
              <a:t>A session is an environment in which a </a:t>
            </a:r>
            <a:r>
              <a:rPr lang="en-US" dirty="0" err="1"/>
              <a:t>Powershell</a:t>
            </a:r>
            <a:r>
              <a:rPr lang="en-US" dirty="0"/>
              <a:t> runs.  Remote sessions can also be created</a:t>
            </a:r>
            <a:r>
              <a:rPr lang="en-US" dirty="0" smtClean="0"/>
              <a:t>.</a:t>
            </a:r>
          </a:p>
          <a:p>
            <a:endParaRPr lang="en-US" dirty="0"/>
          </a:p>
        </p:txBody>
      </p:sp>
    </p:spTree>
    <p:extLst>
      <p:ext uri="{BB962C8B-B14F-4D97-AF65-F5344CB8AC3E}">
        <p14:creationId xmlns="" xmlns:p14="http://schemas.microsoft.com/office/powerpoint/2010/main" val="280790659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Architecture</a:t>
            </a:r>
            <a:endParaRPr lang="en-US" dirty="0"/>
          </a:p>
        </p:txBody>
      </p:sp>
      <p:sp>
        <p:nvSpPr>
          <p:cNvPr id="3" name="Content Placeholder 2"/>
          <p:cNvSpPr>
            <a:spLocks noGrp="1"/>
          </p:cNvSpPr>
          <p:nvPr>
            <p:ph idx="1"/>
          </p:nvPr>
        </p:nvSpPr>
        <p:spPr/>
        <p:txBody>
          <a:bodyPr/>
          <a:lstStyle/>
          <a:p>
            <a:r>
              <a:rPr lang="en-US" dirty="0"/>
              <a:t>Remote shells are object oriented.  </a:t>
            </a:r>
            <a:endParaRPr lang="en-US" dirty="0" smtClean="0"/>
          </a:p>
          <a:p>
            <a:r>
              <a:rPr lang="en-US" dirty="0" smtClean="0"/>
              <a:t>Objects </a:t>
            </a:r>
            <a:r>
              <a:rPr lang="en-US" dirty="0"/>
              <a:t>are created on the remote machine, then </a:t>
            </a:r>
            <a:r>
              <a:rPr lang="en-US" dirty="0" err="1"/>
              <a:t>serialised</a:t>
            </a:r>
            <a:r>
              <a:rPr lang="en-US" dirty="0"/>
              <a:t> and sent back using SOAP (Simple  Object Access Protocol).  </a:t>
            </a:r>
            <a:endParaRPr lang="en-US" dirty="0" smtClean="0"/>
          </a:p>
          <a:p>
            <a:r>
              <a:rPr lang="en-US" dirty="0" smtClean="0"/>
              <a:t>TCP </a:t>
            </a:r>
            <a:r>
              <a:rPr lang="en-US" dirty="0"/>
              <a:t>port 5985 is used.  </a:t>
            </a:r>
            <a:endParaRPr lang="en-US" dirty="0" smtClean="0"/>
          </a:p>
          <a:p>
            <a:r>
              <a:rPr lang="en-US" dirty="0" smtClean="0"/>
              <a:t>All </a:t>
            </a:r>
            <a:r>
              <a:rPr lang="en-US" dirty="0"/>
              <a:t>communication is made using the WS-MAN protocol and is encrypted.</a:t>
            </a:r>
          </a:p>
        </p:txBody>
      </p:sp>
    </p:spTree>
    <p:extLst>
      <p:ext uri="{BB962C8B-B14F-4D97-AF65-F5344CB8AC3E}">
        <p14:creationId xmlns="" xmlns:p14="http://schemas.microsoft.com/office/powerpoint/2010/main" val="390091679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Sessions</a:t>
            </a:r>
            <a:endParaRPr lang="en-US" dirty="0"/>
          </a:p>
        </p:txBody>
      </p:sp>
      <p:sp>
        <p:nvSpPr>
          <p:cNvPr id="3" name="Content Placeholder 2"/>
          <p:cNvSpPr>
            <a:spLocks noGrp="1"/>
          </p:cNvSpPr>
          <p:nvPr>
            <p:ph idx="1"/>
          </p:nvPr>
        </p:nvSpPr>
        <p:spPr/>
        <p:txBody>
          <a:bodyPr/>
          <a:lstStyle/>
          <a:p>
            <a:r>
              <a:rPr lang="en-US" sz="2000" dirty="0">
                <a:solidFill>
                  <a:srgbClr val="FF0000"/>
                </a:solidFill>
                <a:cs typeface="ＭＳ Ｐゴシック" charset="0"/>
              </a:rPr>
              <a:t>Enter-</a:t>
            </a:r>
            <a:r>
              <a:rPr lang="en-US" sz="2000" dirty="0" err="1">
                <a:solidFill>
                  <a:srgbClr val="FF0000"/>
                </a:solidFill>
                <a:cs typeface="ＭＳ Ｐゴシック" charset="0"/>
              </a:rPr>
              <a:t>PSSession</a:t>
            </a:r>
            <a:r>
              <a:rPr lang="en-US" dirty="0"/>
              <a:t> </a:t>
            </a:r>
            <a:r>
              <a:rPr lang="en-US" dirty="0" err="1"/>
              <a:t>cmdlet</a:t>
            </a:r>
            <a:r>
              <a:rPr lang="en-US" dirty="0"/>
              <a:t> starts an interactive session with a single remote </a:t>
            </a:r>
            <a:r>
              <a:rPr lang="en-US" dirty="0" smtClean="0"/>
              <a:t>computer</a:t>
            </a:r>
          </a:p>
          <a:p>
            <a:r>
              <a:rPr lang="en-US" dirty="0"/>
              <a:t>Commands run are run on that computer.  </a:t>
            </a:r>
            <a:endParaRPr lang="en-US" dirty="0" smtClean="0"/>
          </a:p>
          <a:p>
            <a:r>
              <a:rPr lang="en-US" dirty="0" smtClean="0"/>
              <a:t>You </a:t>
            </a:r>
            <a:r>
              <a:rPr lang="en-US" dirty="0"/>
              <a:t>can have only 1 interactive session at a </a:t>
            </a:r>
            <a:r>
              <a:rPr lang="en-US" dirty="0" smtClean="0"/>
              <a:t>time.</a:t>
            </a:r>
          </a:p>
          <a:p>
            <a:r>
              <a:rPr lang="en-US" dirty="0" smtClean="0"/>
              <a:t>To </a:t>
            </a:r>
            <a:r>
              <a:rPr lang="en-US" dirty="0"/>
              <a:t>end the session, type </a:t>
            </a:r>
            <a:r>
              <a:rPr lang="en-US" sz="2000" dirty="0">
                <a:solidFill>
                  <a:srgbClr val="FF0000"/>
                </a:solidFill>
                <a:cs typeface="ＭＳ Ｐゴシック" charset="0"/>
              </a:rPr>
              <a:t>Exit</a:t>
            </a:r>
            <a:r>
              <a:rPr lang="en-US" dirty="0"/>
              <a:t>.</a:t>
            </a:r>
            <a:endParaRPr lang="en-US" dirty="0" smtClean="0"/>
          </a:p>
          <a:p>
            <a:endParaRPr lang="en-US" dirty="0"/>
          </a:p>
        </p:txBody>
      </p:sp>
    </p:spTree>
    <p:extLst>
      <p:ext uri="{BB962C8B-B14F-4D97-AF65-F5344CB8AC3E}">
        <p14:creationId xmlns="" xmlns:p14="http://schemas.microsoft.com/office/powerpoint/2010/main" val="363353176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Persistent Sessions</a:t>
            </a:r>
            <a:endParaRPr lang="en-US" dirty="0"/>
          </a:p>
        </p:txBody>
      </p:sp>
      <p:sp>
        <p:nvSpPr>
          <p:cNvPr id="3" name="Content Placeholder 2"/>
          <p:cNvSpPr>
            <a:spLocks noGrp="1"/>
          </p:cNvSpPr>
          <p:nvPr>
            <p:ph idx="1"/>
          </p:nvPr>
        </p:nvSpPr>
        <p:spPr/>
        <p:txBody>
          <a:bodyPr/>
          <a:lstStyle/>
          <a:p>
            <a:r>
              <a:rPr lang="en-US" sz="2000" dirty="0">
                <a:solidFill>
                  <a:srgbClr val="FF0000"/>
                </a:solidFill>
                <a:cs typeface="ＭＳ Ｐゴシック" charset="0"/>
              </a:rPr>
              <a:t>New-</a:t>
            </a:r>
            <a:r>
              <a:rPr lang="en-US" sz="2000" dirty="0" err="1">
                <a:solidFill>
                  <a:srgbClr val="FF0000"/>
                </a:solidFill>
                <a:cs typeface="ＭＳ Ｐゴシック" charset="0"/>
              </a:rPr>
              <a:t>PSSession</a:t>
            </a:r>
            <a:r>
              <a:rPr lang="en-US" dirty="0">
                <a:solidFill>
                  <a:srgbClr val="FF0000"/>
                </a:solidFill>
              </a:rPr>
              <a:t> </a:t>
            </a:r>
            <a:r>
              <a:rPr lang="en-US" dirty="0" smtClean="0"/>
              <a:t>creates </a:t>
            </a:r>
            <a:r>
              <a:rPr lang="en-US" dirty="0"/>
              <a:t>a </a:t>
            </a:r>
            <a:r>
              <a:rPr lang="en-US" dirty="0" err="1"/>
              <a:t>Powershell</a:t>
            </a:r>
            <a:r>
              <a:rPr lang="en-US" dirty="0"/>
              <a:t> persistent session on a local or remote </a:t>
            </a:r>
            <a:r>
              <a:rPr lang="en-US" dirty="0" smtClean="0"/>
              <a:t>computer.</a:t>
            </a:r>
          </a:p>
          <a:p>
            <a:r>
              <a:rPr lang="en-US" dirty="0"/>
              <a:t>You can use this to run multiple commands that share data, such as a function or the value of a variable.  </a:t>
            </a:r>
            <a:endParaRPr lang="en-US" dirty="0" smtClean="0"/>
          </a:p>
          <a:p>
            <a:r>
              <a:rPr lang="en-US" dirty="0" smtClean="0"/>
              <a:t>To </a:t>
            </a:r>
            <a:r>
              <a:rPr lang="en-US" dirty="0"/>
              <a:t>run these commands, use the </a:t>
            </a:r>
            <a:r>
              <a:rPr lang="en-US" sz="2000" dirty="0">
                <a:solidFill>
                  <a:srgbClr val="FF0000"/>
                </a:solidFill>
                <a:cs typeface="ＭＳ Ｐゴシック" charset="0"/>
              </a:rPr>
              <a:t>Invoke-command</a:t>
            </a:r>
            <a:r>
              <a:rPr lang="en-US" dirty="0"/>
              <a:t> </a:t>
            </a:r>
            <a:r>
              <a:rPr lang="en-US" dirty="0" err="1"/>
              <a:t>cmdlet</a:t>
            </a:r>
            <a:r>
              <a:rPr lang="en-US" dirty="0"/>
              <a:t>.  </a:t>
            </a:r>
            <a:r>
              <a:rPr lang="en-US" dirty="0" smtClean="0"/>
              <a:t>This command opens a session for running commands remotely and then closes it once the execution is complete.</a:t>
            </a:r>
          </a:p>
          <a:p>
            <a:r>
              <a:rPr lang="en-US" dirty="0" smtClean="0"/>
              <a:t>To </a:t>
            </a:r>
            <a:r>
              <a:rPr lang="en-US" dirty="0"/>
              <a:t>interact directly with the remote computer, use </a:t>
            </a:r>
            <a:r>
              <a:rPr lang="en-US" sz="2000" dirty="0">
                <a:solidFill>
                  <a:srgbClr val="FF0000"/>
                </a:solidFill>
                <a:cs typeface="ＭＳ Ｐゴシック" charset="0"/>
              </a:rPr>
              <a:t>Enter-</a:t>
            </a:r>
            <a:r>
              <a:rPr lang="en-US" sz="2000" dirty="0" err="1">
                <a:solidFill>
                  <a:srgbClr val="FF0000"/>
                </a:solidFill>
                <a:cs typeface="ＭＳ Ｐゴシック" charset="0"/>
              </a:rPr>
              <a:t>PSSession</a:t>
            </a:r>
            <a:r>
              <a:rPr lang="en-US" dirty="0"/>
              <a:t> </a:t>
            </a:r>
            <a:r>
              <a:rPr lang="en-US" dirty="0" err="1"/>
              <a:t>cmdlet</a:t>
            </a:r>
            <a:r>
              <a:rPr lang="en-US" dirty="0" smtClean="0"/>
              <a:t>.  Commands you type run on the remote computer.</a:t>
            </a:r>
            <a:endParaRPr lang="en-US" dirty="0"/>
          </a:p>
        </p:txBody>
      </p:sp>
    </p:spTree>
    <p:extLst>
      <p:ext uri="{BB962C8B-B14F-4D97-AF65-F5344CB8AC3E}">
        <p14:creationId xmlns="" xmlns:p14="http://schemas.microsoft.com/office/powerpoint/2010/main" val="39552364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Remoting</a:t>
            </a:r>
            <a:r>
              <a:rPr lang="en-US" dirty="0" smtClean="0"/>
              <a:t> To Multiple Computers</a:t>
            </a:r>
            <a:endParaRPr lang="en-US" dirty="0"/>
          </a:p>
        </p:txBody>
      </p:sp>
      <p:sp>
        <p:nvSpPr>
          <p:cNvPr id="3" name="Content Placeholder 2"/>
          <p:cNvSpPr>
            <a:spLocks noGrp="1"/>
          </p:cNvSpPr>
          <p:nvPr>
            <p:ph idx="1"/>
          </p:nvPr>
        </p:nvSpPr>
        <p:spPr/>
        <p:txBody>
          <a:bodyPr/>
          <a:lstStyle/>
          <a:p>
            <a:r>
              <a:rPr lang="en-US" dirty="0"/>
              <a:t>Use </a:t>
            </a:r>
            <a:r>
              <a:rPr lang="en-US" sz="2000" dirty="0">
                <a:solidFill>
                  <a:srgbClr val="FF0000"/>
                </a:solidFill>
                <a:cs typeface="ＭＳ Ｐゴシック" charset="0"/>
              </a:rPr>
              <a:t>Invoke-Command</a:t>
            </a:r>
            <a:r>
              <a:rPr lang="en-US" dirty="0"/>
              <a:t> - runs commands on local or remote computer (</a:t>
            </a:r>
            <a:r>
              <a:rPr lang="en-US" sz="2000" dirty="0">
                <a:solidFill>
                  <a:srgbClr val="FF0000"/>
                </a:solidFill>
                <a:cs typeface="ＭＳ Ｐゴシック" charset="0"/>
              </a:rPr>
              <a:t>Invoke-command</a:t>
            </a:r>
            <a:r>
              <a:rPr lang="en-US" sz="1600" dirty="0">
                <a:latin typeface="Consolas" pitchFamily="49" charset="0"/>
                <a:cs typeface="Consolas" pitchFamily="49" charset="0"/>
              </a:rPr>
              <a:t> -</a:t>
            </a:r>
            <a:r>
              <a:rPr lang="en-US" sz="2000" dirty="0" err="1">
                <a:solidFill>
                  <a:srgbClr val="FF0000"/>
                </a:solidFill>
                <a:cs typeface="ＭＳ Ｐゴシック" charset="0"/>
              </a:rPr>
              <a:t>Computername</a:t>
            </a:r>
            <a:r>
              <a:rPr lang="en-US" dirty="0"/>
              <a:t>).  </a:t>
            </a:r>
            <a:endParaRPr lang="en-US" dirty="0" smtClean="0"/>
          </a:p>
          <a:p>
            <a:r>
              <a:rPr lang="en-US" dirty="0" smtClean="0"/>
              <a:t>To </a:t>
            </a:r>
            <a:r>
              <a:rPr lang="en-US" dirty="0"/>
              <a:t>run a series of commands on a remote computer, create a </a:t>
            </a:r>
            <a:r>
              <a:rPr lang="en-US" dirty="0" err="1"/>
              <a:t>PSSession</a:t>
            </a:r>
            <a:r>
              <a:rPr lang="en-US" dirty="0"/>
              <a:t> (persistent) first and then use </a:t>
            </a:r>
            <a:r>
              <a:rPr lang="en-US" sz="2000" dirty="0">
                <a:solidFill>
                  <a:srgbClr val="FF0000"/>
                </a:solidFill>
                <a:cs typeface="ＭＳ Ｐゴシック" charset="0"/>
              </a:rPr>
              <a:t>Invoke-command</a:t>
            </a:r>
            <a:r>
              <a:rPr lang="en-US" dirty="0"/>
              <a:t> session parameter.</a:t>
            </a:r>
          </a:p>
        </p:txBody>
      </p:sp>
    </p:spTree>
    <p:extLst>
      <p:ext uri="{BB962C8B-B14F-4D97-AF65-F5344CB8AC3E}">
        <p14:creationId xmlns="" xmlns:p14="http://schemas.microsoft.com/office/powerpoint/2010/main" val="194908124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Jobs</a:t>
            </a:r>
            <a:endParaRPr lang="en-US" dirty="0"/>
          </a:p>
        </p:txBody>
      </p:sp>
      <p:sp>
        <p:nvSpPr>
          <p:cNvPr id="3" name="Content Placeholder 2"/>
          <p:cNvSpPr>
            <a:spLocks noGrp="1"/>
          </p:cNvSpPr>
          <p:nvPr>
            <p:ph idx="1"/>
          </p:nvPr>
        </p:nvSpPr>
        <p:spPr/>
        <p:txBody>
          <a:bodyPr/>
          <a:lstStyle/>
          <a:p>
            <a:r>
              <a:rPr lang="en-US" dirty="0" err="1"/>
              <a:t>Powershell</a:t>
            </a:r>
            <a:r>
              <a:rPr lang="en-US" dirty="0"/>
              <a:t> runs commands asynchronously, meaning that many jobs can be run in parallel across multiple endpoints.  </a:t>
            </a:r>
            <a:endParaRPr lang="en-US" dirty="0" smtClean="0"/>
          </a:p>
          <a:p>
            <a:r>
              <a:rPr lang="en-US" dirty="0" smtClean="0"/>
              <a:t>The </a:t>
            </a:r>
            <a:r>
              <a:rPr lang="en-US" dirty="0"/>
              <a:t>method to track these are jobs.  </a:t>
            </a:r>
            <a:endParaRPr lang="en-US" dirty="0" smtClean="0"/>
          </a:p>
          <a:p>
            <a:r>
              <a:rPr lang="en-US" dirty="0" smtClean="0"/>
              <a:t>These </a:t>
            </a:r>
            <a:r>
              <a:rPr lang="en-US" dirty="0"/>
              <a:t>jobs run in the </a:t>
            </a:r>
            <a:r>
              <a:rPr lang="en-US" dirty="0" err="1"/>
              <a:t>backgroup</a:t>
            </a:r>
            <a:r>
              <a:rPr lang="en-US" dirty="0"/>
              <a:t>.  </a:t>
            </a:r>
            <a:endParaRPr lang="en-US" dirty="0" smtClean="0"/>
          </a:p>
          <a:p>
            <a:r>
              <a:rPr lang="en-US" dirty="0" smtClean="0"/>
              <a:t>Use </a:t>
            </a:r>
            <a:r>
              <a:rPr lang="en-US" dirty="0">
                <a:solidFill>
                  <a:srgbClr val="FF0000"/>
                </a:solidFill>
              </a:rPr>
              <a:t>Receive-Job</a:t>
            </a:r>
            <a:r>
              <a:rPr lang="en-US" dirty="0"/>
              <a:t> </a:t>
            </a:r>
            <a:r>
              <a:rPr lang="en-US" dirty="0" err="1"/>
              <a:t>cmdlet</a:t>
            </a:r>
            <a:r>
              <a:rPr lang="en-US" dirty="0"/>
              <a:t> to get the results of the job.</a:t>
            </a:r>
          </a:p>
        </p:txBody>
      </p:sp>
    </p:spTree>
    <p:extLst>
      <p:ext uri="{BB962C8B-B14F-4D97-AF65-F5344CB8AC3E}">
        <p14:creationId xmlns="" xmlns:p14="http://schemas.microsoft.com/office/powerpoint/2010/main" val="275980258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Starting Jobs</a:t>
            </a:r>
            <a:endParaRPr lang="en-US" dirty="0"/>
          </a:p>
        </p:txBody>
      </p:sp>
      <p:sp>
        <p:nvSpPr>
          <p:cNvPr id="3" name="Content Placeholder 2"/>
          <p:cNvSpPr>
            <a:spLocks noGrp="1"/>
          </p:cNvSpPr>
          <p:nvPr>
            <p:ph idx="1"/>
          </p:nvPr>
        </p:nvSpPr>
        <p:spPr/>
        <p:txBody>
          <a:bodyPr/>
          <a:lstStyle/>
          <a:p>
            <a:r>
              <a:rPr lang="en-US" dirty="0">
                <a:solidFill>
                  <a:srgbClr val="FF0000"/>
                </a:solidFill>
              </a:rPr>
              <a:t>Start-job</a:t>
            </a:r>
            <a:r>
              <a:rPr lang="en-US" dirty="0"/>
              <a:t> </a:t>
            </a:r>
            <a:r>
              <a:rPr lang="en-US" dirty="0" err="1"/>
              <a:t>cmdlet</a:t>
            </a:r>
            <a:r>
              <a:rPr lang="en-US" dirty="0"/>
              <a:t> starts a </a:t>
            </a:r>
            <a:r>
              <a:rPr lang="en-US" dirty="0" err="1"/>
              <a:t>Powershell</a:t>
            </a:r>
            <a:r>
              <a:rPr lang="en-US" dirty="0"/>
              <a:t> background job on the local or remote computer.  </a:t>
            </a:r>
            <a:endParaRPr lang="en-US" dirty="0" smtClean="0"/>
          </a:p>
          <a:p>
            <a:r>
              <a:rPr lang="en-US" dirty="0" smtClean="0"/>
              <a:t>Run </a:t>
            </a:r>
            <a:r>
              <a:rPr lang="en-US" dirty="0">
                <a:solidFill>
                  <a:srgbClr val="FF0000"/>
                </a:solidFill>
              </a:rPr>
              <a:t>Get-Job</a:t>
            </a:r>
            <a:r>
              <a:rPr lang="en-US" dirty="0"/>
              <a:t> </a:t>
            </a:r>
            <a:r>
              <a:rPr lang="en-US" dirty="0" err="1"/>
              <a:t>cmdlet</a:t>
            </a:r>
            <a:r>
              <a:rPr lang="en-US" dirty="0"/>
              <a:t> to get all jobs in the current session that are running in the background.  </a:t>
            </a:r>
            <a:endParaRPr lang="en-US" dirty="0" smtClean="0"/>
          </a:p>
          <a:p>
            <a:r>
              <a:rPr lang="en-US" dirty="0" smtClean="0"/>
              <a:t>To </a:t>
            </a:r>
            <a:r>
              <a:rPr lang="en-US" dirty="0"/>
              <a:t>get the job results, run </a:t>
            </a:r>
            <a:r>
              <a:rPr lang="en-US" dirty="0">
                <a:solidFill>
                  <a:srgbClr val="FF0000"/>
                </a:solidFill>
              </a:rPr>
              <a:t>Receive-job</a:t>
            </a:r>
            <a:r>
              <a:rPr lang="en-US" dirty="0"/>
              <a:t> </a:t>
            </a:r>
            <a:r>
              <a:rPr lang="en-US" dirty="0" err="1"/>
              <a:t>cmdlet</a:t>
            </a:r>
            <a:r>
              <a:rPr lang="en-US" dirty="0"/>
              <a:t>.   </a:t>
            </a:r>
            <a:endParaRPr lang="en-US" dirty="0" smtClean="0"/>
          </a:p>
          <a:p>
            <a:r>
              <a:rPr lang="en-US" dirty="0" smtClean="0"/>
              <a:t>Run </a:t>
            </a:r>
            <a:r>
              <a:rPr lang="en-US" dirty="0"/>
              <a:t>a background job if you are running a complex command that takes a long time to run.</a:t>
            </a:r>
          </a:p>
        </p:txBody>
      </p:sp>
    </p:spTree>
    <p:extLst>
      <p:ext uri="{BB962C8B-B14F-4D97-AF65-F5344CB8AC3E}">
        <p14:creationId xmlns="" xmlns:p14="http://schemas.microsoft.com/office/powerpoint/2010/main" val="234714691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Receiving Job Data</a:t>
            </a:r>
            <a:endParaRPr lang="en-US" dirty="0"/>
          </a:p>
        </p:txBody>
      </p:sp>
      <p:sp>
        <p:nvSpPr>
          <p:cNvPr id="3" name="Content Placeholder 2"/>
          <p:cNvSpPr>
            <a:spLocks noGrp="1"/>
          </p:cNvSpPr>
          <p:nvPr>
            <p:ph idx="1"/>
          </p:nvPr>
        </p:nvSpPr>
        <p:spPr/>
        <p:txBody>
          <a:bodyPr/>
          <a:lstStyle/>
          <a:p>
            <a:r>
              <a:rPr lang="en-US" dirty="0">
                <a:solidFill>
                  <a:srgbClr val="FF0000"/>
                </a:solidFill>
              </a:rPr>
              <a:t>Receive-Job</a:t>
            </a:r>
            <a:r>
              <a:rPr lang="en-US" dirty="0"/>
              <a:t> </a:t>
            </a:r>
            <a:r>
              <a:rPr lang="en-US" dirty="0" err="1"/>
              <a:t>cmdlet</a:t>
            </a:r>
            <a:r>
              <a:rPr lang="en-US" dirty="0"/>
              <a:t> gets the results of a </a:t>
            </a:r>
            <a:r>
              <a:rPr lang="en-US" dirty="0" err="1"/>
              <a:t>Powershell</a:t>
            </a:r>
            <a:r>
              <a:rPr lang="en-US" dirty="0"/>
              <a:t> background job. </a:t>
            </a:r>
          </a:p>
        </p:txBody>
      </p:sp>
    </p:spTree>
    <p:extLst>
      <p:ext uri="{BB962C8B-B14F-4D97-AF65-F5344CB8AC3E}">
        <p14:creationId xmlns="" xmlns:p14="http://schemas.microsoft.com/office/powerpoint/2010/main" val="30013590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Completion</a:t>
            </a:r>
            <a:endParaRPr lang="en-US" dirty="0"/>
          </a:p>
        </p:txBody>
      </p:sp>
      <p:sp>
        <p:nvSpPr>
          <p:cNvPr id="3" name="Content Placeholder 2"/>
          <p:cNvSpPr>
            <a:spLocks noGrp="1"/>
          </p:cNvSpPr>
          <p:nvPr>
            <p:ph idx="1"/>
          </p:nvPr>
        </p:nvSpPr>
        <p:spPr/>
        <p:txBody>
          <a:bodyPr/>
          <a:lstStyle/>
          <a:p>
            <a:pPr fontAlgn="ctr"/>
            <a:r>
              <a:rPr lang="en-US" dirty="0">
                <a:solidFill>
                  <a:srgbClr val="FF0000"/>
                </a:solidFill>
              </a:rPr>
              <a:t>Wait-job</a:t>
            </a:r>
            <a:r>
              <a:rPr lang="en-US" dirty="0"/>
              <a:t> </a:t>
            </a:r>
            <a:r>
              <a:rPr lang="en-US" dirty="0" err="1"/>
              <a:t>cmdlet</a:t>
            </a:r>
            <a:r>
              <a:rPr lang="en-US" dirty="0"/>
              <a:t> waits for </a:t>
            </a:r>
            <a:r>
              <a:rPr lang="en-US" dirty="0" err="1"/>
              <a:t>Powershell</a:t>
            </a:r>
            <a:r>
              <a:rPr lang="en-US" dirty="0"/>
              <a:t> background jobs to complete before displays a command prompt.  </a:t>
            </a:r>
          </a:p>
          <a:p>
            <a:r>
              <a:rPr lang="en-US" dirty="0">
                <a:solidFill>
                  <a:srgbClr val="FF0000"/>
                </a:solidFill>
              </a:rPr>
              <a:t>Stop-job</a:t>
            </a:r>
            <a:r>
              <a:rPr lang="en-US" dirty="0"/>
              <a:t> - </a:t>
            </a:r>
            <a:r>
              <a:rPr lang="en-US" dirty="0" err="1"/>
              <a:t>cmdlet</a:t>
            </a:r>
            <a:r>
              <a:rPr lang="en-US" dirty="0"/>
              <a:t> will stop a </a:t>
            </a:r>
            <a:r>
              <a:rPr lang="en-US" dirty="0" err="1"/>
              <a:t>Powershell</a:t>
            </a:r>
            <a:r>
              <a:rPr lang="en-US" dirty="0"/>
              <a:t> background job that is in progress.</a:t>
            </a:r>
          </a:p>
          <a:p>
            <a:r>
              <a:rPr lang="en-US" dirty="0">
                <a:solidFill>
                  <a:srgbClr val="FF0000"/>
                </a:solidFill>
              </a:rPr>
              <a:t>Remove-job</a:t>
            </a:r>
            <a:r>
              <a:rPr lang="en-US" dirty="0"/>
              <a:t> </a:t>
            </a:r>
            <a:r>
              <a:rPr lang="en-US" dirty="0" err="1"/>
              <a:t>cmdlet</a:t>
            </a:r>
            <a:r>
              <a:rPr lang="en-US" dirty="0"/>
              <a:t> will delete a job.</a:t>
            </a:r>
          </a:p>
          <a:p>
            <a:endParaRPr lang="en-US" dirty="0"/>
          </a:p>
        </p:txBody>
      </p:sp>
    </p:spTree>
    <p:extLst>
      <p:ext uri="{BB962C8B-B14F-4D97-AF65-F5344CB8AC3E}">
        <p14:creationId xmlns="" xmlns:p14="http://schemas.microsoft.com/office/powerpoint/2010/main" val="25250983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Throttling</a:t>
            </a:r>
            <a:endParaRPr lang="en-US" dirty="0"/>
          </a:p>
        </p:txBody>
      </p:sp>
      <p:sp>
        <p:nvSpPr>
          <p:cNvPr id="3" name="Content Placeholder 2"/>
          <p:cNvSpPr>
            <a:spLocks noGrp="1"/>
          </p:cNvSpPr>
          <p:nvPr>
            <p:ph idx="1"/>
          </p:nvPr>
        </p:nvSpPr>
        <p:spPr/>
        <p:txBody>
          <a:bodyPr/>
          <a:lstStyle/>
          <a:p>
            <a:r>
              <a:rPr lang="en-US" dirty="0"/>
              <a:t>Commands can be throttled which limits the amount of concurrent connections.  </a:t>
            </a:r>
            <a:endParaRPr lang="en-US" dirty="0" smtClean="0"/>
          </a:p>
          <a:p>
            <a:r>
              <a:rPr lang="en-US" dirty="0" smtClean="0"/>
              <a:t>Throttling </a:t>
            </a:r>
            <a:r>
              <a:rPr lang="en-US" dirty="0"/>
              <a:t>applies to only the current command, not the session or the computer.  </a:t>
            </a:r>
            <a:endParaRPr lang="en-US" dirty="0" smtClean="0"/>
          </a:p>
          <a:p>
            <a:r>
              <a:rPr lang="en-US" dirty="0" smtClean="0"/>
              <a:t>The </a:t>
            </a:r>
            <a:r>
              <a:rPr lang="en-US" dirty="0"/>
              <a:t>default throttling limit is 32 and can be changed with the </a:t>
            </a:r>
            <a:r>
              <a:rPr lang="en-US" dirty="0">
                <a:solidFill>
                  <a:srgbClr val="FF0000"/>
                </a:solidFill>
              </a:rPr>
              <a:t>-</a:t>
            </a:r>
            <a:r>
              <a:rPr lang="en-US" dirty="0" err="1">
                <a:solidFill>
                  <a:srgbClr val="FF0000"/>
                </a:solidFill>
              </a:rPr>
              <a:t>throttlelimit</a:t>
            </a:r>
            <a:r>
              <a:rPr lang="en-US" dirty="0"/>
              <a:t> parameter.</a:t>
            </a:r>
          </a:p>
        </p:txBody>
      </p:sp>
    </p:spTree>
    <p:extLst>
      <p:ext uri="{BB962C8B-B14F-4D97-AF65-F5344CB8AC3E}">
        <p14:creationId xmlns="" xmlns:p14="http://schemas.microsoft.com/office/powerpoint/2010/main" val="23766510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7 Lab: PowerShell </a:t>
            </a:r>
            <a:r>
              <a:rPr lang="en-US" dirty="0" err="1" smtClean="0"/>
              <a:t>Remoting</a:t>
            </a:r>
            <a:endParaRPr lang="en-US" dirty="0"/>
          </a:p>
        </p:txBody>
      </p:sp>
      <p:sp>
        <p:nvSpPr>
          <p:cNvPr id="5" name="Subtitle 4"/>
          <p:cNvSpPr>
            <a:spLocks noGrp="1"/>
          </p:cNvSpPr>
          <p:nvPr>
            <p:ph type="subTitle" idx="1"/>
          </p:nvPr>
        </p:nvSpPr>
        <p:spPr/>
        <p:txBody>
          <a:bodyPr/>
          <a:lstStyle/>
          <a:p>
            <a:r>
              <a:rPr lang="en-US" dirty="0" smtClean="0"/>
              <a:t>Wendy Peterson</a:t>
            </a:r>
            <a:endParaRPr lang="en-US" dirty="0"/>
          </a:p>
        </p:txBody>
      </p:sp>
    </p:spTree>
    <p:extLst>
      <p:ext uri="{BB962C8B-B14F-4D97-AF65-F5344CB8AC3E}">
        <p14:creationId xmlns="" xmlns:p14="http://schemas.microsoft.com/office/powerpoint/2010/main" val="8012543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8: Error Checking and Debugging</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39298475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write-debug</a:t>
            </a:r>
            <a:endParaRPr lang="en-US" dirty="0"/>
          </a:p>
        </p:txBody>
      </p:sp>
      <p:sp>
        <p:nvSpPr>
          <p:cNvPr id="3" name="Content Placeholder 2"/>
          <p:cNvSpPr>
            <a:spLocks noGrp="1"/>
          </p:cNvSpPr>
          <p:nvPr>
            <p:ph idx="1"/>
          </p:nvPr>
        </p:nvSpPr>
        <p:spPr/>
        <p:txBody>
          <a:bodyPr/>
          <a:lstStyle/>
          <a:p>
            <a:pPr fontAlgn="ctr"/>
            <a:r>
              <a:rPr lang="en-US" dirty="0" smtClean="0"/>
              <a:t>Using write-debug - </a:t>
            </a:r>
            <a:r>
              <a:rPr lang="en-US" dirty="0" err="1" smtClean="0"/>
              <a:t>cmdlet</a:t>
            </a:r>
            <a:r>
              <a:rPr lang="en-US" dirty="0" smtClean="0"/>
              <a:t> that writes text to the console windows to help understand how a program is running.</a:t>
            </a:r>
          </a:p>
          <a:p>
            <a:pPr lvl="1" fontAlgn="ctr"/>
            <a:r>
              <a:rPr lang="en-US" dirty="0" smtClean="0"/>
              <a:t>Controlled by a variable $</a:t>
            </a:r>
            <a:r>
              <a:rPr lang="en-US" dirty="0" err="1" smtClean="0"/>
              <a:t>DebugPreference</a:t>
            </a:r>
            <a:endParaRPr lang="en-US" dirty="0" smtClean="0"/>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r>
              <a:rPr lang="en-US" dirty="0" err="1" smtClean="0"/>
              <a:t>DebugPreference</a:t>
            </a:r>
            <a:endParaRPr lang="en-US" dirty="0"/>
          </a:p>
        </p:txBody>
      </p:sp>
      <p:sp>
        <p:nvSpPr>
          <p:cNvPr id="3" name="Content Placeholder 2"/>
          <p:cNvSpPr>
            <a:spLocks noGrp="1"/>
          </p:cNvSpPr>
          <p:nvPr>
            <p:ph idx="1"/>
          </p:nvPr>
        </p:nvSpPr>
        <p:spPr/>
        <p:txBody>
          <a:bodyPr/>
          <a:lstStyle/>
          <a:p>
            <a:pPr fontAlgn="ctr"/>
            <a:r>
              <a:rPr lang="en-US" smtClean="0"/>
              <a:t>$DebugPreference - </a:t>
            </a:r>
            <a:r>
              <a:rPr lang="en-US" dirty="0" smtClean="0"/>
              <a:t>global  variable that defines how to a program runs with write-debug.</a:t>
            </a:r>
          </a:p>
          <a:p>
            <a:pPr lvl="1" fontAlgn="ctr"/>
            <a:r>
              <a:rPr lang="en-US" dirty="0" smtClean="0"/>
              <a:t>There are 4 valid values:</a:t>
            </a:r>
          </a:p>
          <a:p>
            <a:pPr lvl="2" fontAlgn="ctr"/>
            <a:r>
              <a:rPr lang="en-US" dirty="0" smtClean="0"/>
              <a:t>$</a:t>
            </a:r>
            <a:r>
              <a:rPr lang="en-US" dirty="0" err="1" smtClean="0"/>
              <a:t>DebugPreference</a:t>
            </a:r>
            <a:r>
              <a:rPr lang="en-US" dirty="0" smtClean="0"/>
              <a:t> = "Continue"</a:t>
            </a:r>
          </a:p>
          <a:p>
            <a:pPr lvl="3" fontAlgn="ctr"/>
            <a:r>
              <a:rPr lang="en-US" dirty="0" smtClean="0"/>
              <a:t>Displays Write-Debug output to the console window.</a:t>
            </a:r>
          </a:p>
          <a:p>
            <a:pPr lvl="2" fontAlgn="ctr"/>
            <a:r>
              <a:rPr lang="en-US" dirty="0" smtClean="0"/>
              <a:t>$</a:t>
            </a:r>
            <a:r>
              <a:rPr lang="en-US" dirty="0" err="1" smtClean="0"/>
              <a:t>DebugPreference</a:t>
            </a:r>
            <a:r>
              <a:rPr lang="en-US" dirty="0" smtClean="0"/>
              <a:t> = "Stop" </a:t>
            </a:r>
          </a:p>
          <a:p>
            <a:pPr lvl="3" fontAlgn="ctr"/>
            <a:r>
              <a:rPr lang="en-US" dirty="0" smtClean="0"/>
              <a:t>Displays Write-Debug output then stop the script.</a:t>
            </a:r>
          </a:p>
          <a:p>
            <a:pPr lvl="2" fontAlgn="ctr"/>
            <a:r>
              <a:rPr lang="en-US" dirty="0" smtClean="0"/>
              <a:t>$</a:t>
            </a:r>
            <a:r>
              <a:rPr lang="en-US" dirty="0" err="1" smtClean="0"/>
              <a:t>DebugPreference</a:t>
            </a:r>
            <a:r>
              <a:rPr lang="en-US" dirty="0" smtClean="0"/>
              <a:t> = "</a:t>
            </a:r>
            <a:r>
              <a:rPr lang="en-US" dirty="0" err="1" smtClean="0"/>
              <a:t>SilentlyContinue</a:t>
            </a:r>
            <a:r>
              <a:rPr lang="en-US" dirty="0" smtClean="0"/>
              <a:t>"</a:t>
            </a:r>
          </a:p>
          <a:p>
            <a:pPr lvl="3" fontAlgn="ctr"/>
            <a:r>
              <a:rPr lang="en-US" dirty="0" smtClean="0"/>
              <a:t>Hides ay debug output from Write-Debug and </a:t>
            </a:r>
            <a:r>
              <a:rPr lang="en-US" dirty="0" err="1" smtClean="0"/>
              <a:t>contine</a:t>
            </a:r>
            <a:r>
              <a:rPr lang="en-US" dirty="0" smtClean="0"/>
              <a:t> executing the script.</a:t>
            </a:r>
          </a:p>
          <a:p>
            <a:pPr lvl="2" fontAlgn="ctr"/>
            <a:r>
              <a:rPr lang="en-US" dirty="0" smtClean="0"/>
              <a:t>$</a:t>
            </a:r>
            <a:r>
              <a:rPr lang="en-US" dirty="0" err="1" smtClean="0"/>
              <a:t>DebugPreference</a:t>
            </a:r>
            <a:r>
              <a:rPr lang="en-US" dirty="0" smtClean="0"/>
              <a:t> = "Inquire"</a:t>
            </a:r>
          </a:p>
          <a:p>
            <a:pPr lvl="3" fontAlgn="ctr"/>
            <a:r>
              <a:rPr lang="en-US" dirty="0" smtClean="0"/>
              <a:t>Prompts with what action to proceed with when Write-Debug occurs.</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debugging functions of ISE</a:t>
            </a:r>
            <a:endParaRPr lang="en-US" dirty="0"/>
          </a:p>
        </p:txBody>
      </p:sp>
      <p:sp>
        <p:nvSpPr>
          <p:cNvPr id="3" name="Content Placeholder 2"/>
          <p:cNvSpPr>
            <a:spLocks noGrp="1"/>
          </p:cNvSpPr>
          <p:nvPr>
            <p:ph idx="1"/>
          </p:nvPr>
        </p:nvSpPr>
        <p:spPr/>
        <p:txBody>
          <a:bodyPr/>
          <a:lstStyle/>
          <a:p>
            <a:pPr lvl="1" fontAlgn="ctr"/>
            <a:r>
              <a:rPr lang="en-US" dirty="0" smtClean="0"/>
              <a:t>Toggle Breakpoint</a:t>
            </a:r>
          </a:p>
          <a:p>
            <a:pPr lvl="1" fontAlgn="ctr"/>
            <a:r>
              <a:rPr lang="en-US" dirty="0" smtClean="0"/>
              <a:t>Step Over</a:t>
            </a:r>
          </a:p>
          <a:p>
            <a:pPr lvl="1" fontAlgn="ctr"/>
            <a:r>
              <a:rPr lang="en-US" dirty="0" smtClean="0"/>
              <a:t>Step Into</a:t>
            </a:r>
          </a:p>
          <a:p>
            <a:pPr lvl="1" fontAlgn="ctr"/>
            <a:r>
              <a:rPr lang="en-US" dirty="0" smtClean="0"/>
              <a:t>Run/Continue</a:t>
            </a:r>
          </a:p>
          <a:p>
            <a:pPr lvl="1" fontAlgn="ctr"/>
            <a:r>
              <a:rPr lang="en-US" dirty="0" smtClean="0"/>
              <a:t>Stop Debugger</a:t>
            </a:r>
          </a:p>
          <a:p>
            <a:pPr lvl="1" fontAlgn="ctr"/>
            <a:r>
              <a:rPr lang="en-US" dirty="0" smtClean="0"/>
              <a:t>Display Call Stack</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Errors Work</a:t>
            </a:r>
            <a:endParaRPr lang="en-US" dirty="0"/>
          </a:p>
        </p:txBody>
      </p:sp>
      <p:sp>
        <p:nvSpPr>
          <p:cNvPr id="3" name="Content Placeholder 2"/>
          <p:cNvSpPr>
            <a:spLocks noGrp="1"/>
          </p:cNvSpPr>
          <p:nvPr>
            <p:ph idx="1"/>
          </p:nvPr>
        </p:nvSpPr>
        <p:spPr/>
        <p:txBody>
          <a:bodyPr/>
          <a:lstStyle/>
          <a:p>
            <a:pPr lvl="1" fontAlgn="ctr"/>
            <a:r>
              <a:rPr lang="en-US" dirty="0" smtClean="0"/>
              <a:t>Two Types</a:t>
            </a:r>
          </a:p>
          <a:p>
            <a:pPr lvl="2" fontAlgn="ctr"/>
            <a:r>
              <a:rPr lang="en-US" dirty="0" smtClean="0"/>
              <a:t>Terminating</a:t>
            </a:r>
          </a:p>
          <a:p>
            <a:pPr lvl="2" fontAlgn="ctr"/>
            <a:r>
              <a:rPr lang="en-US" dirty="0" smtClean="0"/>
              <a:t>Non-Terminating</a:t>
            </a:r>
          </a:p>
          <a:p>
            <a:pPr lvl="1" fontAlgn="ctr"/>
            <a:r>
              <a:rPr lang="en-US" dirty="0" smtClean="0"/>
              <a:t>Written to a </a:t>
            </a:r>
            <a:r>
              <a:rPr lang="en-US" dirty="0" err="1" smtClean="0"/>
              <a:t>clobal</a:t>
            </a:r>
            <a:r>
              <a:rPr lang="en-US" dirty="0" smtClean="0"/>
              <a:t> variable called $Error</a:t>
            </a:r>
          </a:p>
          <a:p>
            <a:pPr lvl="2" fontAlgn="ctr"/>
            <a:r>
              <a:rPr lang="en-US" dirty="0" smtClean="0"/>
              <a:t>An array of 256 entries</a:t>
            </a:r>
          </a:p>
          <a:p>
            <a:pPr lvl="2" fontAlgn="ctr"/>
            <a:r>
              <a:rPr lang="en-US" dirty="0" smtClean="0"/>
              <a:t>Each error is an object with a set properties that can queried.</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ErrorActionPreference</a:t>
            </a:r>
            <a:endParaRPr lang="en-US" dirty="0"/>
          </a:p>
        </p:txBody>
      </p:sp>
      <p:sp>
        <p:nvSpPr>
          <p:cNvPr id="3" name="Content Placeholder 2"/>
          <p:cNvSpPr>
            <a:spLocks noGrp="1"/>
          </p:cNvSpPr>
          <p:nvPr>
            <p:ph idx="1"/>
          </p:nvPr>
        </p:nvSpPr>
        <p:spPr/>
        <p:txBody>
          <a:bodyPr/>
          <a:lstStyle/>
          <a:p>
            <a:pPr lvl="1" fontAlgn="ctr"/>
            <a:r>
              <a:rPr lang="en-US" dirty="0" smtClean="0"/>
              <a:t>There are 4 valid values:</a:t>
            </a:r>
          </a:p>
          <a:p>
            <a:pPr lvl="3" fontAlgn="ctr">
              <a:buFont typeface="Arial" pitchFamily="34" charset="0"/>
              <a:buChar char="•"/>
            </a:pPr>
            <a:r>
              <a:rPr lang="en-US" b="1" dirty="0" smtClean="0"/>
              <a:t>"Continue" </a:t>
            </a:r>
            <a:r>
              <a:rPr lang="en-US" dirty="0" smtClean="0"/>
              <a:t>- Displays Write-Debug output to the console window</a:t>
            </a:r>
          </a:p>
          <a:p>
            <a:pPr lvl="3" fontAlgn="ctr">
              <a:buNone/>
            </a:pPr>
            <a:endParaRPr lang="en-US" dirty="0" smtClean="0"/>
          </a:p>
          <a:p>
            <a:pPr lvl="3" fontAlgn="ctr">
              <a:buFont typeface="Arial" pitchFamily="34" charset="0"/>
              <a:buChar char="•"/>
            </a:pPr>
            <a:r>
              <a:rPr lang="en-US" b="1" dirty="0" smtClean="0"/>
              <a:t>"Stop" </a:t>
            </a:r>
            <a:r>
              <a:rPr lang="en-US" dirty="0" smtClean="0"/>
              <a:t>- Displays Write-Debug output then stop the script.</a:t>
            </a:r>
          </a:p>
          <a:p>
            <a:pPr lvl="3" fontAlgn="ctr">
              <a:buNone/>
            </a:pPr>
            <a:endParaRPr lang="en-US" dirty="0" smtClean="0"/>
          </a:p>
          <a:p>
            <a:pPr lvl="3" fontAlgn="ctr">
              <a:buFont typeface="Arial" pitchFamily="34" charset="0"/>
              <a:buChar char="•"/>
            </a:pPr>
            <a:r>
              <a:rPr lang="en-US" b="1" dirty="0" smtClean="0"/>
              <a:t>"</a:t>
            </a:r>
            <a:r>
              <a:rPr lang="en-US" b="1" dirty="0" err="1" smtClean="0"/>
              <a:t>SilentlyContinue</a:t>
            </a:r>
            <a:r>
              <a:rPr lang="en-US" b="1" dirty="0" smtClean="0"/>
              <a:t>"</a:t>
            </a:r>
            <a:r>
              <a:rPr lang="en-US" dirty="0" smtClean="0"/>
              <a:t>- Hides ay debug output from Write-Debug and </a:t>
            </a:r>
            <a:r>
              <a:rPr lang="en-US" dirty="0" err="1" smtClean="0"/>
              <a:t>contine</a:t>
            </a:r>
            <a:r>
              <a:rPr lang="en-US" dirty="0" smtClean="0"/>
              <a:t> executing the script.</a:t>
            </a:r>
          </a:p>
          <a:p>
            <a:pPr lvl="3" fontAlgn="ctr">
              <a:buNone/>
            </a:pPr>
            <a:endParaRPr lang="en-US" dirty="0" smtClean="0"/>
          </a:p>
          <a:p>
            <a:pPr lvl="3" fontAlgn="ctr">
              <a:buFont typeface="Arial" pitchFamily="34" charset="0"/>
              <a:buChar char="•"/>
            </a:pPr>
            <a:r>
              <a:rPr lang="en-US" b="1" dirty="0" smtClean="0"/>
              <a:t>"Inquire“ </a:t>
            </a:r>
            <a:r>
              <a:rPr lang="en-US" dirty="0" smtClean="0"/>
              <a:t>-Prompts with what action to proceed with when Write-Debug occurs.</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Errors</a:t>
            </a:r>
            <a:endParaRPr lang="en-US" dirty="0"/>
          </a:p>
        </p:txBody>
      </p:sp>
      <p:sp>
        <p:nvSpPr>
          <p:cNvPr id="3" name="Content Placeholder 2"/>
          <p:cNvSpPr>
            <a:spLocks noGrp="1"/>
          </p:cNvSpPr>
          <p:nvPr>
            <p:ph idx="1"/>
          </p:nvPr>
        </p:nvSpPr>
        <p:spPr/>
        <p:txBody>
          <a:bodyPr/>
          <a:lstStyle/>
          <a:p>
            <a:pPr lvl="1" fontAlgn="ctr"/>
            <a:r>
              <a:rPr lang="en-US" dirty="0" smtClean="0"/>
              <a:t>Clear $Error</a:t>
            </a:r>
          </a:p>
          <a:p>
            <a:pPr lvl="1" fontAlgn="ctr"/>
            <a:r>
              <a:rPr lang="en-US" dirty="0" smtClean="0"/>
              <a:t>Calling $Error</a:t>
            </a:r>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 Catch…Finally</a:t>
            </a:r>
            <a:endParaRPr lang="en-US" dirty="0"/>
          </a:p>
        </p:txBody>
      </p:sp>
      <p:sp>
        <p:nvSpPr>
          <p:cNvPr id="3" name="Content Placeholder 2"/>
          <p:cNvSpPr>
            <a:spLocks noGrp="1"/>
          </p:cNvSpPr>
          <p:nvPr>
            <p:ph idx="1"/>
          </p:nvPr>
        </p:nvSpPr>
        <p:spPr/>
        <p:txBody>
          <a:bodyPr/>
          <a:lstStyle/>
          <a:p>
            <a:pPr fontAlgn="ctr"/>
            <a:r>
              <a:rPr lang="en-US" dirty="0" smtClean="0"/>
              <a:t>Try...catch…finally</a:t>
            </a:r>
          </a:p>
          <a:p>
            <a:pPr lvl="1" fontAlgn="ctr"/>
            <a:r>
              <a:rPr lang="en-US" dirty="0" smtClean="0"/>
              <a:t>Statement can be used to handle terminating errors.</a:t>
            </a:r>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8 Lab: Error Checking and Debugging</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27451423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9: Active Directory and SQL</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40673803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9 Lab: Active Directory and SQL</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23797708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10: Resources</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40673803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10 Lab: Resources</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18879136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3014172924"/>
              </p:ext>
            </p:extLst>
          </p:nvPr>
        </p:nvGraphicFramePr>
        <p:xfrm>
          <a:off x="917574" y="924560"/>
          <a:ext cx="7388225" cy="1010920"/>
        </p:xfrm>
        <a:graphic>
          <a:graphicData uri="http://schemas.openxmlformats.org/drawingml/2006/table">
            <a:tbl>
              <a:tblPr firstRow="1" bandRow="1">
                <a:tableStyleId>{5C22544A-7EE6-4342-B048-85BDC9FD1C3A}</a:tableStyleId>
              </a:tblPr>
              <a:tblGrid>
                <a:gridCol w="2206626"/>
                <a:gridCol w="5181599"/>
              </a:tblGrid>
              <a:tr h="370840">
                <a:tc>
                  <a:txBody>
                    <a:bodyPr/>
                    <a:lstStyle/>
                    <a:p>
                      <a:r>
                        <a:rPr lang="en-US" sz="1200" dirty="0" smtClean="0"/>
                        <a:t>Script Editors</a:t>
                      </a:r>
                      <a:endParaRPr lang="en-US" sz="1200" dirty="0"/>
                    </a:p>
                  </a:txBody>
                  <a:tcPr/>
                </a:tc>
                <a:tc>
                  <a:txBody>
                    <a:bodyPr/>
                    <a:lstStyle/>
                    <a:p>
                      <a:endParaRPr lang="en-US" sz="1200" dirty="0"/>
                    </a:p>
                  </a:txBody>
                  <a:tcPr/>
                </a:tc>
              </a:tr>
              <a:tr h="370840">
                <a:tc>
                  <a:txBody>
                    <a:bodyPr/>
                    <a:lstStyle/>
                    <a:p>
                      <a:r>
                        <a:rPr lang="en-US" sz="1200" dirty="0" smtClean="0"/>
                        <a:t>Dell / Quest PowerGUI</a:t>
                      </a:r>
                      <a:endParaRPr lang="en-US" sz="1200" dirty="0"/>
                    </a:p>
                  </a:txBody>
                  <a:tcPr/>
                </a:tc>
                <a:tc>
                  <a:txBody>
                    <a:bodyPr/>
                    <a:lstStyle/>
                    <a:p>
                      <a:r>
                        <a:rPr lang="en-US" sz="1200" dirty="0" smtClean="0"/>
                        <a:t>A free script editor that doubles as a fully-extensible administrative console.</a:t>
                      </a:r>
                    </a:p>
                    <a:p>
                      <a:r>
                        <a:rPr lang="en-US" sz="1200" dirty="0" smtClean="0">
                          <a:solidFill>
                            <a:schemeClr val="tx2">
                              <a:lumMod val="75000"/>
                            </a:schemeClr>
                          </a:solidFill>
                          <a:hlinkClick r:id="rId3"/>
                        </a:rPr>
                        <a:t>http://www.quest.com/powergui-freeware/</a:t>
                      </a:r>
                      <a:r>
                        <a:rPr lang="en-US" sz="1200" dirty="0" smtClean="0">
                          <a:solidFill>
                            <a:schemeClr val="tx2">
                              <a:lumMod val="75000"/>
                            </a:schemeClr>
                          </a:solidFill>
                        </a:rPr>
                        <a:t> </a:t>
                      </a:r>
                      <a:endParaRPr lang="en-US" sz="1200" dirty="0">
                        <a:solidFill>
                          <a:schemeClr val="tx2">
                            <a:lumMod val="75000"/>
                          </a:schemeClr>
                        </a:solidFill>
                      </a:endParaRPr>
                    </a:p>
                  </a:txBody>
                  <a:tcPr/>
                </a:tc>
              </a:tr>
            </a:tbl>
          </a:graphicData>
        </a:graphic>
      </p:graphicFrame>
      <p:graphicFrame>
        <p:nvGraphicFramePr>
          <p:cNvPr id="5" name="Content Placeholder 3"/>
          <p:cNvGraphicFramePr>
            <a:graphicFrameLocks noGrp="1"/>
          </p:cNvGraphicFramePr>
          <p:nvPr>
            <p:ph idx="1"/>
            <p:extLst>
              <p:ext uri="{D42A27DB-BD31-4B8C-83A1-F6EECF244321}">
                <p14:modId xmlns="" xmlns:p14="http://schemas.microsoft.com/office/powerpoint/2010/main" val="2455581635"/>
              </p:ext>
            </p:extLst>
          </p:nvPr>
        </p:nvGraphicFramePr>
        <p:xfrm>
          <a:off x="917575" y="2143760"/>
          <a:ext cx="7388225" cy="3571240"/>
        </p:xfrm>
        <a:graphic>
          <a:graphicData uri="http://schemas.openxmlformats.org/drawingml/2006/table">
            <a:tbl>
              <a:tblPr firstRow="1" bandRow="1">
                <a:tableStyleId>{5C22544A-7EE6-4342-B048-85BDC9FD1C3A}</a:tableStyleId>
              </a:tblPr>
              <a:tblGrid>
                <a:gridCol w="2206626"/>
                <a:gridCol w="5181599"/>
              </a:tblGrid>
              <a:tr h="370840">
                <a:tc>
                  <a:txBody>
                    <a:bodyPr/>
                    <a:lstStyle/>
                    <a:p>
                      <a:r>
                        <a:rPr lang="en-US" sz="1200" dirty="0" smtClean="0"/>
                        <a:t>Cmdlets and Software</a:t>
                      </a:r>
                      <a:endParaRPr lang="en-US" sz="1200" dirty="0"/>
                    </a:p>
                  </a:txBody>
                  <a:tcPr/>
                </a:tc>
                <a:tc>
                  <a:txBody>
                    <a:bodyPr/>
                    <a:lstStyle/>
                    <a:p>
                      <a:endParaRPr lang="en-US" sz="1200" dirty="0"/>
                    </a:p>
                  </a:txBody>
                  <a:tcPr/>
                </a:tc>
              </a:tr>
              <a:tr h="370840">
                <a:tc>
                  <a:txBody>
                    <a:bodyPr/>
                    <a:lstStyle/>
                    <a:p>
                      <a:r>
                        <a:rPr lang="en-US" sz="1200" dirty="0" smtClean="0"/>
                        <a:t>/n Software </a:t>
                      </a:r>
                      <a:r>
                        <a:rPr lang="en-US" sz="1200" dirty="0" err="1" smtClean="0"/>
                        <a:t>NetCmdlets</a:t>
                      </a:r>
                      <a:endParaRPr lang="en-US" sz="1200" dirty="0"/>
                    </a:p>
                  </a:txBody>
                  <a:tcPr/>
                </a:tc>
                <a:tc>
                  <a:txBody>
                    <a:bodyPr/>
                    <a:lstStyle/>
                    <a:p>
                      <a:r>
                        <a:rPr lang="en-US" sz="1200" dirty="0" smtClean="0">
                          <a:solidFill>
                            <a:srgbClr val="4B4B4B"/>
                          </a:solidFill>
                        </a:rPr>
                        <a:t>Scores</a:t>
                      </a:r>
                      <a:r>
                        <a:rPr lang="en-US" sz="1200" baseline="0" dirty="0" smtClean="0">
                          <a:solidFill>
                            <a:srgbClr val="4B4B4B"/>
                          </a:solidFill>
                        </a:rPr>
                        <a:t> of cmdlets that do everything from send SMTP or POP mail to ZIP files.</a:t>
                      </a:r>
                    </a:p>
                    <a:p>
                      <a:r>
                        <a:rPr lang="en-US" sz="1200" dirty="0" smtClean="0">
                          <a:solidFill>
                            <a:srgbClr val="4B4B4B"/>
                          </a:solidFill>
                          <a:hlinkClick r:id="rId4"/>
                        </a:rPr>
                        <a:t>http://www.nsoftware.com/powershell</a:t>
                      </a:r>
                      <a:endParaRPr lang="en-US" sz="1200" dirty="0">
                        <a:solidFill>
                          <a:srgbClr val="4B4B4B"/>
                        </a:solidFill>
                      </a:endParaRPr>
                    </a:p>
                  </a:txBody>
                  <a:tcPr/>
                </a:tc>
              </a:tr>
              <a:tr h="370840">
                <a:tc>
                  <a:txBody>
                    <a:bodyPr/>
                    <a:lstStyle/>
                    <a:p>
                      <a:r>
                        <a:rPr lang="en-US" sz="1200" dirty="0" err="1" smtClean="0"/>
                        <a:t>PowerGadgets</a:t>
                      </a:r>
                      <a:endParaRPr lang="en-US" sz="1200" dirty="0"/>
                    </a:p>
                  </a:txBody>
                  <a:tcPr/>
                </a:tc>
                <a:tc>
                  <a:txBody>
                    <a:bodyPr/>
                    <a:lstStyle/>
                    <a:p>
                      <a:r>
                        <a:rPr lang="en-US" sz="1200" dirty="0" smtClean="0">
                          <a:solidFill>
                            <a:srgbClr val="4B4B4B"/>
                          </a:solidFill>
                        </a:rPr>
                        <a:t>Display Windows PowerShell output as graphs,</a:t>
                      </a:r>
                      <a:r>
                        <a:rPr lang="en-US" sz="1200" baseline="0" dirty="0" smtClean="0">
                          <a:solidFill>
                            <a:srgbClr val="4B4B4B"/>
                          </a:solidFill>
                        </a:rPr>
                        <a:t> charts, gauges, maps, etc.</a:t>
                      </a:r>
                    </a:p>
                    <a:p>
                      <a:r>
                        <a:rPr lang="en-US" sz="1200" baseline="0" dirty="0" smtClean="0">
                          <a:solidFill>
                            <a:srgbClr val="4B4B4B"/>
                          </a:solidFill>
                          <a:hlinkClick r:id="rId5"/>
                        </a:rPr>
                        <a:t>http://www.softwarefx.com/sfxSqlProducts/powergadgets/</a:t>
                      </a:r>
                      <a:endParaRPr lang="en-US" sz="1200" baseline="0" dirty="0" smtClean="0">
                        <a:solidFill>
                          <a:srgbClr val="4B4B4B"/>
                        </a:solidFill>
                      </a:endParaRPr>
                    </a:p>
                  </a:txBody>
                  <a:tcPr/>
                </a:tc>
              </a:tr>
              <a:tr h="370840">
                <a:tc>
                  <a:txBody>
                    <a:bodyPr/>
                    <a:lstStyle/>
                    <a:p>
                      <a:r>
                        <a:rPr lang="en-US" sz="1200" dirty="0" smtClean="0"/>
                        <a:t>PowerShell Community Extensions</a:t>
                      </a:r>
                      <a:endParaRPr lang="en-US" sz="1200" dirty="0"/>
                    </a:p>
                  </a:txBody>
                  <a:tcPr/>
                </a:tc>
                <a:tc>
                  <a:txBody>
                    <a:bodyPr/>
                    <a:lstStyle/>
                    <a:p>
                      <a:r>
                        <a:rPr lang="en-US" sz="1200" baseline="0" dirty="0" smtClean="0">
                          <a:solidFill>
                            <a:srgbClr val="4B4B4B"/>
                          </a:solidFill>
                        </a:rPr>
                        <a:t>Cmdlets, providers, and add-ins created by members of the Windows PowerShell Community. </a:t>
                      </a:r>
                    </a:p>
                    <a:p>
                      <a:r>
                        <a:rPr lang="en-US" sz="1200" baseline="0" dirty="0" smtClean="0">
                          <a:solidFill>
                            <a:srgbClr val="4B4B4B"/>
                          </a:solidFill>
                          <a:hlinkClick r:id="rId6"/>
                        </a:rPr>
                        <a:t>http://www.codeplex.com/PowerShellCX</a:t>
                      </a:r>
                      <a:endParaRPr lang="en-US" sz="1200" baseline="0" dirty="0" smtClean="0">
                        <a:solidFill>
                          <a:srgbClr val="4B4B4B"/>
                        </a:solidFill>
                      </a:endParaRPr>
                    </a:p>
                  </a:txBody>
                  <a:tcPr/>
                </a:tc>
              </a:tr>
              <a:tr h="370840">
                <a:tc>
                  <a:txBody>
                    <a:bodyPr/>
                    <a:lstStyle/>
                    <a:p>
                      <a:r>
                        <a:rPr lang="en-US" sz="1200" dirty="0" smtClean="0"/>
                        <a:t>SDM GMPC Windows PowerShell</a:t>
                      </a:r>
                      <a:r>
                        <a:rPr lang="en-US" sz="1200" baseline="0" dirty="0" smtClean="0"/>
                        <a:t> Cmdlets</a:t>
                      </a:r>
                      <a:endParaRPr lang="en-US" sz="1200" dirty="0"/>
                    </a:p>
                  </a:txBody>
                  <a:tcPr/>
                </a:tc>
                <a:tc>
                  <a:txBody>
                    <a:bodyPr/>
                    <a:lstStyle/>
                    <a:p>
                      <a:r>
                        <a:rPr lang="en-US" sz="1200" baseline="0" dirty="0" smtClean="0">
                          <a:solidFill>
                            <a:srgbClr val="4B4B4B"/>
                          </a:solidFill>
                        </a:rPr>
                        <a:t>Windows PowerShell cmdlets for working with the Group Policy Management.</a:t>
                      </a:r>
                    </a:p>
                    <a:p>
                      <a:r>
                        <a:rPr lang="en-US" sz="1200" baseline="0" dirty="0" smtClean="0">
                          <a:solidFill>
                            <a:srgbClr val="4B4B4B"/>
                          </a:solidFill>
                          <a:hlinkClick r:id="rId7"/>
                        </a:rPr>
                        <a:t>http://www.sdmsoftware.com/freeware.php</a:t>
                      </a:r>
                      <a:endParaRPr lang="en-US" sz="1200" baseline="0" dirty="0" smtClean="0">
                        <a:solidFill>
                          <a:srgbClr val="4B4B4B"/>
                        </a:solidFill>
                      </a:endParaRPr>
                    </a:p>
                  </a:txBody>
                  <a:tcPr/>
                </a:tc>
              </a:tr>
              <a:tr h="370840">
                <a:tc>
                  <a:txBody>
                    <a:bodyPr/>
                    <a:lstStyle/>
                    <a:p>
                      <a:r>
                        <a:rPr lang="en-US" sz="1200" dirty="0" err="1" smtClean="0"/>
                        <a:t>Specopsa</a:t>
                      </a:r>
                      <a:r>
                        <a:rPr lang="en-US" sz="1200" baseline="0" dirty="0" smtClean="0"/>
                        <a:t> Command</a:t>
                      </a:r>
                      <a:endParaRPr lang="en-US" sz="1200" dirty="0"/>
                    </a:p>
                  </a:txBody>
                  <a:tcPr/>
                </a:tc>
                <a:tc>
                  <a:txBody>
                    <a:bodyPr/>
                    <a:lstStyle/>
                    <a:p>
                      <a:r>
                        <a:rPr lang="en-US" sz="1200" baseline="0" dirty="0" smtClean="0">
                          <a:solidFill>
                            <a:srgbClr val="4B4B4B"/>
                          </a:solidFill>
                        </a:rPr>
                        <a:t>Use Group Policy as a mechanism for delivering and executing Windows PowerShell scripts.</a:t>
                      </a:r>
                    </a:p>
                    <a:p>
                      <a:r>
                        <a:rPr lang="en-US" sz="1200" baseline="0" dirty="0" smtClean="0">
                          <a:solidFill>
                            <a:srgbClr val="4B4B4B"/>
                          </a:solidFill>
                          <a:hlinkClick r:id="rId8"/>
                        </a:rPr>
                        <a:t>http://www.specopssoft.com/products/specops-command</a:t>
                      </a:r>
                      <a:endParaRPr lang="en-US" sz="1200" baseline="0" dirty="0" smtClean="0">
                        <a:solidFill>
                          <a:srgbClr val="4B4B4B"/>
                        </a:solidFill>
                      </a:endParaRPr>
                    </a:p>
                  </a:txBody>
                  <a:tcPr/>
                </a:tc>
              </a:tr>
            </a:tbl>
          </a:graphicData>
        </a:graphic>
      </p:graphicFrame>
    </p:spTree>
    <p:extLst>
      <p:ext uri="{BB962C8B-B14F-4D97-AF65-F5344CB8AC3E}">
        <p14:creationId xmlns="" xmlns:p14="http://schemas.microsoft.com/office/powerpoint/2010/main" val="299824086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4127223690"/>
              </p:ext>
            </p:extLst>
          </p:nvPr>
        </p:nvGraphicFramePr>
        <p:xfrm>
          <a:off x="917575" y="838200"/>
          <a:ext cx="6874677" cy="4668520"/>
        </p:xfrm>
        <a:graphic>
          <a:graphicData uri="http://schemas.openxmlformats.org/drawingml/2006/table">
            <a:tbl>
              <a:tblPr firstRow="1" bandRow="1">
                <a:tableStyleId>{5C22544A-7EE6-4342-B048-85BDC9FD1C3A}</a:tableStyleId>
              </a:tblPr>
              <a:tblGrid>
                <a:gridCol w="2571596"/>
                <a:gridCol w="4303081"/>
              </a:tblGrid>
              <a:tr h="370840">
                <a:tc>
                  <a:txBody>
                    <a:bodyPr/>
                    <a:lstStyle/>
                    <a:p>
                      <a:r>
                        <a:rPr lang="en-US" sz="1200" dirty="0" smtClean="0"/>
                        <a:t>Books</a:t>
                      </a:r>
                      <a:endParaRPr lang="en-US" sz="1200" dirty="0"/>
                    </a:p>
                  </a:txBody>
                  <a:tcPr marL="91204" marR="91204"/>
                </a:tc>
                <a:tc>
                  <a:txBody>
                    <a:bodyPr/>
                    <a:lstStyle/>
                    <a:p>
                      <a:endParaRPr lang="en-US" sz="1200" dirty="0"/>
                    </a:p>
                  </a:txBody>
                  <a:tcPr marL="91204" marR="91204"/>
                </a:tc>
              </a:tr>
              <a:tr h="370840">
                <a:tc>
                  <a:txBody>
                    <a:bodyPr/>
                    <a:lstStyle/>
                    <a:p>
                      <a:r>
                        <a:rPr lang="en-US" sz="1200" dirty="0" smtClean="0"/>
                        <a:t>Windows PowerShell Cookbook, </a:t>
                      </a:r>
                    </a:p>
                    <a:p>
                      <a:r>
                        <a:rPr lang="en-US" sz="1200" dirty="0" smtClean="0"/>
                        <a:t>Second Edition</a:t>
                      </a:r>
                      <a:endParaRPr lang="en-US" sz="1200" dirty="0"/>
                    </a:p>
                  </a:txBody>
                  <a:tcPr marL="91204" marR="91204"/>
                </a:tc>
                <a:tc>
                  <a:txBody>
                    <a:bodyPr/>
                    <a:lstStyle/>
                    <a:p>
                      <a:r>
                        <a:rPr lang="en-US" sz="1200" dirty="0" smtClean="0"/>
                        <a:t>Microsoft’s Lee Holmes brings you hundred of “recipes” explaining how you can use Windows PowerShell to do everything from monitor a file or folder to managing services to manage Active Directory.</a:t>
                      </a:r>
                    </a:p>
                    <a:p>
                      <a:r>
                        <a:rPr lang="en-US" sz="1200" dirty="0" smtClean="0">
                          <a:solidFill>
                            <a:schemeClr val="tx2">
                              <a:lumMod val="75000"/>
                            </a:schemeClr>
                          </a:solidFill>
                          <a:hlinkClick r:id="rId2"/>
                        </a:rPr>
                        <a:t>http://shop.oreilly.com/product/9780596801519.do</a:t>
                      </a:r>
                      <a:endParaRPr lang="en-US" sz="1200" dirty="0">
                        <a:solidFill>
                          <a:schemeClr val="tx2">
                            <a:lumMod val="75000"/>
                          </a:schemeClr>
                        </a:solidFill>
                      </a:endParaRPr>
                    </a:p>
                  </a:txBody>
                  <a:tcPr marL="91204" marR="91204"/>
                </a:tc>
              </a:tr>
              <a:tr h="370840">
                <a:tc>
                  <a:txBody>
                    <a:bodyPr/>
                    <a:lstStyle/>
                    <a:p>
                      <a:r>
                        <a:rPr lang="en-US" sz="1200" dirty="0" smtClean="0"/>
                        <a:t>Windows PowerShell Course Book</a:t>
                      </a:r>
                      <a:endParaRPr lang="en-US" sz="1200" dirty="0"/>
                    </a:p>
                  </a:txBody>
                  <a:tcPr marL="91204" marR="91204"/>
                </a:tc>
                <a:tc>
                  <a:txBody>
                    <a:bodyPr/>
                    <a:lstStyle/>
                    <a:p>
                      <a:r>
                        <a:rPr lang="en-US" sz="1200" dirty="0" smtClean="0">
                          <a:solidFill>
                            <a:srgbClr val="4B4B4B"/>
                          </a:solidFill>
                        </a:rPr>
                        <a:t>Frank Koch’s free book provides “An introduction to scripting technologies for people with no real background knowledge.</a:t>
                      </a:r>
                    </a:p>
                    <a:p>
                      <a:r>
                        <a:rPr lang="en-US" sz="1200" dirty="0" smtClean="0">
                          <a:solidFill>
                            <a:srgbClr val="4B4B4B"/>
                          </a:solidFill>
                          <a:hlinkClick r:id="rId3"/>
                        </a:rPr>
                        <a:t>https://blogs.technet.com/chitpro-de/archive/2007/05/10/english-version-of-windows-powershell-course-book-available-for-download.aspx</a:t>
                      </a:r>
                      <a:endParaRPr lang="en-US" sz="1200" dirty="0">
                        <a:solidFill>
                          <a:srgbClr val="4B4B4B"/>
                        </a:solidFill>
                      </a:endParaRPr>
                    </a:p>
                  </a:txBody>
                  <a:tcPr marL="91204" marR="91204"/>
                </a:tc>
              </a:tr>
              <a:tr h="370840">
                <a:tc>
                  <a:txBody>
                    <a:bodyPr/>
                    <a:lstStyle/>
                    <a:p>
                      <a:r>
                        <a:rPr lang="en-US" sz="1200" dirty="0" smtClean="0"/>
                        <a:t>Windows PowerShell in Action</a:t>
                      </a:r>
                      <a:endParaRPr lang="en-US" sz="1200" dirty="0"/>
                    </a:p>
                  </a:txBody>
                  <a:tcPr marL="91204" marR="91204"/>
                </a:tc>
                <a:tc>
                  <a:txBody>
                    <a:bodyPr/>
                    <a:lstStyle/>
                    <a:p>
                      <a:r>
                        <a:rPr lang="en-US" sz="1200" dirty="0" smtClean="0">
                          <a:solidFill>
                            <a:srgbClr val="4B4B4B"/>
                          </a:solidFill>
                        </a:rPr>
                        <a:t>The inside scoop on Windows PowerShell from Bruce</a:t>
                      </a:r>
                      <a:r>
                        <a:rPr lang="en-US" sz="1200" baseline="0" dirty="0" smtClean="0">
                          <a:solidFill>
                            <a:srgbClr val="4B4B4B"/>
                          </a:solidFill>
                        </a:rPr>
                        <a:t> Payette, co-designer of the Windows PowerShell language.</a:t>
                      </a:r>
                    </a:p>
                    <a:p>
                      <a:r>
                        <a:rPr lang="en-US" sz="1200" dirty="0" smtClean="0">
                          <a:solidFill>
                            <a:srgbClr val="4B4B4B"/>
                          </a:solidFill>
                          <a:hlinkClick r:id="rId4"/>
                        </a:rPr>
                        <a:t>http://www.manning.com/payette/</a:t>
                      </a:r>
                      <a:endParaRPr lang="en-US" sz="1200" dirty="0">
                        <a:solidFill>
                          <a:srgbClr val="4B4B4B"/>
                        </a:solidFill>
                      </a:endParaRPr>
                    </a:p>
                  </a:txBody>
                  <a:tcPr marL="91204" marR="91204"/>
                </a:tc>
              </a:tr>
              <a:tr h="370840">
                <a:tc>
                  <a:txBody>
                    <a:bodyPr/>
                    <a:lstStyle/>
                    <a:p>
                      <a:r>
                        <a:rPr lang="en-US" sz="1200" dirty="0" smtClean="0"/>
                        <a:t>Windows PowerShell Step-by-Step</a:t>
                      </a:r>
                      <a:endParaRPr lang="en-US" sz="1200" dirty="0"/>
                    </a:p>
                  </a:txBody>
                  <a:tcPr marL="91204" marR="91204"/>
                </a:tc>
                <a:tc>
                  <a:txBody>
                    <a:bodyPr/>
                    <a:lstStyle/>
                    <a:p>
                      <a:r>
                        <a:rPr lang="en-US" sz="1200" dirty="0" smtClean="0">
                          <a:solidFill>
                            <a:srgbClr val="4B4B4B"/>
                          </a:solidFill>
                        </a:rPr>
                        <a:t>Ed Wilson’s self-paced tutorial is designed to take you from Windows PowerShell newbie to Windows PowerShell aficionado in just a few easy lessons.</a:t>
                      </a:r>
                    </a:p>
                    <a:p>
                      <a:r>
                        <a:rPr lang="en-US" sz="1200" dirty="0" smtClean="0">
                          <a:solidFill>
                            <a:srgbClr val="4B4B4B"/>
                          </a:solidFill>
                          <a:hlinkClick r:id="rId5"/>
                        </a:rPr>
                        <a:t>http://bit.ly/edwilsonpowershellstepbystep</a:t>
                      </a:r>
                      <a:endParaRPr lang="en-US" sz="1200" dirty="0">
                        <a:solidFill>
                          <a:srgbClr val="4B4B4B"/>
                        </a:solidFill>
                      </a:endParaRPr>
                    </a:p>
                  </a:txBody>
                  <a:tcPr marL="91204" marR="91204"/>
                </a:tc>
              </a:tr>
              <a:tr h="370840">
                <a:tc>
                  <a:txBody>
                    <a:bodyPr/>
                    <a:lstStyle/>
                    <a:p>
                      <a:r>
                        <a:rPr lang="en-US" sz="1200" dirty="0" smtClean="0"/>
                        <a:t>Windows PowerShell:</a:t>
                      </a:r>
                      <a:r>
                        <a:rPr lang="en-US" sz="1200" baseline="0" dirty="0" smtClean="0"/>
                        <a:t> TFM</a:t>
                      </a:r>
                      <a:endParaRPr lang="en-US" sz="1200" dirty="0"/>
                    </a:p>
                  </a:txBody>
                  <a:tcPr marL="91204" marR="91204"/>
                </a:tc>
                <a:tc>
                  <a:txBody>
                    <a:bodyPr/>
                    <a:lstStyle/>
                    <a:p>
                      <a:r>
                        <a:rPr lang="en-US" sz="1200" dirty="0" smtClean="0">
                          <a:solidFill>
                            <a:srgbClr val="4B4B4B"/>
                          </a:solidFill>
                        </a:rPr>
                        <a:t>The ubiquitous Don Jon Jones and Jeffrey Hicks were first out of the gate with their recently-updated book on Windows PowerShell.</a:t>
                      </a:r>
                    </a:p>
                    <a:p>
                      <a:r>
                        <a:rPr lang="en-US" sz="1200" b="0" dirty="0" smtClean="0">
                          <a:solidFill>
                            <a:srgbClr val="4B4B4B"/>
                          </a:solidFill>
                          <a:hlinkClick r:id="rId6"/>
                        </a:rPr>
                        <a:t>http://www.sapienpress.com/powershell2.asp</a:t>
                      </a:r>
                      <a:endParaRPr lang="en-US" sz="1200" b="0" dirty="0">
                        <a:solidFill>
                          <a:srgbClr val="4B4B4B"/>
                        </a:solidFill>
                      </a:endParaRPr>
                    </a:p>
                  </a:txBody>
                  <a:tcPr marL="91204" marR="91204"/>
                </a:tc>
              </a:tr>
            </a:tbl>
          </a:graphicData>
        </a:graphic>
      </p:graphicFrame>
    </p:spTree>
    <p:extLst>
      <p:ext uri="{BB962C8B-B14F-4D97-AF65-F5344CB8AC3E}">
        <p14:creationId xmlns="" xmlns:p14="http://schemas.microsoft.com/office/powerpoint/2010/main" val="866371769"/>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424449789"/>
              </p:ext>
            </p:extLst>
          </p:nvPr>
        </p:nvGraphicFramePr>
        <p:xfrm>
          <a:off x="917574" y="838200"/>
          <a:ext cx="7388225" cy="5293360"/>
        </p:xfrm>
        <a:graphic>
          <a:graphicData uri="http://schemas.openxmlformats.org/drawingml/2006/table">
            <a:tbl>
              <a:tblPr firstRow="1" bandRow="1">
                <a:tableStyleId>{5C22544A-7EE6-4342-B048-85BDC9FD1C3A}</a:tableStyleId>
              </a:tblPr>
              <a:tblGrid>
                <a:gridCol w="2513509"/>
                <a:gridCol w="4874716"/>
              </a:tblGrid>
              <a:tr h="370840">
                <a:tc>
                  <a:txBody>
                    <a:bodyPr/>
                    <a:lstStyle/>
                    <a:p>
                      <a:r>
                        <a:rPr lang="en-US" sz="1200" dirty="0" smtClean="0"/>
                        <a:t>Web</a:t>
                      </a:r>
                      <a:r>
                        <a:rPr lang="en-US" sz="1200" baseline="0" dirty="0" smtClean="0"/>
                        <a:t> Sites</a:t>
                      </a:r>
                      <a:endParaRPr lang="en-US" sz="1200" dirty="0"/>
                    </a:p>
                  </a:txBody>
                  <a:tcPr marL="91204" marR="91204"/>
                </a:tc>
                <a:tc>
                  <a:txBody>
                    <a:bodyPr/>
                    <a:lstStyle/>
                    <a:p>
                      <a:endParaRPr lang="en-US" sz="1200" dirty="0"/>
                    </a:p>
                  </a:txBody>
                  <a:tcPr marL="91204" marR="91204"/>
                </a:tc>
              </a:tr>
              <a:tr h="370840">
                <a:tc>
                  <a:txBody>
                    <a:bodyPr/>
                    <a:lstStyle/>
                    <a:p>
                      <a:r>
                        <a:rPr lang="en-US" sz="1100" dirty="0" err="1" smtClean="0"/>
                        <a:t>CodePlex</a:t>
                      </a:r>
                      <a:endParaRPr lang="en-US" sz="1100" dirty="0"/>
                    </a:p>
                  </a:txBody>
                  <a:tcPr marL="91204" marR="91204"/>
                </a:tc>
                <a:tc>
                  <a:txBody>
                    <a:bodyPr/>
                    <a:lstStyle/>
                    <a:p>
                      <a:r>
                        <a:rPr lang="en-US" sz="1100" dirty="0" smtClean="0">
                          <a:solidFill>
                            <a:srgbClr val="4B4B4B"/>
                          </a:solidFill>
                        </a:rPr>
                        <a:t>An open source community web site featuring Windows PowerShell extensions and add-ins. </a:t>
                      </a:r>
                    </a:p>
                    <a:p>
                      <a:r>
                        <a:rPr lang="en-US" sz="1100" dirty="0" smtClean="0">
                          <a:solidFill>
                            <a:srgbClr val="4B4B4B"/>
                          </a:solidFill>
                          <a:hlinkClick r:id="rId2"/>
                        </a:rPr>
                        <a:t>http://www.codeplex.com/Project/ProjectDirectory.aspx?TagName=powershell</a:t>
                      </a:r>
                      <a:endParaRPr lang="en-US" sz="1100" dirty="0">
                        <a:solidFill>
                          <a:srgbClr val="4B4B4B"/>
                        </a:solidFill>
                      </a:endParaRPr>
                    </a:p>
                  </a:txBody>
                  <a:tcPr marL="91204" marR="91204"/>
                </a:tc>
              </a:tr>
              <a:tr h="370840">
                <a:tc>
                  <a:txBody>
                    <a:bodyPr/>
                    <a:lstStyle/>
                    <a:p>
                      <a:r>
                        <a:rPr lang="en-US" sz="1100" dirty="0" smtClean="0"/>
                        <a:t>Keith Hill’s Blog</a:t>
                      </a:r>
                      <a:endParaRPr lang="en-US" sz="1100" dirty="0"/>
                    </a:p>
                  </a:txBody>
                  <a:tcPr marL="91204" marR="91204"/>
                </a:tc>
                <a:tc>
                  <a:txBody>
                    <a:bodyPr/>
                    <a:lstStyle/>
                    <a:p>
                      <a:r>
                        <a:rPr lang="en-US" sz="1100" dirty="0" smtClean="0">
                          <a:solidFill>
                            <a:srgbClr val="4B4B4B"/>
                          </a:solidFill>
                        </a:rPr>
                        <a:t>Don’t miss Keith’s “Effective PowerShell” series.</a:t>
                      </a:r>
                    </a:p>
                    <a:p>
                      <a:r>
                        <a:rPr lang="en-US" sz="1100" dirty="0" smtClean="0">
                          <a:solidFill>
                            <a:srgbClr val="4B4B4B"/>
                          </a:solidFill>
                          <a:hlinkClick r:id="rId3"/>
                        </a:rPr>
                        <a:t>http://keithhill.spaces.live.com/</a:t>
                      </a:r>
                      <a:endParaRPr lang="en-US" sz="1100" dirty="0">
                        <a:solidFill>
                          <a:srgbClr val="4B4B4B"/>
                        </a:solidFill>
                      </a:endParaRPr>
                    </a:p>
                  </a:txBody>
                  <a:tcPr marL="91204" marR="91204"/>
                </a:tc>
              </a:tr>
              <a:tr h="370840">
                <a:tc>
                  <a:txBody>
                    <a:bodyPr/>
                    <a:lstStyle/>
                    <a:p>
                      <a:r>
                        <a:rPr lang="en-US" sz="1100" dirty="0" smtClean="0"/>
                        <a:t>PowerShellCommunity.org</a:t>
                      </a:r>
                      <a:endParaRPr lang="en-US" sz="1100" dirty="0"/>
                    </a:p>
                  </a:txBody>
                  <a:tcPr marL="91204" marR="91204"/>
                </a:tc>
                <a:tc>
                  <a:txBody>
                    <a:bodyPr/>
                    <a:lstStyle/>
                    <a:p>
                      <a:r>
                        <a:rPr lang="en-US" sz="1100" b="0" dirty="0" smtClean="0">
                          <a:solidFill>
                            <a:srgbClr val="4B4B4B"/>
                          </a:solidFill>
                        </a:rPr>
                        <a:t>A new website featuring community-powered blogs, wikis, forums, and sample scripts,</a:t>
                      </a:r>
                      <a:r>
                        <a:rPr lang="en-US" sz="1100" b="0" baseline="0" dirty="0" smtClean="0">
                          <a:solidFill>
                            <a:srgbClr val="4B4B4B"/>
                          </a:solidFill>
                        </a:rPr>
                        <a:t> as well as news and events regarding Windows PowerShell and the Windows PowerShell Community.</a:t>
                      </a:r>
                    </a:p>
                    <a:p>
                      <a:r>
                        <a:rPr lang="en-US" sz="1100" b="0" dirty="0" smtClean="0">
                          <a:solidFill>
                            <a:srgbClr val="4B4B4B"/>
                          </a:solidFill>
                          <a:hlinkClick r:id="rId4"/>
                        </a:rPr>
                        <a:t>http://powershellcommunity.org/</a:t>
                      </a:r>
                      <a:endParaRPr lang="en-US" sz="1100" b="0" dirty="0">
                        <a:solidFill>
                          <a:srgbClr val="4B4B4B"/>
                        </a:solidFill>
                      </a:endParaRPr>
                    </a:p>
                  </a:txBody>
                  <a:tcPr marL="91204" marR="91204"/>
                </a:tc>
              </a:tr>
              <a:tr h="370840">
                <a:tc>
                  <a:txBody>
                    <a:bodyPr/>
                    <a:lstStyle/>
                    <a:p>
                      <a:r>
                        <a:rPr lang="en-US" sz="1100" dirty="0" smtClean="0"/>
                        <a:t>Precision</a:t>
                      </a:r>
                      <a:r>
                        <a:rPr lang="en-US" sz="1100" baseline="0" dirty="0" smtClean="0"/>
                        <a:t> Computing</a:t>
                      </a:r>
                      <a:endParaRPr lang="en-US" sz="1100" dirty="0"/>
                    </a:p>
                  </a:txBody>
                  <a:tcPr marL="91204" marR="91204"/>
                </a:tc>
                <a:tc>
                  <a:txBody>
                    <a:bodyPr/>
                    <a:lstStyle/>
                    <a:p>
                      <a:r>
                        <a:rPr lang="en-US" sz="1100" b="0" dirty="0" smtClean="0">
                          <a:solidFill>
                            <a:srgbClr val="4B4B4B"/>
                          </a:solidFill>
                        </a:rPr>
                        <a:t>Random musings (and sample code, tons of sample code) from Lee Holmes, Windows PowerShell developer and author.</a:t>
                      </a:r>
                    </a:p>
                    <a:p>
                      <a:r>
                        <a:rPr lang="en-US" sz="1100" b="0" dirty="0" smtClean="0">
                          <a:solidFill>
                            <a:srgbClr val="4B4B4B"/>
                          </a:solidFill>
                          <a:hlinkClick r:id="rId5"/>
                        </a:rPr>
                        <a:t>http://www.leeholmes.com/blog/</a:t>
                      </a:r>
                      <a:endParaRPr lang="en-US" sz="1100" b="0" dirty="0">
                        <a:solidFill>
                          <a:srgbClr val="4B4B4B"/>
                        </a:solidFill>
                      </a:endParaRPr>
                    </a:p>
                  </a:txBody>
                  <a:tcPr marL="91204" marR="91204"/>
                </a:tc>
              </a:tr>
              <a:tr h="370840">
                <a:tc>
                  <a:txBody>
                    <a:bodyPr/>
                    <a:lstStyle/>
                    <a:p>
                      <a:r>
                        <a:rPr lang="en-US" sz="1100" dirty="0" smtClean="0"/>
                        <a:t>PowerShell.com</a:t>
                      </a:r>
                      <a:endParaRPr lang="en-US" sz="1100" dirty="0"/>
                    </a:p>
                  </a:txBody>
                  <a:tcPr marL="91204" marR="91204"/>
                </a:tc>
                <a:tc>
                  <a:txBody>
                    <a:bodyPr/>
                    <a:lstStyle/>
                    <a:p>
                      <a:r>
                        <a:rPr lang="en-US" sz="1100" b="0" dirty="0" smtClean="0">
                          <a:solidFill>
                            <a:srgbClr val="4B4B4B"/>
                          </a:solidFill>
                        </a:rPr>
                        <a:t>Known for their “PowerShell</a:t>
                      </a:r>
                      <a:r>
                        <a:rPr lang="en-US" sz="1100" b="0" baseline="0" dirty="0" smtClean="0">
                          <a:solidFill>
                            <a:srgbClr val="4B4B4B"/>
                          </a:solidFill>
                        </a:rPr>
                        <a:t> Tip of the Day”, PowerShell.com is a community driven educational forum for everyone to learn PowerShell.</a:t>
                      </a:r>
                    </a:p>
                    <a:p>
                      <a:r>
                        <a:rPr lang="en-US" sz="1100" b="0" baseline="0" dirty="0" smtClean="0">
                          <a:solidFill>
                            <a:srgbClr val="4B4B4B"/>
                          </a:solidFill>
                          <a:hlinkClick r:id="rId6"/>
                        </a:rPr>
                        <a:t>http://www.powershell.com</a:t>
                      </a:r>
                      <a:endParaRPr lang="en-US" sz="1100" b="0" dirty="0">
                        <a:solidFill>
                          <a:srgbClr val="4B4B4B"/>
                        </a:solidFill>
                      </a:endParaRPr>
                    </a:p>
                  </a:txBody>
                  <a:tcPr marL="91204" marR="91204"/>
                </a:tc>
              </a:tr>
              <a:tr h="370840">
                <a:tc>
                  <a:txBody>
                    <a:bodyPr/>
                    <a:lstStyle/>
                    <a:p>
                      <a:r>
                        <a:rPr lang="en-US" sz="1100" dirty="0" smtClean="0"/>
                        <a:t>Under The Stairs</a:t>
                      </a:r>
                      <a:endParaRPr lang="en-US" sz="1100" dirty="0"/>
                    </a:p>
                  </a:txBody>
                  <a:tcPr marL="91204" marR="91204"/>
                </a:tc>
                <a:tc>
                  <a:txBody>
                    <a:bodyPr/>
                    <a:lstStyle/>
                    <a:p>
                      <a:r>
                        <a:rPr lang="en-US" sz="1100" b="0" dirty="0" smtClean="0">
                          <a:solidFill>
                            <a:srgbClr val="4B4B4B"/>
                          </a:solidFill>
                        </a:rPr>
                        <a:t>From Thomas Lee, one of the top contributors to MSDN’s community content.</a:t>
                      </a:r>
                    </a:p>
                    <a:p>
                      <a:r>
                        <a:rPr lang="en-US" sz="1100" b="0" dirty="0" smtClean="0">
                          <a:solidFill>
                            <a:srgbClr val="4B4B4B"/>
                          </a:solidFill>
                          <a:hlinkClick r:id="rId7"/>
                        </a:rPr>
                        <a:t>http://tfl09.blogspot.com/</a:t>
                      </a:r>
                      <a:endParaRPr lang="en-US" sz="1100" b="0" dirty="0">
                        <a:solidFill>
                          <a:srgbClr val="4B4B4B"/>
                        </a:solidFill>
                      </a:endParaRPr>
                    </a:p>
                  </a:txBody>
                  <a:tcPr marL="91204" marR="91204"/>
                </a:tc>
              </a:tr>
              <a:tr h="370840">
                <a:tc>
                  <a:txBody>
                    <a:bodyPr/>
                    <a:lstStyle/>
                    <a:p>
                      <a:r>
                        <a:rPr lang="en-US" sz="1100" dirty="0" smtClean="0"/>
                        <a:t>Windows PowerShell Team Blog</a:t>
                      </a:r>
                      <a:endParaRPr lang="en-US" sz="1100" dirty="0"/>
                    </a:p>
                  </a:txBody>
                  <a:tcPr marL="91204" marR="91204"/>
                </a:tc>
                <a:tc>
                  <a:txBody>
                    <a:bodyPr/>
                    <a:lstStyle/>
                    <a:p>
                      <a:r>
                        <a:rPr lang="en-US" sz="1100" b="0" dirty="0" smtClean="0">
                          <a:solidFill>
                            <a:srgbClr val="4B4B4B"/>
                          </a:solidFill>
                        </a:rPr>
                        <a:t>The official word on Windows PowerShell, with regular posts from Jeffrey </a:t>
                      </a:r>
                      <a:r>
                        <a:rPr lang="en-US" sz="1100" b="0" dirty="0" err="1" smtClean="0">
                          <a:solidFill>
                            <a:srgbClr val="4B4B4B"/>
                          </a:solidFill>
                        </a:rPr>
                        <a:t>Snover</a:t>
                      </a:r>
                      <a:r>
                        <a:rPr lang="en-US" sz="1100" b="0" dirty="0" smtClean="0">
                          <a:solidFill>
                            <a:srgbClr val="4B4B4B"/>
                          </a:solidFill>
                        </a:rPr>
                        <a:t> and other members of the Windows PowerShell team.</a:t>
                      </a:r>
                    </a:p>
                    <a:p>
                      <a:r>
                        <a:rPr lang="en-US" sz="1100" b="0" dirty="0" smtClean="0">
                          <a:solidFill>
                            <a:srgbClr val="4B4B4B"/>
                          </a:solidFill>
                          <a:hlinkClick r:id="rId8"/>
                        </a:rPr>
                        <a:t>http://blogs.msdn.com/powershell/</a:t>
                      </a:r>
                      <a:endParaRPr lang="en-US" sz="1100" b="0" dirty="0" smtClean="0">
                        <a:solidFill>
                          <a:srgbClr val="4B4B4B"/>
                        </a:solidFill>
                      </a:endParaRPr>
                    </a:p>
                  </a:txBody>
                  <a:tcPr marL="91204" marR="91204"/>
                </a:tc>
              </a:tr>
              <a:tr h="370840">
                <a:tc>
                  <a:txBody>
                    <a:bodyPr/>
                    <a:lstStyle/>
                    <a:p>
                      <a:r>
                        <a:rPr lang="en-US" sz="1100" dirty="0" smtClean="0"/>
                        <a:t>Windows PowerShell Wiki</a:t>
                      </a:r>
                      <a:endParaRPr lang="en-US" sz="1100" dirty="0"/>
                    </a:p>
                  </a:txBody>
                  <a:tcPr marL="91204" marR="91204"/>
                </a:tc>
                <a:tc>
                  <a:txBody>
                    <a:bodyPr/>
                    <a:lstStyle/>
                    <a:p>
                      <a:r>
                        <a:rPr lang="en-US" sz="1100" b="0" dirty="0" smtClean="0">
                          <a:solidFill>
                            <a:srgbClr val="4B4B4B"/>
                          </a:solidFill>
                        </a:rPr>
                        <a:t>An outstanding collection of Windows PowerShell scripts, articles, links and other resources. </a:t>
                      </a:r>
                    </a:p>
                    <a:p>
                      <a:r>
                        <a:rPr lang="en-US" sz="1100" b="0" dirty="0" smtClean="0">
                          <a:solidFill>
                            <a:srgbClr val="4B4B4B"/>
                          </a:solidFill>
                          <a:hlinkClick r:id="rId9"/>
                        </a:rPr>
                        <a:t>http://technet.microsoft.com/library/bb978526.aspx</a:t>
                      </a:r>
                      <a:endParaRPr lang="en-US" sz="1100" b="0" dirty="0" smtClean="0">
                        <a:solidFill>
                          <a:srgbClr val="4B4B4B"/>
                        </a:solidFill>
                      </a:endParaRPr>
                    </a:p>
                  </a:txBody>
                  <a:tcPr marL="91204" marR="91204"/>
                </a:tc>
              </a:tr>
            </a:tbl>
          </a:graphicData>
        </a:graphic>
      </p:graphicFrame>
    </p:spTree>
    <p:extLst>
      <p:ext uri="{BB962C8B-B14F-4D97-AF65-F5344CB8AC3E}">
        <p14:creationId xmlns="" xmlns:p14="http://schemas.microsoft.com/office/powerpoint/2010/main" val="2292248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11: Scripting Editor</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328596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11 Lab: Scripting Editor</a:t>
            </a:r>
            <a:endParaRPr lang="en-US" dirty="0"/>
          </a:p>
        </p:txBody>
      </p:sp>
      <p:sp>
        <p:nvSpPr>
          <p:cNvPr id="5" name="Subtitle 4"/>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286446434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12: Source Repository</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2328596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Module 12 Lab: Source Repository</a:t>
            </a:r>
            <a:endParaRPr lang="en-US" dirty="0"/>
          </a:p>
        </p:txBody>
      </p:sp>
      <p:sp>
        <p:nvSpPr>
          <p:cNvPr id="5" name="Subtitle 4"/>
          <p:cNvSpPr>
            <a:spLocks noGrp="1"/>
          </p:cNvSpPr>
          <p:nvPr>
            <p:ph type="subTitle" idx="1"/>
          </p:nvPr>
        </p:nvSpPr>
        <p:spPr/>
        <p:txBody>
          <a:bodyPr/>
          <a:lstStyle/>
          <a:p>
            <a:r>
              <a:rPr lang="en-US" dirty="0" smtClean="0"/>
              <a:t>Dustin Giles</a:t>
            </a:r>
            <a:endParaRPr lang="en-US" dirty="0"/>
          </a:p>
        </p:txBody>
      </p:sp>
    </p:spTree>
    <p:extLst>
      <p:ext uri="{BB962C8B-B14F-4D97-AF65-F5344CB8AC3E}">
        <p14:creationId xmlns="" xmlns:p14="http://schemas.microsoft.com/office/powerpoint/2010/main" val="62401821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What’s New With PowerShell 3.0</a:t>
            </a:r>
            <a:endParaRPr lang="en-US" dirty="0"/>
          </a:p>
        </p:txBody>
      </p:sp>
      <p:sp>
        <p:nvSpPr>
          <p:cNvPr id="4" name="Subtitle 3"/>
          <p:cNvSpPr>
            <a:spLocks noGrp="1"/>
          </p:cNvSpPr>
          <p:nvPr>
            <p:ph type="subTitle" idx="1"/>
          </p:nvPr>
        </p:nvSpPr>
        <p:spPr/>
        <p:txBody>
          <a:bodyPr/>
          <a:lstStyle/>
          <a:p>
            <a:r>
              <a:rPr lang="en-US" dirty="0" smtClean="0"/>
              <a:t>Ryan Schlagel</a:t>
            </a:r>
            <a:endParaRPr lang="en-US" dirty="0"/>
          </a:p>
        </p:txBody>
      </p:sp>
    </p:spTree>
    <p:extLst>
      <p:ext uri="{BB962C8B-B14F-4D97-AF65-F5344CB8AC3E}">
        <p14:creationId xmlns="" xmlns:p14="http://schemas.microsoft.com/office/powerpoint/2010/main" val="3065974924"/>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Requirements For </a:t>
            </a:r>
            <a:r>
              <a:rPr lang="en-US" b="1" dirty="0" err="1" smtClean="0"/>
              <a:t>Powershell</a:t>
            </a:r>
            <a:r>
              <a:rPr lang="en-US" b="1" dirty="0" smtClean="0"/>
              <a:t> 3.0</a:t>
            </a:r>
            <a:endParaRPr lang="en-US" dirty="0"/>
          </a:p>
        </p:txBody>
      </p:sp>
      <p:sp>
        <p:nvSpPr>
          <p:cNvPr id="3" name="Content Placeholder 2"/>
          <p:cNvSpPr>
            <a:spLocks noGrp="1"/>
          </p:cNvSpPr>
          <p:nvPr>
            <p:ph idx="1"/>
          </p:nvPr>
        </p:nvSpPr>
        <p:spPr/>
        <p:txBody>
          <a:bodyPr/>
          <a:lstStyle/>
          <a:p>
            <a:pPr lvl="2" fontAlgn="ctr"/>
            <a:r>
              <a:rPr lang="en-US" sz="2000" dirty="0" smtClean="0"/>
              <a:t>Windows </a:t>
            </a:r>
            <a:r>
              <a:rPr lang="en-US" sz="2000" dirty="0" err="1" smtClean="0"/>
              <a:t>PowerShell</a:t>
            </a:r>
            <a:r>
              <a:rPr lang="en-US" sz="2000" dirty="0" smtClean="0"/>
              <a:t> 3.0 runs on the following versions of Windows.</a:t>
            </a:r>
          </a:p>
          <a:p>
            <a:pPr lvl="3" fontAlgn="ctr">
              <a:buFont typeface="Arial" pitchFamily="34" charset="0"/>
              <a:buChar char="•"/>
            </a:pPr>
            <a:r>
              <a:rPr lang="en-US" dirty="0" smtClean="0"/>
              <a:t>Windows 8 </a:t>
            </a:r>
          </a:p>
          <a:p>
            <a:pPr lvl="3" fontAlgn="ctr">
              <a:buFont typeface="Arial" pitchFamily="34" charset="0"/>
              <a:buChar char="•"/>
            </a:pPr>
            <a:r>
              <a:rPr lang="en-US" dirty="0" smtClean="0"/>
              <a:t>Windows Server 2012 </a:t>
            </a:r>
          </a:p>
          <a:p>
            <a:pPr lvl="3" fontAlgn="ctr">
              <a:buFont typeface="Arial" pitchFamily="34" charset="0"/>
              <a:buChar char="•"/>
            </a:pPr>
            <a:r>
              <a:rPr lang="en-US" dirty="0" smtClean="0"/>
              <a:t>Windows® 7 with Service Pack 1</a:t>
            </a:r>
          </a:p>
          <a:p>
            <a:pPr lvl="3" fontAlgn="ctr">
              <a:buFont typeface="Arial" pitchFamily="34" charset="0"/>
              <a:buChar char="•"/>
            </a:pPr>
            <a:r>
              <a:rPr lang="en-US" dirty="0" smtClean="0"/>
              <a:t>Windows Server® 2008 R2 with Service Pack 1</a:t>
            </a:r>
          </a:p>
          <a:p>
            <a:pPr lvl="3" fontAlgn="ctr">
              <a:buFont typeface="Arial" pitchFamily="34" charset="0"/>
              <a:buChar char="•"/>
            </a:pPr>
            <a:r>
              <a:rPr lang="en-US" dirty="0" smtClean="0"/>
              <a:t>Windows Server 2008 with Service Pack 			</a:t>
            </a:r>
          </a:p>
          <a:p>
            <a:pPr lvl="2" fontAlgn="ctr"/>
            <a:r>
              <a:rPr lang="en-US" sz="2000" dirty="0" smtClean="0"/>
              <a:t>More System Requirements For </a:t>
            </a:r>
            <a:r>
              <a:rPr lang="en-US" sz="2000" dirty="0" err="1" smtClean="0"/>
              <a:t>Powershell</a:t>
            </a:r>
            <a:r>
              <a:rPr lang="en-US" sz="2000" dirty="0" smtClean="0"/>
              <a:t> 3.0</a:t>
            </a:r>
          </a:p>
          <a:p>
            <a:pPr lvl="3" fontAlgn="ctr">
              <a:buFont typeface="Arial" pitchFamily="34" charset="0"/>
              <a:buChar char="•"/>
            </a:pPr>
            <a:r>
              <a:rPr lang="en-US" dirty="0" err="1" smtClean="0"/>
              <a:t>.Net</a:t>
            </a:r>
            <a:r>
              <a:rPr lang="en-US" dirty="0" smtClean="0"/>
              <a:t> 4.0 or higher</a:t>
            </a:r>
          </a:p>
          <a:p>
            <a:pPr lvl="3" fontAlgn="ctr">
              <a:buFont typeface="Arial" pitchFamily="34" charset="0"/>
              <a:buChar char="•"/>
            </a:pPr>
            <a:r>
              <a:rPr lang="en-US" dirty="0" smtClean="0"/>
              <a:t>WS-Management 3.0</a:t>
            </a:r>
          </a:p>
          <a:p>
            <a:pPr lvl="3" fontAlgn="ctr">
              <a:buFont typeface="Arial" pitchFamily="34" charset="0"/>
              <a:buChar char="•"/>
            </a:pPr>
            <a:r>
              <a:rPr lang="en-US" dirty="0" smtClean="0"/>
              <a:t>WMI 3.0</a:t>
            </a:r>
          </a:p>
          <a:p>
            <a:endParaRPr lang="en-US" dirty="0"/>
          </a:p>
        </p:txBody>
      </p:sp>
    </p:spTree>
    <p:extLst>
      <p:ext uri="{BB962C8B-B14F-4D97-AF65-F5344CB8AC3E}">
        <p14:creationId xmlns="" xmlns:p14="http://schemas.microsoft.com/office/powerpoint/2010/main" val="72968633"/>
      </p:ext>
    </p:extLst>
  </p:cSld>
  <p:clrMapOvr>
    <a:masterClrMapping/>
  </p:clrMapOvr>
</p:sld>
</file>

<file path=ppt/theme/theme1.xml><?xml version="1.0" encoding="utf-8"?>
<a:theme xmlns:a="http://schemas.openxmlformats.org/drawingml/2006/main" name="tr_presentation_template_05-01-08">
  <a:themeElements>
    <a:clrScheme name="tr_presentation_template_05-01-08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fontScheme name="tr_presentation_template_05-01-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tr_presentation_template_05-01-08 1">
        <a:dk1>
          <a:srgbClr val="4B4B4B"/>
        </a:dk1>
        <a:lt1>
          <a:srgbClr val="FFFFFF"/>
        </a:lt1>
        <a:dk2>
          <a:srgbClr val="FF8000"/>
        </a:dk2>
        <a:lt2>
          <a:srgbClr val="A0968C"/>
        </a:lt2>
        <a:accent1>
          <a:srgbClr val="005A84"/>
        </a:accent1>
        <a:accent2>
          <a:srgbClr val="6234A4"/>
        </a:accent2>
        <a:accent3>
          <a:srgbClr val="FFFFFF"/>
        </a:accent3>
        <a:accent4>
          <a:srgbClr val="3F3F3F"/>
        </a:accent4>
        <a:accent5>
          <a:srgbClr val="AAB5C2"/>
        </a:accent5>
        <a:accent6>
          <a:srgbClr val="582E94"/>
        </a:accent6>
        <a:hlink>
          <a:srgbClr val="828282"/>
        </a:hlink>
        <a:folHlink>
          <a:srgbClr val="BABABA"/>
        </a:folHlink>
      </a:clrScheme>
      <a:clrMap bg1="lt1" tx1="dk1" bg2="lt2" tx2="dk2" accent1="accent1" accent2="accent2" accent3="accent3" accent4="accent4" accent5="accent5" accent6="accent6" hlink="hlink" folHlink="folHlink"/>
    </a:extraClrScheme>
    <a:extraClrScheme>
      <a:clrScheme name="tr_presentation_template_05-01-08 2">
        <a:dk1>
          <a:srgbClr val="4B4B4B"/>
        </a:dk1>
        <a:lt1>
          <a:srgbClr val="FFFFFF"/>
        </a:lt1>
        <a:dk2>
          <a:srgbClr val="FF8000"/>
        </a:dk2>
        <a:lt2>
          <a:srgbClr val="BABABA"/>
        </a:lt2>
        <a:accent1>
          <a:srgbClr val="78A22F"/>
        </a:accent1>
        <a:accent2>
          <a:srgbClr val="FFB400"/>
        </a:accent2>
        <a:accent3>
          <a:srgbClr val="FFFFFF"/>
        </a:accent3>
        <a:accent4>
          <a:srgbClr val="3F3F3F"/>
        </a:accent4>
        <a:accent5>
          <a:srgbClr val="BECEAD"/>
        </a:accent5>
        <a:accent6>
          <a:srgbClr val="E7A300"/>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r_presentation_template_05-01-08 3">
        <a:dk1>
          <a:srgbClr val="4B4B4B"/>
        </a:dk1>
        <a:lt1>
          <a:srgbClr val="FFFFFF"/>
        </a:lt1>
        <a:dk2>
          <a:srgbClr val="FF8000"/>
        </a:dk2>
        <a:lt2>
          <a:srgbClr val="BABABA"/>
        </a:lt2>
        <a:accent1>
          <a:srgbClr val="766C62"/>
        </a:accent1>
        <a:accent2>
          <a:srgbClr val="A0968C"/>
        </a:accent2>
        <a:accent3>
          <a:srgbClr val="FFFFFF"/>
        </a:accent3>
        <a:accent4>
          <a:srgbClr val="3F3F3F"/>
        </a:accent4>
        <a:accent5>
          <a:srgbClr val="BDBAB7"/>
        </a:accent5>
        <a:accent6>
          <a:srgbClr val="91877E"/>
        </a:accent6>
        <a:hlink>
          <a:srgbClr val="0083BF"/>
        </a:hlink>
        <a:folHlink>
          <a:srgbClr val="78A22F"/>
        </a:folHlink>
      </a:clrScheme>
      <a:clrMap bg1="lt1" tx1="dk1" bg2="lt2" tx2="dk2" accent1="accent1" accent2="accent2" accent3="accent3" accent4="accent4" accent5="accent5" accent6="accent6" hlink="hlink" folHlink="folHlink"/>
    </a:extraClrScheme>
    <a:extraClrScheme>
      <a:clrScheme name="tr_presentation_template_05-01-08 4">
        <a:dk1>
          <a:srgbClr val="4B4B4B"/>
        </a:dk1>
        <a:lt1>
          <a:srgbClr val="FFFFFF"/>
        </a:lt1>
        <a:dk2>
          <a:srgbClr val="FF8000"/>
        </a:dk2>
        <a:lt2>
          <a:srgbClr val="A0968C"/>
        </a:lt2>
        <a:accent1>
          <a:srgbClr val="FF8000"/>
        </a:accent1>
        <a:accent2>
          <a:srgbClr val="DC0A0A"/>
        </a:accent2>
        <a:accent3>
          <a:srgbClr val="FFFFFF"/>
        </a:accent3>
        <a:accent4>
          <a:srgbClr val="3F3F3F"/>
        </a:accent4>
        <a:accent5>
          <a:srgbClr val="FFC0AA"/>
        </a:accent5>
        <a:accent6>
          <a:srgbClr val="C70808"/>
        </a:accent6>
        <a:hlink>
          <a:srgbClr val="766C62"/>
        </a:hlink>
        <a:folHlink>
          <a:srgbClr val="A0968C"/>
        </a:folHlink>
      </a:clrScheme>
      <a:clrMap bg1="lt1" tx1="dk1" bg2="lt2" tx2="dk2" accent1="accent1" accent2="accent2" accent3="accent3" accent4="accent4" accent5="accent5" accent6="accent6" hlink="hlink" folHlink="folHlink"/>
    </a:extraClrScheme>
    <a:extraClrScheme>
      <a:clrScheme name="tr_presentation_template_05-01-08 5">
        <a:dk1>
          <a:srgbClr val="A0968C"/>
        </a:dk1>
        <a:lt1>
          <a:srgbClr val="FFFFFF"/>
        </a:lt1>
        <a:dk2>
          <a:srgbClr val="5F5F5F"/>
        </a:dk2>
        <a:lt2>
          <a:srgbClr val="FFFFFF"/>
        </a:lt2>
        <a:accent1>
          <a:srgbClr val="005A84"/>
        </a:accent1>
        <a:accent2>
          <a:srgbClr val="6234A4"/>
        </a:accent2>
        <a:accent3>
          <a:srgbClr val="B6B6B6"/>
        </a:accent3>
        <a:accent4>
          <a:srgbClr val="DADADA"/>
        </a:accent4>
        <a:accent5>
          <a:srgbClr val="AAB5C2"/>
        </a:accent5>
        <a:accent6>
          <a:srgbClr val="582E94"/>
        </a:accent6>
        <a:hlink>
          <a:srgbClr val="828282"/>
        </a:hlink>
        <a:folHlink>
          <a:srgbClr val="BABABA"/>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DB62D9483CC44394349B4A9DBB6A1C" ma:contentTypeVersion="1" ma:contentTypeDescription="Create a new document." ma:contentTypeScope="" ma:versionID="5185383ad62c605833dcddaee7947f3a">
  <xsd:schema xmlns:xsd="http://www.w3.org/2001/XMLSchema" xmlns:xs="http://www.w3.org/2001/XMLSchema" xmlns:p="http://schemas.microsoft.com/office/2006/metadata/properties" xmlns:ns2="275f6327-867f-447e-980e-3b1b69ec9fae" targetNamespace="http://schemas.microsoft.com/office/2006/metadata/properties" ma:root="true" ma:fieldsID="376123ed81fc16af1b8151547971e380" ns2:_="">
    <xsd:import namespace="275f6327-867f-447e-980e-3b1b69ec9fae"/>
    <xsd:element name="properties">
      <xsd:complexType>
        <xsd:sequence>
          <xsd:element name="documentManagement">
            <xsd:complexType>
              <xsd:all>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f6327-867f-447e-980e-3b1b69ec9fae" elementFormDefault="qualified">
    <xsd:import namespace="http://schemas.microsoft.com/office/2006/documentManagement/types"/>
    <xsd:import namespace="http://schemas.microsoft.com/office/infopath/2007/PartnerControls"/>
    <xsd:element name="Status" ma:index="8" nillable="true" ma:displayName="Status" ma:format="Dropdown" ma:internalName="Status">
      <xsd:simpleType>
        <xsd:restriction base="dms:Choice">
          <xsd:enumeration value="In-Progress"/>
          <xsd:enumeration value="Completed"/>
          <xsd:enumeration value="Transitioning"/>
          <xsd:enumeration value="Roadblock"/>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275f6327-867f-447e-980e-3b1b69ec9fae">In-Progress</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0872A8-CF17-4BFC-85B5-FC93E70F99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f6327-867f-447e-980e-3b1b69ec9f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4212B2-AC61-40BD-939C-086BA34DEE51}">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275f6327-867f-447e-980e-3b1b69ec9fae"/>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50341DD9-47FB-4E91-AC77-9248358C27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6726</TotalTime>
  <Words>7745</Words>
  <Application>Microsoft Office PowerPoint</Application>
  <PresentationFormat>On-screen Show (4:3)</PresentationFormat>
  <Paragraphs>1257</Paragraphs>
  <Slides>126</Slides>
  <Notes>78</Notes>
  <HiddenSlides>2</HiddenSlides>
  <MMClips>0</MMClips>
  <ScaleCrop>false</ScaleCrop>
  <HeadingPairs>
    <vt:vector size="4" baseType="variant">
      <vt:variant>
        <vt:lpstr>Theme</vt:lpstr>
      </vt:variant>
      <vt:variant>
        <vt:i4>1</vt:i4>
      </vt:variant>
      <vt:variant>
        <vt:lpstr>Slide Titles</vt:lpstr>
      </vt:variant>
      <vt:variant>
        <vt:i4>126</vt:i4>
      </vt:variant>
    </vt:vector>
  </HeadingPairs>
  <TitlesOfParts>
    <vt:vector size="127" baseType="lpstr">
      <vt:lpstr>tr_presentation_template_05-01-08</vt:lpstr>
      <vt:lpstr>MICROSOFT POWERSHELL TRAINING</vt:lpstr>
      <vt:lpstr>How did we get here?</vt:lpstr>
      <vt:lpstr>Challenges</vt:lpstr>
      <vt:lpstr>Project Team Established</vt:lpstr>
      <vt:lpstr>Standards</vt:lpstr>
      <vt:lpstr>Processes</vt:lpstr>
      <vt:lpstr>Tools</vt:lpstr>
      <vt:lpstr>Infrastructure Updates</vt:lpstr>
      <vt:lpstr>Training</vt:lpstr>
      <vt:lpstr>Business Objective / Deliverables</vt:lpstr>
      <vt:lpstr>Sampling of Scripts Written So Far…</vt:lpstr>
      <vt:lpstr>Training</vt:lpstr>
      <vt:lpstr>Expectations / Goals</vt:lpstr>
      <vt:lpstr>Module 1: Introduction</vt:lpstr>
      <vt:lpstr>Why Invest in Scripting?</vt:lpstr>
      <vt:lpstr>Old vs. New</vt:lpstr>
      <vt:lpstr>What is it?</vt:lpstr>
      <vt:lpstr>Features</vt:lpstr>
      <vt:lpstr>Authors</vt:lpstr>
      <vt:lpstr>Introduction To Powershell</vt:lpstr>
      <vt:lpstr>How Do I Identify PowerShell Code? </vt:lpstr>
      <vt:lpstr>Application Support / Integrations</vt:lpstr>
      <vt:lpstr>Module 2: Fundamentals</vt:lpstr>
      <vt:lpstr>System Requirements For WMF 2.0</vt:lpstr>
      <vt:lpstr>.NET Requirements</vt:lpstr>
      <vt:lpstr>PowerShell Applications</vt:lpstr>
      <vt:lpstr>Cmdlets</vt:lpstr>
      <vt:lpstr>Essential cmdlets</vt:lpstr>
      <vt:lpstr>Essential cmdlets</vt:lpstr>
      <vt:lpstr>Objects</vt:lpstr>
      <vt:lpstr>Pipelines</vt:lpstr>
      <vt:lpstr>Alias</vt:lpstr>
      <vt:lpstr>Functions</vt:lpstr>
      <vt:lpstr>Profiles</vt:lpstr>
      <vt:lpstr>Providers</vt:lpstr>
      <vt:lpstr>Module 2 Lab: Fundamentals</vt:lpstr>
      <vt:lpstr>Task 1 &amp; 2 – Navigating Your System</vt:lpstr>
      <vt:lpstr>Task 3 &amp; 4 – Navigating Your System</vt:lpstr>
      <vt:lpstr>For Wednesday….</vt:lpstr>
      <vt:lpstr>Module 3: Pipeline</vt:lpstr>
      <vt:lpstr>Pipeline</vt:lpstr>
      <vt:lpstr>Comparison Operators</vt:lpstr>
      <vt:lpstr>Where-object</vt:lpstr>
      <vt:lpstr>Select Object</vt:lpstr>
      <vt:lpstr>Sort-object</vt:lpstr>
      <vt:lpstr>Format-Table</vt:lpstr>
      <vt:lpstr>Format-List</vt:lpstr>
      <vt:lpstr>Get-Content</vt:lpstr>
      <vt:lpstr>Import-CSV</vt:lpstr>
      <vt:lpstr>Add-Content</vt:lpstr>
      <vt:lpstr>Set-Content</vt:lpstr>
      <vt:lpstr>Export-CSV</vt:lpstr>
      <vt:lpstr>Convertto-html</vt:lpstr>
      <vt:lpstr>Module 3 Lab: Pipeline</vt:lpstr>
      <vt:lpstr>Task 1:</vt:lpstr>
      <vt:lpstr>Task 2</vt:lpstr>
      <vt:lpstr>Task 3</vt:lpstr>
      <vt:lpstr>Task 4</vt:lpstr>
      <vt:lpstr>Bonus task</vt:lpstr>
      <vt:lpstr>Module 4: Scripting</vt:lpstr>
      <vt:lpstr>Variables</vt:lpstr>
      <vt:lpstr>Arrays</vt:lpstr>
      <vt:lpstr>Constants</vt:lpstr>
      <vt:lpstr>Looping</vt:lpstr>
      <vt:lpstr>Looping - Examples</vt:lpstr>
      <vt:lpstr>Looping - Examples</vt:lpstr>
      <vt:lpstr>Looping - Examples</vt:lpstr>
      <vt:lpstr>Looping - Examples</vt:lpstr>
      <vt:lpstr>Looping - Examples</vt:lpstr>
      <vt:lpstr>Flow Control</vt:lpstr>
      <vt:lpstr>Functions</vt:lpstr>
      <vt:lpstr>Command line arguments - $Args vs Param()</vt:lpstr>
      <vt:lpstr>Module 4 Lab: Scripting</vt:lpstr>
      <vt:lpstr>Task 1 – Using Variables</vt:lpstr>
      <vt:lpstr>Task 2 – Using Arrays  </vt:lpstr>
      <vt:lpstr>Task 3 – Using Scripting Constructs </vt:lpstr>
      <vt:lpstr>Module 5: Security</vt:lpstr>
      <vt:lpstr>Execution Policy</vt:lpstr>
      <vt:lpstr>Module 5 Lab: Security</vt:lpstr>
      <vt:lpstr>Module 6: Object Models</vt:lpstr>
      <vt:lpstr>.Net framework</vt:lpstr>
      <vt:lpstr>Windows forms </vt:lpstr>
      <vt:lpstr>Objects - COM </vt:lpstr>
      <vt:lpstr>Class and Object</vt:lpstr>
      <vt:lpstr>WMI</vt:lpstr>
      <vt:lpstr>Get-WMIobject</vt:lpstr>
      <vt:lpstr>Module 6 Lab: Object Models</vt:lpstr>
      <vt:lpstr>Module 7: PowerShell Remoting</vt:lpstr>
      <vt:lpstr>Remoting Technologies</vt:lpstr>
      <vt:lpstr>WMI</vt:lpstr>
      <vt:lpstr>Computername Parameter</vt:lpstr>
      <vt:lpstr>Hardware and other operating systems</vt:lpstr>
      <vt:lpstr>Configuring Powershell Remoting</vt:lpstr>
      <vt:lpstr>PS Sessions</vt:lpstr>
      <vt:lpstr>Remote Architecture</vt:lpstr>
      <vt:lpstr>Interactive Sessions</vt:lpstr>
      <vt:lpstr>Persistent Sessions</vt:lpstr>
      <vt:lpstr>Remoting To Multiple Computers</vt:lpstr>
      <vt:lpstr>Jobs</vt:lpstr>
      <vt:lpstr>Starting Jobs</vt:lpstr>
      <vt:lpstr>Receiving Job Data</vt:lpstr>
      <vt:lpstr>Job Completion</vt:lpstr>
      <vt:lpstr>Throttling</vt:lpstr>
      <vt:lpstr>Module 7 Lab: PowerShell Remoting</vt:lpstr>
      <vt:lpstr>Module 8: Error Checking and Debugging</vt:lpstr>
      <vt:lpstr>Using write-debug</vt:lpstr>
      <vt:lpstr>$DebugPreference</vt:lpstr>
      <vt:lpstr>Key debugging functions of ISE</vt:lpstr>
      <vt:lpstr>How Errors Work</vt:lpstr>
      <vt:lpstr>ErrorActionPreference</vt:lpstr>
      <vt:lpstr>Handling Errors</vt:lpstr>
      <vt:lpstr>Try… Catch…Finally</vt:lpstr>
      <vt:lpstr>Module 8 Lab: Error Checking and Debugging</vt:lpstr>
      <vt:lpstr>Module 9: Active Directory and SQL</vt:lpstr>
      <vt:lpstr>Module 9 Lab: Active Directory and SQL</vt:lpstr>
      <vt:lpstr>Module 10: Resources</vt:lpstr>
      <vt:lpstr>Module 10 Lab: Resources</vt:lpstr>
      <vt:lpstr>Resources</vt:lpstr>
      <vt:lpstr>Resources</vt:lpstr>
      <vt:lpstr>Resources</vt:lpstr>
      <vt:lpstr>Module 11: Scripting Editor</vt:lpstr>
      <vt:lpstr>Module 11 Lab: Scripting Editor</vt:lpstr>
      <vt:lpstr>Module 12: Source Repository</vt:lpstr>
      <vt:lpstr>Module 12 Lab: Source Repository</vt:lpstr>
      <vt:lpstr>What’s New With PowerShell 3.0</vt:lpstr>
      <vt:lpstr>System Requirements For Powershell 3.0</vt:lpstr>
    </vt:vector>
  </TitlesOfParts>
  <Company>Thomson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PowerShell Training Presentation</dc:title>
  <dc:creator>Thomas J. Vaichus</dc:creator>
  <cp:lastModifiedBy>U0155443</cp:lastModifiedBy>
  <cp:revision>395</cp:revision>
  <dcterms:created xsi:type="dcterms:W3CDTF">2012-03-02T16:30:53Z</dcterms:created>
  <dcterms:modified xsi:type="dcterms:W3CDTF">2013-06-25T19:22:58Z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ive_LatestUserAccountName">
    <vt:lpwstr>0148347</vt:lpwstr>
  </property>
  <property fmtid="{D5CDD505-2E9C-101B-9397-08002B2CF9AE}" pid="3" name="Offisync_FileTitle">
    <vt:lpwstr/>
  </property>
  <property fmtid="{D5CDD505-2E9C-101B-9397-08002B2CF9AE}" pid="4" name="Offisync_UniqueId">
    <vt:lpwstr>512501</vt:lpwstr>
  </property>
  <property fmtid="{D5CDD505-2E9C-101B-9397-08002B2CF9AE}" pid="5" name="Offisync_IsSaved">
    <vt:lpwstr>False</vt:lpwstr>
  </property>
  <property fmtid="{D5CDD505-2E9C-101B-9397-08002B2CF9AE}" pid="6" name="Offisync_IsFrozen">
    <vt:lpwstr>False</vt:lpwstr>
  </property>
  <property fmtid="{D5CDD505-2E9C-101B-9397-08002B2CF9AE}" pid="7" name="Offisync_UpdateToken">
    <vt:lpwstr>1</vt:lpwstr>
  </property>
  <property fmtid="{D5CDD505-2E9C-101B-9397-08002B2CF9AE}" pid="8" name="Offisync_ProviderName">
    <vt:lpwstr>Jive</vt:lpwstr>
  </property>
  <property fmtid="{D5CDD505-2E9C-101B-9397-08002B2CF9AE}" pid="9" name="Offisync_ProviderInitializationData">
    <vt:lpwstr>https://thehub.thomsonreuters.com</vt:lpwstr>
  </property>
  <property fmtid="{D5CDD505-2E9C-101B-9397-08002B2CF9AE}" pid="10" name="Offisync_SaveTime">
    <vt:lpwstr/>
  </property>
  <property fmtid="{D5CDD505-2E9C-101B-9397-08002B2CF9AE}" pid="11" name="Offisync_VersionGuid">
    <vt:lpwstr/>
  </property>
  <property fmtid="{D5CDD505-2E9C-101B-9397-08002B2CF9AE}" pid="12" name="Offisync_ServerID">
    <vt:lpwstr>ba79255d-4d86-4996-9f74-9fad404ac307</vt:lpwstr>
  </property>
  <property fmtid="{D5CDD505-2E9C-101B-9397-08002B2CF9AE}" pid="13" name="Offisync_FolderId">
    <vt:lpwstr/>
  </property>
  <property fmtid="{D5CDD505-2E9C-101B-9397-08002B2CF9AE}" pid="14" name="ContentTypeId">
    <vt:lpwstr>0x01010048DB62D9483CC44394349B4A9DBB6A1C</vt:lpwstr>
  </property>
</Properties>
</file>